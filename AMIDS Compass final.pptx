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71" r:id="rId2"/>
    <p:sldId id="273" r:id="rId3"/>
    <p:sldId id="324" r:id="rId4"/>
    <p:sldId id="327" r:id="rId5"/>
    <p:sldId id="279" r:id="rId6"/>
    <p:sldId id="305" r:id="rId7"/>
    <p:sldId id="275" r:id="rId8"/>
    <p:sldId id="260" r:id="rId9"/>
    <p:sldId id="261" r:id="rId10"/>
    <p:sldId id="326" r:id="rId11"/>
    <p:sldId id="328" r:id="rId12"/>
    <p:sldId id="264" r:id="rId13"/>
    <p:sldId id="325" r:id="rId14"/>
    <p:sldId id="266" r:id="rId15"/>
    <p:sldId id="304" r:id="rId16"/>
    <p:sldId id="282" r:id="rId17"/>
    <p:sldId id="303" r:id="rId18"/>
    <p:sldId id="267" r:id="rId19"/>
    <p:sldId id="268" r:id="rId20"/>
    <p:sldId id="312" r:id="rId21"/>
    <p:sldId id="269" r:id="rId22"/>
    <p:sldId id="270" r:id="rId23"/>
    <p:sldId id="329" r:id="rId24"/>
    <p:sldId id="272" r:id="rId25"/>
    <p:sldId id="330" r:id="rId26"/>
    <p:sldId id="274" r:id="rId27"/>
    <p:sldId id="331" r:id="rId28"/>
    <p:sldId id="276" r:id="rId29"/>
    <p:sldId id="321" r:id="rId30"/>
    <p:sldId id="278" r:id="rId3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E99"/>
    <a:srgbClr val="2A61AE"/>
    <a:srgbClr val="343384"/>
    <a:srgbClr val="2C1C60"/>
    <a:srgbClr val="04315F"/>
    <a:srgbClr val="273978"/>
    <a:srgbClr val="034381"/>
    <a:srgbClr val="C02D22"/>
    <a:srgbClr val="E73F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1" autoAdjust="0"/>
    <p:restoredTop sz="94666"/>
  </p:normalViewPr>
  <p:slideViewPr>
    <p:cSldViewPr snapToGrid="0">
      <p:cViewPr>
        <p:scale>
          <a:sx n="89" d="100"/>
          <a:sy n="89" d="100"/>
        </p:scale>
        <p:origin x="520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310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22EA01-3FD5-9F44-BEA0-52D369D200F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60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715628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3386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45039-9E03-63B3-5259-D9F933C08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179D2-C234-6E66-23C7-45B0993FE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5A3545-5AA9-EC29-AD51-B089A3FA3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801FF-7830-ED31-1B7D-44997D48BCD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36189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4420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91AD-640B-4DB5-9C65-CC4B4E38C04F}" type="datetime1">
              <a:rPr lang="en-US" altLang="zh-TW" smtClean="0"/>
              <a:t>7/19/26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84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F055-30FB-43C8-AFF6-5BB4D56386D9}" type="datetime1">
              <a:rPr lang="en-US" altLang="zh-TW" smtClean="0"/>
              <a:t>7/19/26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504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ED88E92-14F3-4B58-9E48-1D79E139A89E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66AE7-32B6-4334-AF41-B9387E6726C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59C09F8-90CD-443F-9AA1-D08C56A605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C7304AB-BE7D-45AC-A876-4A24543AE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E11922B-DDB3-46D7-B1BD-C1CCDB3C42E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580F8F6-E662-4BCD-AC9C-7E5DDBD5A773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A333FE5-ADB0-48EE-A1A6-9AA36DA343A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B09CD4F-6DF4-48AA-BD35-23E3F2A643F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223219-ACCC-42F2-A1B4-E3C8C8AB12A4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510B0E9-9BA0-4357-9E04-554C19BAAC89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06DA80-525A-4C9E-A441-50630AA772A4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841E027-8E53-4FEB-8605-2124D85731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D871A2-AE80-4408-AA95-DC60D132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F90B5-8BF7-4D8B-B0D5-C3354993A3DE}" type="datetime1">
              <a:rPr lang="en-US" altLang="zh-TW" smtClean="0"/>
              <a:t>7/19/26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122A1-7B97-4979-B319-1CE0A4A49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9A76-7DCD-477A-A6BA-EEA63FF9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879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41DCD-C44B-4A32-5A16-8AF2941BE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53200" y="540001"/>
            <a:ext cx="4500561" cy="3692365"/>
          </a:xfrm>
        </p:spPr>
        <p:txBody>
          <a:bodyPr>
            <a:normAutofit/>
          </a:bodyPr>
          <a:lstStyle/>
          <a:p>
            <a:r>
              <a:rPr lang="en-HK" sz="3000" b="1" dirty="0">
                <a:solidFill>
                  <a:schemeClr val="bg1"/>
                </a:solidFill>
                <a:latin typeface="Bell MT" panose="02020503060305020303" pitchFamily="18" charset="77"/>
              </a:rPr>
              <a:t>A1: Engaging AI in Aviation Meteorological</a:t>
            </a:r>
            <a:br>
              <a:rPr lang="en-HK" sz="3000" b="1" dirty="0">
                <a:solidFill>
                  <a:schemeClr val="bg1"/>
                </a:solidFill>
                <a:latin typeface="Bell MT" panose="02020503060305020303" pitchFamily="18" charset="77"/>
              </a:rPr>
            </a:br>
            <a:r>
              <a:rPr lang="en-HK" sz="3000" b="1" dirty="0">
                <a:solidFill>
                  <a:schemeClr val="bg1"/>
                </a:solidFill>
                <a:latin typeface="Bell MT" panose="02020503060305020303" pitchFamily="18" charset="77"/>
              </a:rPr>
              <a:t>Information Dissemination System</a:t>
            </a:r>
            <a:br>
              <a:rPr lang="en-HK" sz="3000" b="1" dirty="0">
                <a:solidFill>
                  <a:schemeClr val="bg1"/>
                </a:solidFill>
                <a:latin typeface="Bell MT" panose="02020503060305020303" pitchFamily="18" charset="77"/>
              </a:rPr>
            </a:br>
            <a:r>
              <a:rPr lang="en-HK" sz="3000" b="1" dirty="0">
                <a:solidFill>
                  <a:schemeClr val="bg1"/>
                </a:solidFill>
                <a:latin typeface="Bell MT" panose="02020503060305020303" pitchFamily="18" charset="77"/>
              </a:rPr>
              <a:t> (AMIDS) for Enhanced User Experience</a:t>
            </a:r>
            <a:br>
              <a:rPr lang="en-HK" sz="3000" b="1" dirty="0">
                <a:solidFill>
                  <a:schemeClr val="bg1"/>
                </a:solidFill>
                <a:latin typeface="Bell MT" panose="02020503060305020303" pitchFamily="18" charset="77"/>
              </a:rPr>
            </a:br>
            <a:endParaRPr lang="en-US" sz="3000" dirty="0">
              <a:solidFill>
                <a:schemeClr val="bg1"/>
              </a:solidFill>
              <a:latin typeface="Bell MT" panose="02020503060305020303" pitchFamily="18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C9DB2C-B330-DBB2-3E23-4982A628CC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53200" y="4988476"/>
            <a:ext cx="4500561" cy="1320249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Presenter: </a:t>
            </a:r>
            <a:r>
              <a:rPr lang="en-US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Daehee</a:t>
            </a:r>
            <a:r>
              <a:rPr lang="en-US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KANG</a:t>
            </a:r>
          </a:p>
          <a:p>
            <a:r>
              <a:rPr lang="en-US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Supervisor: Jennifer yip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BBA01A-7247-0A11-4C5A-5B53BB3671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30" r="10269" b="-1"/>
          <a:stretch>
            <a:fillRect/>
          </a:stretch>
        </p:blipFill>
        <p:spPr>
          <a:xfrm>
            <a:off x="20" y="-1"/>
            <a:ext cx="685798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3429001" y="0"/>
                </a:moveTo>
                <a:cubicBezTo>
                  <a:pt x="5322784" y="0"/>
                  <a:pt x="6858000" y="1535216"/>
                  <a:pt x="6858000" y="3429001"/>
                </a:cubicBezTo>
                <a:cubicBezTo>
                  <a:pt x="6858000" y="5322785"/>
                  <a:pt x="5322784" y="6858000"/>
                  <a:pt x="3429001" y="6858000"/>
                </a:cubicBezTo>
                <a:cubicBezTo>
                  <a:pt x="1535216" y="6858000"/>
                  <a:pt x="0" y="5322785"/>
                  <a:pt x="0" y="3429001"/>
                </a:cubicBezTo>
                <a:cubicBezTo>
                  <a:pt x="0" y="1535216"/>
                  <a:pt x="1535216" y="0"/>
                  <a:pt x="3429001" y="0"/>
                </a:cubicBezTo>
                <a:close/>
              </a:path>
            </a:pathLst>
          </a:custGeom>
          <a:effectLst>
            <a:softEdge rad="1016000"/>
          </a:effectLst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65281C2-16A6-ACA0-DF01-3BA637DA74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-469530" y="-276349"/>
            <a:ext cx="7622730" cy="7622730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7FFF71F8-6ED9-5F8B-E44A-CC133F525487}"/>
              </a:ext>
            </a:extLst>
          </p:cNvPr>
          <p:cNvSpPr/>
          <p:nvPr/>
        </p:nvSpPr>
        <p:spPr>
          <a:xfrm>
            <a:off x="0" y="0"/>
            <a:ext cx="6858000" cy="6858001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itle 1">
            <a:extLst>
              <a:ext uri="{FF2B5EF4-FFF2-40B4-BE49-F238E27FC236}">
                <a16:creationId xmlns:a16="http://schemas.microsoft.com/office/drawing/2014/main" id="{C5718EC6-8A02-78FB-EE17-FB3E77F7C798}"/>
              </a:ext>
            </a:extLst>
          </p:cNvPr>
          <p:cNvSpPr txBox="1">
            <a:spLocks/>
          </p:cNvSpPr>
          <p:nvPr/>
        </p:nvSpPr>
        <p:spPr>
          <a:xfrm>
            <a:off x="457899" y="408856"/>
            <a:ext cx="5760001" cy="43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66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AMIDS </a:t>
            </a:r>
            <a:br>
              <a:rPr lang="en-US" sz="66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66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COMPASS</a:t>
            </a:r>
            <a:br>
              <a:rPr lang="en-US" sz="66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HK" sz="2000" b="1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64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6" r="56492"/>
          <a:stretch/>
        </p:blipFill>
        <p:spPr>
          <a:xfrm>
            <a:off x="7847385" y="4338"/>
            <a:ext cx="4344615" cy="6849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04738E-F194-6E45-E431-A6C935205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540000"/>
            <a:ext cx="6870412" cy="1809500"/>
          </a:xfrm>
        </p:spPr>
        <p:txBody>
          <a:bodyPr/>
          <a:lstStyle/>
          <a:p>
            <a:r>
              <a:rPr lang="en-US" dirty="0">
                <a:latin typeface="Bebas Neue" panose="020B0606020202050201" pitchFamily="34" charset="77"/>
              </a:rPr>
              <a:t>Presentation Agenda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636D4EDC-B92B-C0A0-84F5-388B22D9F56E}"/>
              </a:ext>
            </a:extLst>
          </p:cNvPr>
          <p:cNvSpPr/>
          <p:nvPr/>
        </p:nvSpPr>
        <p:spPr>
          <a:xfrm>
            <a:off x="609269" y="1520944"/>
            <a:ext cx="6870411" cy="583001"/>
          </a:xfrm>
          <a:prstGeom prst="homePlate">
            <a:avLst/>
          </a:prstGeom>
          <a:solidFill>
            <a:srgbClr val="3A25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r>
              <a:rPr lang="en-HK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Context and System Shape</a:t>
            </a:r>
          </a:p>
          <a:p>
            <a:pPr algn="ctr"/>
            <a:r>
              <a:rPr lang="en-HK" sz="1200" dirty="0">
                <a:solidFill>
                  <a:srgbClr val="EAF3FB"/>
                </a:solidFill>
                <a:latin typeface="Calibri"/>
                <a:ea typeface="Calibri"/>
                <a:cs typeface="Calibri"/>
              </a:rPr>
              <a:t>Why AMIDS Compass exists, what it includes, and how the local-first architecture is organized.</a:t>
            </a:r>
          </a:p>
        </p:txBody>
      </p:sp>
      <p:sp>
        <p:nvSpPr>
          <p:cNvPr id="9" name="Pentagon 8">
            <a:extLst>
              <a:ext uri="{FF2B5EF4-FFF2-40B4-BE49-F238E27FC236}">
                <a16:creationId xmlns:a16="http://schemas.microsoft.com/office/drawing/2014/main" id="{8F5A00CB-E498-FCAF-60E3-2393425391C7}"/>
              </a:ext>
            </a:extLst>
          </p:cNvPr>
          <p:cNvSpPr/>
          <p:nvPr/>
        </p:nvSpPr>
        <p:spPr>
          <a:xfrm>
            <a:off x="609269" y="3423472"/>
            <a:ext cx="6850135" cy="583095"/>
          </a:xfrm>
          <a:prstGeom prst="homePlate">
            <a:avLst/>
          </a:prstGeom>
          <a:solidFill>
            <a:srgbClr val="273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3. Model Development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The core technology: </a:t>
            </a:r>
            <a:r>
              <a:rPr lang="en-HK" sz="1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lexical ranking, semantic matching, arbitration, and the data pipeline around them.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7430BD-6713-D7C9-2058-C4B6D5AAFA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9951CFE-79FE-DC1F-7696-815C1CDE1B9E}"/>
              </a:ext>
            </a:extLst>
          </p:cNvPr>
          <p:cNvSpPr txBox="1">
            <a:spLocks/>
          </p:cNvSpPr>
          <p:nvPr/>
        </p:nvSpPr>
        <p:spPr>
          <a:xfrm>
            <a:off x="570322" y="292339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WHAT THIS 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30AA8A6E-FCBC-9CD3-55CE-BC0B76624F32}"/>
              </a:ext>
            </a:extLst>
          </p:cNvPr>
          <p:cNvSpPr/>
          <p:nvPr/>
        </p:nvSpPr>
        <p:spPr>
          <a:xfrm>
            <a:off x="609270" y="2440889"/>
            <a:ext cx="6850136" cy="583001"/>
          </a:xfrm>
          <a:prstGeom prst="homePlate">
            <a:avLst>
              <a:gd name="adj" fmla="val 51985"/>
            </a:avLst>
          </a:prstGeom>
          <a:solidFill>
            <a:srgbClr val="3433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K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2. Controlled Page Foundation</a:t>
            </a:r>
            <a:endParaRPr lang="en-HK" sz="1800" b="1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ctr">
              <a:defRPr sz="11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sz="1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How the route registry and dynamic resolver keep page opening approved, parameterized, and auditable.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B4BEB651-4E5F-78AA-B511-7F53095D7FF8}"/>
              </a:ext>
            </a:extLst>
          </p:cNvPr>
          <p:cNvSpPr/>
          <p:nvPr/>
        </p:nvSpPr>
        <p:spPr>
          <a:xfrm>
            <a:off x="598775" y="4357243"/>
            <a:ext cx="6850135" cy="583095"/>
          </a:xfrm>
          <a:prstGeom prst="homePlate">
            <a:avLst/>
          </a:prstGeom>
          <a:solidFill>
            <a:srgbClr val="2A61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4. Personalization &amp; Runtime Context</a:t>
            </a:r>
          </a:p>
          <a:p>
            <a:pPr algn="ctr">
              <a:defRPr sz="11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sz="1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How the app adapts through profiles, route memory, similar-user signals and scraped data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ED6BD374-DB8C-749E-6461-484A5C7BA1F1}"/>
              </a:ext>
            </a:extLst>
          </p:cNvPr>
          <p:cNvSpPr/>
          <p:nvPr/>
        </p:nvSpPr>
        <p:spPr>
          <a:xfrm>
            <a:off x="570322" y="5291014"/>
            <a:ext cx="6850135" cy="583095"/>
          </a:xfrm>
          <a:prstGeom prst="homePlate">
            <a:avLst/>
          </a:prstGeom>
          <a:solidFill>
            <a:srgbClr val="008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5. Dynamic webpage handling</a:t>
            </a:r>
          </a:p>
          <a:p>
            <a:pPr algn="ctr">
              <a:defRPr sz="11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sz="12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Problems this project resolves, what the future is, and what the work demonstrates.</a:t>
            </a:r>
          </a:p>
        </p:txBody>
      </p:sp>
    </p:spTree>
    <p:extLst>
      <p:ext uri="{BB962C8B-B14F-4D97-AF65-F5344CB8AC3E}">
        <p14:creationId xmlns:p14="http://schemas.microsoft.com/office/powerpoint/2010/main" val="3985835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1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B9061D1-054D-1FEC-8F03-75CBA698F4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50AAD5-0761-1D39-019C-0FAED4407C40}"/>
              </a:ext>
            </a:extLst>
          </p:cNvPr>
          <p:cNvSpPr>
            <a:spLocks noGrp="1"/>
          </p:cNvSpPr>
          <p:nvPr/>
        </p:nvSpPr>
        <p:spPr>
          <a:xfrm>
            <a:off x="800100" y="10287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CFE3F4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rgbClr val="CFE3F4"/>
                </a:solidFill>
                <a:latin typeface="Calibri"/>
                <a:ea typeface="Calibri"/>
                <a:cs typeface="Calibri"/>
              </a:rPr>
              <a:t>Section 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29A1DC-8543-5CDA-7234-ECCF91AC2F3C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n-HK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Context and System Shape</a:t>
            </a:r>
            <a:endParaRPr sz="36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536CF2-C9B3-54A8-931F-FF078CAAE7F1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>
                <a:solidFill>
                  <a:srgbClr val="EAF3FB"/>
                </a:solidFill>
                <a:latin typeface="Calibri"/>
                <a:ea typeface="Calibri"/>
                <a:cs typeface="Calibri"/>
              </a:defRPr>
            </a:pPr>
            <a:r>
              <a:rPr sz="1800" dirty="0">
                <a:solidFill>
                  <a:srgbClr val="EAF3FB"/>
                </a:solidFill>
                <a:latin typeface="Calibri"/>
                <a:ea typeface="Calibri"/>
                <a:cs typeface="Calibri"/>
              </a:rPr>
              <a:t>Why AMIDS Compass exists, </a:t>
            </a:r>
            <a:r>
              <a:rPr lang="en-HK" sz="1800" dirty="0">
                <a:solidFill>
                  <a:srgbClr val="EAF3FB"/>
                </a:solidFill>
                <a:latin typeface="Calibri"/>
                <a:ea typeface="Calibri"/>
                <a:cs typeface="Calibri"/>
              </a:rPr>
              <a:t>what it includes, and how the local-first architecture is organized.</a:t>
            </a:r>
            <a:endParaRPr sz="1800" dirty="0">
              <a:solidFill>
                <a:srgbClr val="EAF3F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1B8C65-D48E-0431-F92E-4B1355111774}"/>
              </a:ext>
            </a:extLst>
          </p:cNvPr>
          <p:cNvSpPr>
            <a:spLocks noGrp="1"/>
          </p:cNvSpPr>
          <p:nvPr/>
        </p:nvSpPr>
        <p:spPr>
          <a:xfrm>
            <a:off x="800100" y="4610100"/>
            <a:ext cx="4000500" cy="381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59C963-DE7B-3548-E5C2-8FE7667A2D3D}"/>
              </a:ext>
            </a:extLst>
          </p:cNvPr>
          <p:cNvSpPr>
            <a:spLocks noGrp="1"/>
          </p:cNvSpPr>
          <p:nvPr/>
        </p:nvSpPr>
        <p:spPr>
          <a:xfrm>
            <a:off x="819150" y="5886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AMIDS Compass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37629D-5220-9674-B23F-D4BEC5D5F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972550" y="781050"/>
            <a:ext cx="1695450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53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B282-0582-B6B9-2FE9-0F0EEE528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5B1882-E69F-A20F-4CCF-4846AF24999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48"/>
          <a:stretch/>
        </p:blipFill>
        <p:spPr>
          <a:xfrm>
            <a:off x="-2355" y="0"/>
            <a:ext cx="12159072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CB5042D-EEA8-3FA1-4660-DB2DF64905A5}"/>
              </a:ext>
            </a:extLst>
          </p:cNvPr>
          <p:cNvSpPr/>
          <p:nvPr/>
        </p:nvSpPr>
        <p:spPr>
          <a:xfrm>
            <a:off x="133349" y="0"/>
            <a:ext cx="12056295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aseline="-25000" dirty="0"/>
          </a:p>
        </p:txBody>
      </p:sp>
      <p:sp>
        <p:nvSpPr>
          <p:cNvPr id="25" name="Title 4">
            <a:extLst>
              <a:ext uri="{FF2B5EF4-FFF2-40B4-BE49-F238E27FC236}">
                <a16:creationId xmlns:a16="http://schemas.microsoft.com/office/drawing/2014/main" id="{BD0C407F-EA40-2192-51E7-6AC87FAF13E5}"/>
              </a:ext>
            </a:extLst>
          </p:cNvPr>
          <p:cNvSpPr txBox="1">
            <a:spLocks/>
          </p:cNvSpPr>
          <p:nvPr/>
        </p:nvSpPr>
        <p:spPr>
          <a:xfrm>
            <a:off x="605019" y="710112"/>
            <a:ext cx="7394446" cy="52271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is AMIDS?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B18D0DB-95DC-D8D8-B11F-9A4A03889209}"/>
              </a:ext>
            </a:extLst>
          </p:cNvPr>
          <p:cNvSpPr txBox="1">
            <a:spLocks/>
          </p:cNvSpPr>
          <p:nvPr/>
        </p:nvSpPr>
        <p:spPr>
          <a:xfrm>
            <a:off x="605019" y="487468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INTRODUCTION TO AMIDS</a:t>
            </a:r>
          </a:p>
        </p:txBody>
      </p:sp>
      <p:sp>
        <p:nvSpPr>
          <p:cNvPr id="71" name="Title 13">
            <a:extLst>
              <a:ext uri="{FF2B5EF4-FFF2-40B4-BE49-F238E27FC236}">
                <a16:creationId xmlns:a16="http://schemas.microsoft.com/office/drawing/2014/main" id="{AF8627F2-574A-CA2A-E369-7D088E8A6F45}"/>
              </a:ext>
            </a:extLst>
          </p:cNvPr>
          <p:cNvSpPr txBox="1">
            <a:spLocks/>
          </p:cNvSpPr>
          <p:nvPr/>
        </p:nvSpPr>
        <p:spPr>
          <a:xfrm>
            <a:off x="2336615" y="1498443"/>
            <a:ext cx="7518769" cy="513955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AMIDS = Aviation Meteorological Information Dissemination System</a:t>
            </a:r>
          </a:p>
        </p:txBody>
      </p:sp>
      <p:sp>
        <p:nvSpPr>
          <p:cNvPr id="76" name="Title 13">
            <a:extLst>
              <a:ext uri="{FF2B5EF4-FFF2-40B4-BE49-F238E27FC236}">
                <a16:creationId xmlns:a16="http://schemas.microsoft.com/office/drawing/2014/main" id="{F2BAD293-64B3-901D-3F95-344A892A728F}"/>
              </a:ext>
            </a:extLst>
          </p:cNvPr>
          <p:cNvSpPr txBox="1">
            <a:spLocks/>
          </p:cNvSpPr>
          <p:nvPr/>
        </p:nvSpPr>
        <p:spPr>
          <a:xfrm>
            <a:off x="605019" y="2774321"/>
            <a:ext cx="11154859" cy="944842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The Main Stakeholders: Registered Aviation Users In Hong Kong (Pilots, ATCs, Dispatchers, AMO / MRO) </a:t>
            </a:r>
          </a:p>
          <a:p>
            <a:pPr>
              <a:lnSpc>
                <a:spcPct val="140000"/>
              </a:lnSpc>
            </a:pP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ea typeface="Lato" panose="020F0502020204030203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D90215-6C8F-B21F-E840-FF4ADF8CB1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 13">
            <a:extLst>
              <a:ext uri="{FF2B5EF4-FFF2-40B4-BE49-F238E27FC236}">
                <a16:creationId xmlns:a16="http://schemas.microsoft.com/office/drawing/2014/main" id="{C5C65913-6BEB-D555-4078-555C897EF627}"/>
              </a:ext>
            </a:extLst>
          </p:cNvPr>
          <p:cNvSpPr txBox="1">
            <a:spLocks/>
          </p:cNvSpPr>
          <p:nvPr/>
        </p:nvSpPr>
        <p:spPr>
          <a:xfrm>
            <a:off x="2130184" y="4072711"/>
            <a:ext cx="8062622" cy="944842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Usual purposes: f</a:t>
            </a:r>
            <a:r>
              <a:rPr lang="en-HK" sz="1800" b="1" i="0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light planning, flight documentation, self-briefing, etc.</a:t>
            </a:r>
            <a:endParaRPr lang="en-US" sz="1800" b="1" dirty="0">
              <a:solidFill>
                <a:schemeClr val="bg1"/>
              </a:solidFill>
              <a:latin typeface="Calibri" panose="020F0502020204030204" pitchFamily="34" charset="0"/>
              <a:ea typeface="Lato" panose="020F0502020204030203" pitchFamily="34" charset="0"/>
              <a:cs typeface="Calibri" panose="020F0502020204030204" pitchFamily="34" charset="0"/>
            </a:endParaRPr>
          </a:p>
          <a:p>
            <a:pPr algn="ctr">
              <a:lnSpc>
                <a:spcPct val="140000"/>
              </a:lnSpc>
            </a:pP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ea typeface="Lato" panose="020F0502020204030203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13">
            <a:extLst>
              <a:ext uri="{FF2B5EF4-FFF2-40B4-BE49-F238E27FC236}">
                <a16:creationId xmlns:a16="http://schemas.microsoft.com/office/drawing/2014/main" id="{81038038-BB44-7339-2A5B-1A1F6892D996}"/>
              </a:ext>
            </a:extLst>
          </p:cNvPr>
          <p:cNvSpPr txBox="1">
            <a:spLocks/>
          </p:cNvSpPr>
          <p:nvPr/>
        </p:nvSpPr>
        <p:spPr>
          <a:xfrm>
            <a:off x="949124" y="5260658"/>
            <a:ext cx="10695008" cy="944842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Available information: various weather reports &amp; forecasts, significant weather warnings, etc. </a:t>
            </a:r>
            <a:endParaRPr lang="en-US" sz="1800" b="1" dirty="0">
              <a:solidFill>
                <a:schemeClr val="bg1"/>
              </a:solidFill>
              <a:latin typeface="Calibri" panose="020F0502020204030204" pitchFamily="34" charset="0"/>
              <a:ea typeface="Lato" panose="020F0502020204030203" pitchFamily="34" charset="0"/>
              <a:cs typeface="Calibri" panose="020F0502020204030204" pitchFamily="34" charset="0"/>
            </a:endParaRPr>
          </a:p>
          <a:p>
            <a:pPr>
              <a:lnSpc>
                <a:spcPct val="140000"/>
              </a:lnSpc>
            </a:pP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ea typeface="Lato" panose="020F0502020204030203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8836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48"/>
          <a:stretch/>
        </p:blipFill>
        <p:spPr>
          <a:xfrm>
            <a:off x="-2355" y="0"/>
            <a:ext cx="12159072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-2355" y="0"/>
            <a:ext cx="12192000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baseline="-25000" dirty="0"/>
          </a:p>
        </p:txBody>
      </p:sp>
      <p:grpSp>
        <p:nvGrpSpPr>
          <p:cNvPr id="20" name="Group 19"/>
          <p:cNvGrpSpPr/>
          <p:nvPr/>
        </p:nvGrpSpPr>
        <p:grpSpPr>
          <a:xfrm>
            <a:off x="605017" y="1397493"/>
            <a:ext cx="316751" cy="316751"/>
            <a:chOff x="2609260" y="2989019"/>
            <a:chExt cx="475253" cy="475253"/>
          </a:xfrm>
        </p:grpSpPr>
        <p:sp>
          <p:nvSpPr>
            <p:cNvPr id="21" name="Oval 20"/>
            <p:cNvSpPr/>
            <p:nvPr/>
          </p:nvSpPr>
          <p:spPr>
            <a:xfrm>
              <a:off x="2609260" y="2989019"/>
              <a:ext cx="475253" cy="475253"/>
            </a:xfrm>
            <a:prstGeom prst="ellipse">
              <a:avLst/>
            </a:prstGeom>
            <a:solidFill>
              <a:srgbClr val="E73F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" name="Freeform 21"/>
            <p:cNvSpPr>
              <a:spLocks/>
            </p:cNvSpPr>
            <p:nvPr/>
          </p:nvSpPr>
          <p:spPr bwMode="auto">
            <a:xfrm>
              <a:off x="2752015" y="3115971"/>
              <a:ext cx="189739" cy="196774"/>
            </a:xfrm>
            <a:custGeom>
              <a:avLst/>
              <a:gdLst>
                <a:gd name="T0" fmla="*/ 103 w 274"/>
                <a:gd name="T1" fmla="*/ 284 h 284"/>
                <a:gd name="T2" fmla="*/ 80 w 274"/>
                <a:gd name="T3" fmla="*/ 273 h 284"/>
                <a:gd name="T4" fmla="*/ 9 w 274"/>
                <a:gd name="T5" fmla="*/ 178 h 284"/>
                <a:gd name="T6" fmla="*/ 14 w 274"/>
                <a:gd name="T7" fmla="*/ 139 h 284"/>
                <a:gd name="T8" fmla="*/ 53 w 274"/>
                <a:gd name="T9" fmla="*/ 145 h 284"/>
                <a:gd name="T10" fmla="*/ 100 w 274"/>
                <a:gd name="T11" fmla="*/ 207 h 284"/>
                <a:gd name="T12" fmla="*/ 219 w 274"/>
                <a:gd name="T13" fmla="*/ 17 h 284"/>
                <a:gd name="T14" fmla="*/ 257 w 274"/>
                <a:gd name="T15" fmla="*/ 8 h 284"/>
                <a:gd name="T16" fmla="*/ 266 w 274"/>
                <a:gd name="T17" fmla="*/ 47 h 284"/>
                <a:gd name="T18" fmla="*/ 126 w 274"/>
                <a:gd name="T19" fmla="*/ 271 h 284"/>
                <a:gd name="T20" fmla="*/ 104 w 274"/>
                <a:gd name="T21" fmla="*/ 284 h 284"/>
                <a:gd name="T22" fmla="*/ 103 w 274"/>
                <a:gd name="T23" fmla="*/ 284 h 2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4" h="284">
                  <a:moveTo>
                    <a:pt x="103" y="284"/>
                  </a:moveTo>
                  <a:cubicBezTo>
                    <a:pt x="94" y="284"/>
                    <a:pt x="86" y="280"/>
                    <a:pt x="80" y="273"/>
                  </a:cubicBezTo>
                  <a:cubicBezTo>
                    <a:pt x="9" y="178"/>
                    <a:pt x="9" y="178"/>
                    <a:pt x="9" y="178"/>
                  </a:cubicBezTo>
                  <a:cubicBezTo>
                    <a:pt x="0" y="166"/>
                    <a:pt x="2" y="149"/>
                    <a:pt x="14" y="139"/>
                  </a:cubicBezTo>
                  <a:cubicBezTo>
                    <a:pt x="27" y="130"/>
                    <a:pt x="44" y="133"/>
                    <a:pt x="53" y="145"/>
                  </a:cubicBezTo>
                  <a:cubicBezTo>
                    <a:pt x="100" y="207"/>
                    <a:pt x="100" y="207"/>
                    <a:pt x="100" y="207"/>
                  </a:cubicBezTo>
                  <a:cubicBezTo>
                    <a:pt x="219" y="17"/>
                    <a:pt x="219" y="17"/>
                    <a:pt x="219" y="17"/>
                  </a:cubicBezTo>
                  <a:cubicBezTo>
                    <a:pt x="227" y="4"/>
                    <a:pt x="244" y="0"/>
                    <a:pt x="257" y="8"/>
                  </a:cubicBezTo>
                  <a:cubicBezTo>
                    <a:pt x="270" y="16"/>
                    <a:pt x="274" y="33"/>
                    <a:pt x="266" y="47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1" y="279"/>
                    <a:pt x="113" y="283"/>
                    <a:pt x="104" y="284"/>
                  </a:cubicBezTo>
                  <a:cubicBezTo>
                    <a:pt x="104" y="284"/>
                    <a:pt x="103" y="284"/>
                    <a:pt x="103" y="2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121888" tIns="60944" rIns="121888" bIns="60944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5" name="Title 4">
            <a:extLst>
              <a:ext uri="{FF2B5EF4-FFF2-40B4-BE49-F238E27FC236}">
                <a16:creationId xmlns:a16="http://schemas.microsoft.com/office/drawing/2014/main" id="{C234D820-7B72-166F-3121-01818B92E8E1}"/>
              </a:ext>
            </a:extLst>
          </p:cNvPr>
          <p:cNvSpPr txBox="1">
            <a:spLocks/>
          </p:cNvSpPr>
          <p:nvPr/>
        </p:nvSpPr>
        <p:spPr>
          <a:xfrm>
            <a:off x="605019" y="710112"/>
            <a:ext cx="7394446" cy="52271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Points of improvement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A6F986A-E1DD-1379-68B4-FF229471DC4F}"/>
              </a:ext>
            </a:extLst>
          </p:cNvPr>
          <p:cNvSpPr txBox="1">
            <a:spLocks/>
          </p:cNvSpPr>
          <p:nvPr/>
        </p:nvSpPr>
        <p:spPr>
          <a:xfrm>
            <a:off x="605019" y="487468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WHAT CAN AMIDS COMPASS IMPROVE?</a:t>
            </a:r>
          </a:p>
        </p:txBody>
      </p:sp>
      <p:sp>
        <p:nvSpPr>
          <p:cNvPr id="47" name="Title 13"/>
          <p:cNvSpPr txBox="1">
            <a:spLocks/>
          </p:cNvSpPr>
          <p:nvPr/>
        </p:nvSpPr>
        <p:spPr>
          <a:xfrm>
            <a:off x="1016912" y="1252011"/>
            <a:ext cx="6099682" cy="513955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en-US" altLang="zh-TW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Faster access to scattered pages</a:t>
            </a:r>
          </a:p>
        </p:txBody>
      </p:sp>
      <p:sp>
        <p:nvSpPr>
          <p:cNvPr id="52" name="Content Placeholder 2"/>
          <p:cNvSpPr txBox="1">
            <a:spLocks/>
          </p:cNvSpPr>
          <p:nvPr/>
        </p:nvSpPr>
        <p:spPr>
          <a:xfrm>
            <a:off x="1007200" y="1725590"/>
            <a:ext cx="6099682" cy="338522"/>
          </a:xfrm>
          <a:prstGeom prst="rect">
            <a:avLst/>
          </a:prstGeom>
        </p:spPr>
        <p:txBody>
          <a:bodyPr vert="horz" wrap="square" lIns="121888" tIns="60944" rIns="121888" bIns="60944" rtlCol="0">
            <a:sp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Memory dependency lowered through smart navigation assistant</a:t>
            </a:r>
          </a:p>
        </p:txBody>
      </p:sp>
      <p:grpSp>
        <p:nvGrpSpPr>
          <p:cNvPr id="63" name="Group 62"/>
          <p:cNvGrpSpPr/>
          <p:nvPr/>
        </p:nvGrpSpPr>
        <p:grpSpPr>
          <a:xfrm>
            <a:off x="605019" y="2322908"/>
            <a:ext cx="316751" cy="316751"/>
            <a:chOff x="2609260" y="2989019"/>
            <a:chExt cx="475253" cy="475253"/>
          </a:xfrm>
        </p:grpSpPr>
        <p:sp>
          <p:nvSpPr>
            <p:cNvPr id="64" name="Oval 63"/>
            <p:cNvSpPr/>
            <p:nvPr/>
          </p:nvSpPr>
          <p:spPr>
            <a:xfrm>
              <a:off x="2609260" y="2989019"/>
              <a:ext cx="475253" cy="475253"/>
            </a:xfrm>
            <a:prstGeom prst="ellipse">
              <a:avLst/>
            </a:prstGeom>
            <a:solidFill>
              <a:srgbClr val="E73F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5" name="Freeform 64"/>
            <p:cNvSpPr>
              <a:spLocks/>
            </p:cNvSpPr>
            <p:nvPr/>
          </p:nvSpPr>
          <p:spPr bwMode="auto">
            <a:xfrm>
              <a:off x="2752015" y="3115971"/>
              <a:ext cx="189739" cy="196774"/>
            </a:xfrm>
            <a:custGeom>
              <a:avLst/>
              <a:gdLst>
                <a:gd name="T0" fmla="*/ 103 w 274"/>
                <a:gd name="T1" fmla="*/ 284 h 284"/>
                <a:gd name="T2" fmla="*/ 80 w 274"/>
                <a:gd name="T3" fmla="*/ 273 h 284"/>
                <a:gd name="T4" fmla="*/ 9 w 274"/>
                <a:gd name="T5" fmla="*/ 178 h 284"/>
                <a:gd name="T6" fmla="*/ 14 w 274"/>
                <a:gd name="T7" fmla="*/ 139 h 284"/>
                <a:gd name="T8" fmla="*/ 53 w 274"/>
                <a:gd name="T9" fmla="*/ 145 h 284"/>
                <a:gd name="T10" fmla="*/ 100 w 274"/>
                <a:gd name="T11" fmla="*/ 207 h 284"/>
                <a:gd name="T12" fmla="*/ 219 w 274"/>
                <a:gd name="T13" fmla="*/ 17 h 284"/>
                <a:gd name="T14" fmla="*/ 257 w 274"/>
                <a:gd name="T15" fmla="*/ 8 h 284"/>
                <a:gd name="T16" fmla="*/ 266 w 274"/>
                <a:gd name="T17" fmla="*/ 47 h 284"/>
                <a:gd name="T18" fmla="*/ 126 w 274"/>
                <a:gd name="T19" fmla="*/ 271 h 284"/>
                <a:gd name="T20" fmla="*/ 104 w 274"/>
                <a:gd name="T21" fmla="*/ 284 h 284"/>
                <a:gd name="T22" fmla="*/ 103 w 274"/>
                <a:gd name="T23" fmla="*/ 284 h 2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4" h="284">
                  <a:moveTo>
                    <a:pt x="103" y="284"/>
                  </a:moveTo>
                  <a:cubicBezTo>
                    <a:pt x="94" y="284"/>
                    <a:pt x="86" y="280"/>
                    <a:pt x="80" y="273"/>
                  </a:cubicBezTo>
                  <a:cubicBezTo>
                    <a:pt x="9" y="178"/>
                    <a:pt x="9" y="178"/>
                    <a:pt x="9" y="178"/>
                  </a:cubicBezTo>
                  <a:cubicBezTo>
                    <a:pt x="0" y="166"/>
                    <a:pt x="2" y="149"/>
                    <a:pt x="14" y="139"/>
                  </a:cubicBezTo>
                  <a:cubicBezTo>
                    <a:pt x="27" y="130"/>
                    <a:pt x="44" y="133"/>
                    <a:pt x="53" y="145"/>
                  </a:cubicBezTo>
                  <a:cubicBezTo>
                    <a:pt x="100" y="207"/>
                    <a:pt x="100" y="207"/>
                    <a:pt x="100" y="207"/>
                  </a:cubicBezTo>
                  <a:cubicBezTo>
                    <a:pt x="219" y="17"/>
                    <a:pt x="219" y="17"/>
                    <a:pt x="219" y="17"/>
                  </a:cubicBezTo>
                  <a:cubicBezTo>
                    <a:pt x="227" y="4"/>
                    <a:pt x="244" y="0"/>
                    <a:pt x="257" y="8"/>
                  </a:cubicBezTo>
                  <a:cubicBezTo>
                    <a:pt x="270" y="16"/>
                    <a:pt x="274" y="33"/>
                    <a:pt x="266" y="47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1" y="279"/>
                    <a:pt x="113" y="283"/>
                    <a:pt x="104" y="284"/>
                  </a:cubicBezTo>
                  <a:cubicBezTo>
                    <a:pt x="104" y="284"/>
                    <a:pt x="103" y="284"/>
                    <a:pt x="103" y="2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121888" tIns="60944" rIns="121888" bIns="60944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6" name="Title 13"/>
          <p:cNvSpPr txBox="1">
            <a:spLocks/>
          </p:cNvSpPr>
          <p:nvPr/>
        </p:nvSpPr>
        <p:spPr>
          <a:xfrm>
            <a:off x="1016914" y="2216117"/>
            <a:ext cx="6089968" cy="513955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Smoother handling of dynamic web pages</a:t>
            </a:r>
          </a:p>
        </p:txBody>
      </p:sp>
      <p:sp>
        <p:nvSpPr>
          <p:cNvPr id="67" name="Content Placeholder 2"/>
          <p:cNvSpPr txBox="1">
            <a:spLocks/>
          </p:cNvSpPr>
          <p:nvPr/>
        </p:nvSpPr>
        <p:spPr>
          <a:xfrm>
            <a:off x="1023348" y="2688875"/>
            <a:ext cx="6083534" cy="338522"/>
          </a:xfrm>
          <a:prstGeom prst="rect">
            <a:avLst/>
          </a:prstGeom>
        </p:spPr>
        <p:txBody>
          <a:bodyPr vert="horz" wrap="square" lIns="121888" tIns="60944" rIns="121888" bIns="60944" rtlCol="0">
            <a:sp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Open dynamic pages with wanted settings automatically applied</a:t>
            </a:r>
          </a:p>
        </p:txBody>
      </p:sp>
      <p:grpSp>
        <p:nvGrpSpPr>
          <p:cNvPr id="68" name="Group 67"/>
          <p:cNvGrpSpPr/>
          <p:nvPr/>
        </p:nvGrpSpPr>
        <p:grpSpPr>
          <a:xfrm>
            <a:off x="611452" y="3445733"/>
            <a:ext cx="316751" cy="316751"/>
            <a:chOff x="2609260" y="2989019"/>
            <a:chExt cx="475253" cy="475253"/>
          </a:xfrm>
        </p:grpSpPr>
        <p:sp>
          <p:nvSpPr>
            <p:cNvPr id="69" name="Oval 68"/>
            <p:cNvSpPr/>
            <p:nvPr/>
          </p:nvSpPr>
          <p:spPr>
            <a:xfrm>
              <a:off x="2609260" y="2989019"/>
              <a:ext cx="475253" cy="475253"/>
            </a:xfrm>
            <a:prstGeom prst="ellipse">
              <a:avLst/>
            </a:prstGeom>
            <a:solidFill>
              <a:srgbClr val="E73F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0" name="Freeform 69"/>
            <p:cNvSpPr>
              <a:spLocks/>
            </p:cNvSpPr>
            <p:nvPr/>
          </p:nvSpPr>
          <p:spPr bwMode="auto">
            <a:xfrm>
              <a:off x="2752015" y="3115971"/>
              <a:ext cx="189739" cy="196774"/>
            </a:xfrm>
            <a:custGeom>
              <a:avLst/>
              <a:gdLst>
                <a:gd name="T0" fmla="*/ 103 w 274"/>
                <a:gd name="T1" fmla="*/ 284 h 284"/>
                <a:gd name="T2" fmla="*/ 80 w 274"/>
                <a:gd name="T3" fmla="*/ 273 h 284"/>
                <a:gd name="T4" fmla="*/ 9 w 274"/>
                <a:gd name="T5" fmla="*/ 178 h 284"/>
                <a:gd name="T6" fmla="*/ 14 w 274"/>
                <a:gd name="T7" fmla="*/ 139 h 284"/>
                <a:gd name="T8" fmla="*/ 53 w 274"/>
                <a:gd name="T9" fmla="*/ 145 h 284"/>
                <a:gd name="T10" fmla="*/ 100 w 274"/>
                <a:gd name="T11" fmla="*/ 207 h 284"/>
                <a:gd name="T12" fmla="*/ 219 w 274"/>
                <a:gd name="T13" fmla="*/ 17 h 284"/>
                <a:gd name="T14" fmla="*/ 257 w 274"/>
                <a:gd name="T15" fmla="*/ 8 h 284"/>
                <a:gd name="T16" fmla="*/ 266 w 274"/>
                <a:gd name="T17" fmla="*/ 47 h 284"/>
                <a:gd name="T18" fmla="*/ 126 w 274"/>
                <a:gd name="T19" fmla="*/ 271 h 284"/>
                <a:gd name="T20" fmla="*/ 104 w 274"/>
                <a:gd name="T21" fmla="*/ 284 h 284"/>
                <a:gd name="T22" fmla="*/ 103 w 274"/>
                <a:gd name="T23" fmla="*/ 284 h 2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4" h="284">
                  <a:moveTo>
                    <a:pt x="103" y="284"/>
                  </a:moveTo>
                  <a:cubicBezTo>
                    <a:pt x="94" y="284"/>
                    <a:pt x="86" y="280"/>
                    <a:pt x="80" y="273"/>
                  </a:cubicBezTo>
                  <a:cubicBezTo>
                    <a:pt x="9" y="178"/>
                    <a:pt x="9" y="178"/>
                    <a:pt x="9" y="178"/>
                  </a:cubicBezTo>
                  <a:cubicBezTo>
                    <a:pt x="0" y="166"/>
                    <a:pt x="2" y="149"/>
                    <a:pt x="14" y="139"/>
                  </a:cubicBezTo>
                  <a:cubicBezTo>
                    <a:pt x="27" y="130"/>
                    <a:pt x="44" y="133"/>
                    <a:pt x="53" y="145"/>
                  </a:cubicBezTo>
                  <a:cubicBezTo>
                    <a:pt x="100" y="207"/>
                    <a:pt x="100" y="207"/>
                    <a:pt x="100" y="207"/>
                  </a:cubicBezTo>
                  <a:cubicBezTo>
                    <a:pt x="219" y="17"/>
                    <a:pt x="219" y="17"/>
                    <a:pt x="219" y="17"/>
                  </a:cubicBezTo>
                  <a:cubicBezTo>
                    <a:pt x="227" y="4"/>
                    <a:pt x="244" y="0"/>
                    <a:pt x="257" y="8"/>
                  </a:cubicBezTo>
                  <a:cubicBezTo>
                    <a:pt x="270" y="16"/>
                    <a:pt x="274" y="33"/>
                    <a:pt x="266" y="47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1" y="279"/>
                    <a:pt x="113" y="283"/>
                    <a:pt x="104" y="284"/>
                  </a:cubicBezTo>
                  <a:cubicBezTo>
                    <a:pt x="104" y="284"/>
                    <a:pt x="103" y="284"/>
                    <a:pt x="103" y="2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121888" tIns="60944" rIns="121888" bIns="60944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1" name="Title 13"/>
          <p:cNvSpPr txBox="1">
            <a:spLocks/>
          </p:cNvSpPr>
          <p:nvPr/>
        </p:nvSpPr>
        <p:spPr>
          <a:xfrm>
            <a:off x="1023347" y="3338942"/>
            <a:ext cx="6083534" cy="513955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Personalized categorization to fit all users</a:t>
            </a:r>
          </a:p>
        </p:txBody>
      </p:sp>
      <p:sp>
        <p:nvSpPr>
          <p:cNvPr id="72" name="Content Placeholder 2"/>
          <p:cNvSpPr txBox="1">
            <a:spLocks/>
          </p:cNvSpPr>
          <p:nvPr/>
        </p:nvSpPr>
        <p:spPr>
          <a:xfrm>
            <a:off x="1029781" y="3811700"/>
            <a:ext cx="6077100" cy="338522"/>
          </a:xfrm>
          <a:prstGeom prst="rect">
            <a:avLst/>
          </a:prstGeom>
        </p:spPr>
        <p:txBody>
          <a:bodyPr vert="horz" wrap="square" lIns="121888" tIns="60944" rIns="121888" bIns="60944" rtlCol="0">
            <a:sp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Dynamically categorize pages according to user’s interaction with the app</a:t>
            </a:r>
          </a:p>
        </p:txBody>
      </p:sp>
      <p:grpSp>
        <p:nvGrpSpPr>
          <p:cNvPr id="73" name="Group 72"/>
          <p:cNvGrpSpPr/>
          <p:nvPr/>
        </p:nvGrpSpPr>
        <p:grpSpPr>
          <a:xfrm>
            <a:off x="613282" y="4595108"/>
            <a:ext cx="316751" cy="316751"/>
            <a:chOff x="2609260" y="2989019"/>
            <a:chExt cx="475253" cy="475253"/>
          </a:xfrm>
        </p:grpSpPr>
        <p:sp>
          <p:nvSpPr>
            <p:cNvPr id="74" name="Oval 73"/>
            <p:cNvSpPr/>
            <p:nvPr/>
          </p:nvSpPr>
          <p:spPr>
            <a:xfrm>
              <a:off x="2609260" y="2989019"/>
              <a:ext cx="475253" cy="475253"/>
            </a:xfrm>
            <a:prstGeom prst="ellipse">
              <a:avLst/>
            </a:prstGeom>
            <a:solidFill>
              <a:srgbClr val="E73F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Freeform 74"/>
            <p:cNvSpPr>
              <a:spLocks/>
            </p:cNvSpPr>
            <p:nvPr/>
          </p:nvSpPr>
          <p:spPr bwMode="auto">
            <a:xfrm>
              <a:off x="2752015" y="3115971"/>
              <a:ext cx="189739" cy="196774"/>
            </a:xfrm>
            <a:custGeom>
              <a:avLst/>
              <a:gdLst>
                <a:gd name="T0" fmla="*/ 103 w 274"/>
                <a:gd name="T1" fmla="*/ 284 h 284"/>
                <a:gd name="T2" fmla="*/ 80 w 274"/>
                <a:gd name="T3" fmla="*/ 273 h 284"/>
                <a:gd name="T4" fmla="*/ 9 w 274"/>
                <a:gd name="T5" fmla="*/ 178 h 284"/>
                <a:gd name="T6" fmla="*/ 14 w 274"/>
                <a:gd name="T7" fmla="*/ 139 h 284"/>
                <a:gd name="T8" fmla="*/ 53 w 274"/>
                <a:gd name="T9" fmla="*/ 145 h 284"/>
                <a:gd name="T10" fmla="*/ 100 w 274"/>
                <a:gd name="T11" fmla="*/ 207 h 284"/>
                <a:gd name="T12" fmla="*/ 219 w 274"/>
                <a:gd name="T13" fmla="*/ 17 h 284"/>
                <a:gd name="T14" fmla="*/ 257 w 274"/>
                <a:gd name="T15" fmla="*/ 8 h 284"/>
                <a:gd name="T16" fmla="*/ 266 w 274"/>
                <a:gd name="T17" fmla="*/ 47 h 284"/>
                <a:gd name="T18" fmla="*/ 126 w 274"/>
                <a:gd name="T19" fmla="*/ 271 h 284"/>
                <a:gd name="T20" fmla="*/ 104 w 274"/>
                <a:gd name="T21" fmla="*/ 284 h 284"/>
                <a:gd name="T22" fmla="*/ 103 w 274"/>
                <a:gd name="T23" fmla="*/ 284 h 2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4" h="284">
                  <a:moveTo>
                    <a:pt x="103" y="284"/>
                  </a:moveTo>
                  <a:cubicBezTo>
                    <a:pt x="94" y="284"/>
                    <a:pt x="86" y="280"/>
                    <a:pt x="80" y="273"/>
                  </a:cubicBezTo>
                  <a:cubicBezTo>
                    <a:pt x="9" y="178"/>
                    <a:pt x="9" y="178"/>
                    <a:pt x="9" y="178"/>
                  </a:cubicBezTo>
                  <a:cubicBezTo>
                    <a:pt x="0" y="166"/>
                    <a:pt x="2" y="149"/>
                    <a:pt x="14" y="139"/>
                  </a:cubicBezTo>
                  <a:cubicBezTo>
                    <a:pt x="27" y="130"/>
                    <a:pt x="44" y="133"/>
                    <a:pt x="53" y="145"/>
                  </a:cubicBezTo>
                  <a:cubicBezTo>
                    <a:pt x="100" y="207"/>
                    <a:pt x="100" y="207"/>
                    <a:pt x="100" y="207"/>
                  </a:cubicBezTo>
                  <a:cubicBezTo>
                    <a:pt x="219" y="17"/>
                    <a:pt x="219" y="17"/>
                    <a:pt x="219" y="17"/>
                  </a:cubicBezTo>
                  <a:cubicBezTo>
                    <a:pt x="227" y="4"/>
                    <a:pt x="244" y="0"/>
                    <a:pt x="257" y="8"/>
                  </a:cubicBezTo>
                  <a:cubicBezTo>
                    <a:pt x="270" y="16"/>
                    <a:pt x="274" y="33"/>
                    <a:pt x="266" y="47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1" y="279"/>
                    <a:pt x="113" y="283"/>
                    <a:pt x="104" y="284"/>
                  </a:cubicBezTo>
                  <a:cubicBezTo>
                    <a:pt x="104" y="284"/>
                    <a:pt x="103" y="284"/>
                    <a:pt x="103" y="2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121888" tIns="60944" rIns="121888" bIns="60944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6" name="Title 13"/>
          <p:cNvSpPr txBox="1">
            <a:spLocks/>
          </p:cNvSpPr>
          <p:nvPr/>
        </p:nvSpPr>
        <p:spPr>
          <a:xfrm>
            <a:off x="1029780" y="4488317"/>
            <a:ext cx="6077100" cy="513955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Shifting to a reusable app architecture</a:t>
            </a:r>
          </a:p>
        </p:txBody>
      </p:sp>
      <p:sp>
        <p:nvSpPr>
          <p:cNvPr id="77" name="Content Placeholder 2"/>
          <p:cNvSpPr txBox="1">
            <a:spLocks/>
          </p:cNvSpPr>
          <p:nvPr/>
        </p:nvSpPr>
        <p:spPr>
          <a:xfrm>
            <a:off x="1029781" y="4929866"/>
            <a:ext cx="6077099" cy="338522"/>
          </a:xfrm>
          <a:prstGeom prst="rect">
            <a:avLst/>
          </a:prstGeom>
        </p:spPr>
        <p:txBody>
          <a:bodyPr vert="horz" wrap="square" lIns="121888" tIns="60944" rIns="121888" bIns="60944" rtlCol="0">
            <a:sp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A React + Node.js app that is scalable &amp; easily renovated</a:t>
            </a:r>
          </a:p>
        </p:txBody>
      </p:sp>
      <p:pic>
        <p:nvPicPr>
          <p:cNvPr id="78" name="Picture 7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7333" y="3686279"/>
            <a:ext cx="4241800" cy="2759949"/>
          </a:xfrm>
          <a:prstGeom prst="rect">
            <a:avLst/>
          </a:prstGeom>
        </p:spPr>
      </p:pic>
      <p:pic>
        <p:nvPicPr>
          <p:cNvPr id="79" name="Picture 78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225"/>
          <a:stretch/>
        </p:blipFill>
        <p:spPr>
          <a:xfrm>
            <a:off x="7211741" y="567395"/>
            <a:ext cx="4237392" cy="2764411"/>
          </a:xfrm>
          <a:prstGeom prst="rect">
            <a:avLst/>
          </a:prstGeom>
        </p:spPr>
      </p:pic>
      <p:grpSp>
        <p:nvGrpSpPr>
          <p:cNvPr id="85" name="Group 84"/>
          <p:cNvGrpSpPr/>
          <p:nvPr/>
        </p:nvGrpSpPr>
        <p:grpSpPr>
          <a:xfrm>
            <a:off x="611452" y="5540846"/>
            <a:ext cx="316751" cy="316751"/>
            <a:chOff x="2609260" y="2989019"/>
            <a:chExt cx="475253" cy="475253"/>
          </a:xfrm>
        </p:grpSpPr>
        <p:sp>
          <p:nvSpPr>
            <p:cNvPr id="86" name="Oval 85"/>
            <p:cNvSpPr/>
            <p:nvPr/>
          </p:nvSpPr>
          <p:spPr>
            <a:xfrm>
              <a:off x="2609260" y="2989019"/>
              <a:ext cx="475253" cy="475253"/>
            </a:xfrm>
            <a:prstGeom prst="ellipse">
              <a:avLst/>
            </a:prstGeom>
            <a:solidFill>
              <a:srgbClr val="E73F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Freeform 86"/>
            <p:cNvSpPr>
              <a:spLocks/>
            </p:cNvSpPr>
            <p:nvPr/>
          </p:nvSpPr>
          <p:spPr bwMode="auto">
            <a:xfrm>
              <a:off x="2752015" y="3115971"/>
              <a:ext cx="189739" cy="196774"/>
            </a:xfrm>
            <a:custGeom>
              <a:avLst/>
              <a:gdLst>
                <a:gd name="T0" fmla="*/ 103 w 274"/>
                <a:gd name="T1" fmla="*/ 284 h 284"/>
                <a:gd name="T2" fmla="*/ 80 w 274"/>
                <a:gd name="T3" fmla="*/ 273 h 284"/>
                <a:gd name="T4" fmla="*/ 9 w 274"/>
                <a:gd name="T5" fmla="*/ 178 h 284"/>
                <a:gd name="T6" fmla="*/ 14 w 274"/>
                <a:gd name="T7" fmla="*/ 139 h 284"/>
                <a:gd name="T8" fmla="*/ 53 w 274"/>
                <a:gd name="T9" fmla="*/ 145 h 284"/>
                <a:gd name="T10" fmla="*/ 100 w 274"/>
                <a:gd name="T11" fmla="*/ 207 h 284"/>
                <a:gd name="T12" fmla="*/ 219 w 274"/>
                <a:gd name="T13" fmla="*/ 17 h 284"/>
                <a:gd name="T14" fmla="*/ 257 w 274"/>
                <a:gd name="T15" fmla="*/ 8 h 284"/>
                <a:gd name="T16" fmla="*/ 266 w 274"/>
                <a:gd name="T17" fmla="*/ 47 h 284"/>
                <a:gd name="T18" fmla="*/ 126 w 274"/>
                <a:gd name="T19" fmla="*/ 271 h 284"/>
                <a:gd name="T20" fmla="*/ 104 w 274"/>
                <a:gd name="T21" fmla="*/ 284 h 284"/>
                <a:gd name="T22" fmla="*/ 103 w 274"/>
                <a:gd name="T23" fmla="*/ 284 h 2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4" h="284">
                  <a:moveTo>
                    <a:pt x="103" y="284"/>
                  </a:moveTo>
                  <a:cubicBezTo>
                    <a:pt x="94" y="284"/>
                    <a:pt x="86" y="280"/>
                    <a:pt x="80" y="273"/>
                  </a:cubicBezTo>
                  <a:cubicBezTo>
                    <a:pt x="9" y="178"/>
                    <a:pt x="9" y="178"/>
                    <a:pt x="9" y="178"/>
                  </a:cubicBezTo>
                  <a:cubicBezTo>
                    <a:pt x="0" y="166"/>
                    <a:pt x="2" y="149"/>
                    <a:pt x="14" y="139"/>
                  </a:cubicBezTo>
                  <a:cubicBezTo>
                    <a:pt x="27" y="130"/>
                    <a:pt x="44" y="133"/>
                    <a:pt x="53" y="145"/>
                  </a:cubicBezTo>
                  <a:cubicBezTo>
                    <a:pt x="100" y="207"/>
                    <a:pt x="100" y="207"/>
                    <a:pt x="100" y="207"/>
                  </a:cubicBezTo>
                  <a:cubicBezTo>
                    <a:pt x="219" y="17"/>
                    <a:pt x="219" y="17"/>
                    <a:pt x="219" y="17"/>
                  </a:cubicBezTo>
                  <a:cubicBezTo>
                    <a:pt x="227" y="4"/>
                    <a:pt x="244" y="0"/>
                    <a:pt x="257" y="8"/>
                  </a:cubicBezTo>
                  <a:cubicBezTo>
                    <a:pt x="270" y="16"/>
                    <a:pt x="274" y="33"/>
                    <a:pt x="266" y="47"/>
                  </a:cubicBezTo>
                  <a:cubicBezTo>
                    <a:pt x="126" y="271"/>
                    <a:pt x="126" y="271"/>
                    <a:pt x="126" y="271"/>
                  </a:cubicBezTo>
                  <a:cubicBezTo>
                    <a:pt x="121" y="279"/>
                    <a:pt x="113" y="283"/>
                    <a:pt x="104" y="284"/>
                  </a:cubicBezTo>
                  <a:cubicBezTo>
                    <a:pt x="104" y="284"/>
                    <a:pt x="103" y="284"/>
                    <a:pt x="103" y="2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121888" tIns="60944" rIns="121888" bIns="60944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399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8" name="Title 13"/>
          <p:cNvSpPr txBox="1">
            <a:spLocks/>
          </p:cNvSpPr>
          <p:nvPr/>
        </p:nvSpPr>
        <p:spPr>
          <a:xfrm>
            <a:off x="1029780" y="5388619"/>
            <a:ext cx="6077098" cy="513955"/>
          </a:xfrm>
          <a:prstGeom prst="rect">
            <a:avLst/>
          </a:prstGeom>
        </p:spPr>
        <p:txBody>
          <a:bodyPr vert="horz" wrap="square" lIns="121888" tIns="60944" rIns="121888" bIns="60944" rtlCol="0" anchor="ctr">
            <a:sp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200" b="0" kern="1200">
                <a:solidFill>
                  <a:schemeClr val="tx1">
                    <a:lumMod val="65000"/>
                    <a:lumOff val="35000"/>
                  </a:schemeClr>
                </a:solidFill>
                <a:latin typeface="Source Sans Pro Light" pitchFamily="34" charset="0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Information dissemination to user-based info</a:t>
            </a:r>
          </a:p>
        </p:txBody>
      </p:sp>
      <p:sp>
        <p:nvSpPr>
          <p:cNvPr id="89" name="Content Placeholder 2"/>
          <p:cNvSpPr txBox="1">
            <a:spLocks/>
          </p:cNvSpPr>
          <p:nvPr/>
        </p:nvSpPr>
        <p:spPr>
          <a:xfrm>
            <a:off x="1042647" y="5938373"/>
            <a:ext cx="6064231" cy="553966"/>
          </a:xfrm>
          <a:prstGeom prst="rect">
            <a:avLst/>
          </a:prstGeom>
        </p:spPr>
        <p:txBody>
          <a:bodyPr vert="horz" wrap="square" lIns="121888" tIns="60944" rIns="121888" bIns="60944" rtlCol="0">
            <a:sp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05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Providing all available information at once 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providing information specific to users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F196CC-1EB1-98DB-A463-5033568E72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60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C5506D0-3757-4DE1-88FA-10C667CB5F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5E524-7AC3-4C9C-87EC-1D01F0A06766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191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rPr lang="en-HK" sz="3000" b="1" dirty="0">
                <a:solidFill>
                  <a:srgbClr val="111827"/>
                </a:solidFill>
              </a:rPr>
              <a:t>AMIDS Compass: Navigation is habit-driven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23261B-2F5F-4EC8-8C7C-99C3B3AAECA6}"/>
              </a:ext>
            </a:extLst>
          </p:cNvPr>
          <p:cNvSpPr>
            <a:spLocks noGrp="1"/>
          </p:cNvSpPr>
          <p:nvPr/>
        </p:nvSpPr>
        <p:spPr>
          <a:xfrm>
            <a:off x="685800" y="1157107"/>
            <a:ext cx="971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dirty="0">
                <a:solidFill>
                  <a:schemeClr val="bg2">
                    <a:lumMod val="25000"/>
                  </a:schemeClr>
                </a:solidFill>
                <a:latin typeface="Calibri"/>
                <a:ea typeface="Calibri"/>
                <a:cs typeface="Calibri"/>
              </a:rPr>
              <a:t>AMIDS users often need a specific operational page quickly, not a broad search result.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DBA9D44-D5F5-4D5F-A0D3-BF2B6B6866CA}"/>
              </a:ext>
            </a:extLst>
          </p:cNvPr>
          <p:cNvSpPr>
            <a:spLocks noGrp="1"/>
          </p:cNvSpPr>
          <p:nvPr/>
        </p:nvSpPr>
        <p:spPr>
          <a:xfrm>
            <a:off x="781050" y="1905000"/>
            <a:ext cx="31813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A4A76B-2EC2-472A-A88C-24E913E680E9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HK" sz="18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Operational reality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6990B1-DE60-4317-9A64-5146E4811FA3}"/>
              </a:ext>
            </a:extLst>
          </p:cNvPr>
          <p:cNvSpPr>
            <a:spLocks noGrp="1"/>
          </p:cNvSpPr>
          <p:nvPr/>
        </p:nvSpPr>
        <p:spPr>
          <a:xfrm>
            <a:off x="1028700" y="2590800"/>
            <a:ext cx="26860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sz="1400" dirty="0">
                <a:solidFill>
                  <a:schemeClr val="bg2">
                    <a:lumMod val="50000"/>
                  </a:schemeClr>
                </a:solidFill>
              </a:rPr>
              <a:t>Users often return to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familiar</a:t>
            </a:r>
            <a:r>
              <a:rPr sz="1400" dirty="0">
                <a:solidFill>
                  <a:schemeClr val="bg2">
                    <a:lumMod val="50000"/>
                  </a:schemeClr>
                </a:solidFill>
              </a:rPr>
              <a:t> pages </a:t>
            </a:r>
            <a:r>
              <a:rPr lang="en-HK" sz="1400" dirty="0">
                <a:solidFill>
                  <a:schemeClr val="bg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during recurring tasks: flight prep, runway checks, hazard monitoring, and maintenance planning.</a:t>
            </a:r>
            <a:endParaRPr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EA0D8AB-03D1-4DEA-8EBE-55E7112914F5}"/>
              </a:ext>
            </a:extLst>
          </p:cNvPr>
          <p:cNvSpPr>
            <a:spLocks noGrp="1"/>
          </p:cNvSpPr>
          <p:nvPr/>
        </p:nvSpPr>
        <p:spPr>
          <a:xfrm>
            <a:off x="4419600" y="1905000"/>
            <a:ext cx="3181350" cy="2000250"/>
          </a:xfrm>
          <a:prstGeom prst="roundRect">
            <a:avLst>
              <a:gd name="adj" fmla="val 5714"/>
            </a:avLst>
          </a:prstGeom>
          <a:solidFill>
            <a:srgbClr val="E8F2FB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C1DC4-A278-4A7E-AB46-A8E69A1DF6F1}"/>
              </a:ext>
            </a:extLst>
          </p:cNvPr>
          <p:cNvSpPr>
            <a:spLocks noGrp="1"/>
          </p:cNvSpPr>
          <p:nvPr/>
        </p:nvSpPr>
        <p:spPr>
          <a:xfrm>
            <a:off x="466725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HK" sz="18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Technical challenge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C9307C-5BDF-478B-90DC-F80C90F9D88D}"/>
              </a:ext>
            </a:extLst>
          </p:cNvPr>
          <p:cNvSpPr>
            <a:spLocks noGrp="1"/>
          </p:cNvSpPr>
          <p:nvPr/>
        </p:nvSpPr>
        <p:spPr>
          <a:xfrm>
            <a:off x="4667250" y="2590800"/>
            <a:ext cx="26860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lang="en-HK" sz="1400" dirty="0">
                <a:solidFill>
                  <a:schemeClr val="bg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Many pages are parameterized by runway, destination, airline, route, time, region, or product type.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26B194C-84E5-46F1-A38D-42507B66A9A4}"/>
              </a:ext>
            </a:extLst>
          </p:cNvPr>
          <p:cNvSpPr>
            <a:spLocks noGrp="1"/>
          </p:cNvSpPr>
          <p:nvPr/>
        </p:nvSpPr>
        <p:spPr>
          <a:xfrm>
            <a:off x="8058150" y="1905000"/>
            <a:ext cx="31813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E03000-7510-4C0C-B8A5-AC0D3B3523AA}"/>
              </a:ext>
            </a:extLst>
          </p:cNvPr>
          <p:cNvSpPr>
            <a:spLocks noGrp="1"/>
          </p:cNvSpPr>
          <p:nvPr/>
        </p:nvSpPr>
        <p:spPr>
          <a:xfrm>
            <a:off x="8305800" y="21336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HK" sz="18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Product goal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DCA601B-B527-4DF2-9055-7C8C52F8F348}"/>
              </a:ext>
            </a:extLst>
          </p:cNvPr>
          <p:cNvSpPr>
            <a:spLocks noGrp="1"/>
          </p:cNvSpPr>
          <p:nvPr/>
        </p:nvSpPr>
        <p:spPr>
          <a:xfrm>
            <a:off x="1257299" y="4195943"/>
            <a:ext cx="9982199" cy="690382"/>
          </a:xfrm>
          <a:prstGeom prst="roundRect">
            <a:avLst>
              <a:gd name="adj" fmla="val 12245"/>
            </a:avLst>
          </a:prstGeom>
          <a:solidFill>
            <a:srgbClr val="0F4C81"/>
          </a:solidFill>
          <a:ln w="9525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FD2D61-194C-445F-A525-8AFDAD728E4B}"/>
              </a:ext>
            </a:extLst>
          </p:cNvPr>
          <p:cNvSpPr>
            <a:spLocks noGrp="1"/>
          </p:cNvSpPr>
          <p:nvPr/>
        </p:nvSpPr>
        <p:spPr>
          <a:xfrm>
            <a:off x="1619250" y="4362450"/>
            <a:ext cx="1280704" cy="4054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BFDBFE"/>
                </a:solidFill>
              </a:defRPr>
            </a:pPr>
            <a:r>
              <a:rPr sz="1600" b="1" dirty="0">
                <a:solidFill>
                  <a:srgbClr val="BFDBF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Design goal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7C3672-CAF9-4D84-824E-0D97D8F72A52}"/>
              </a:ext>
            </a:extLst>
          </p:cNvPr>
          <p:cNvSpPr>
            <a:spLocks noGrp="1"/>
          </p:cNvSpPr>
          <p:nvPr/>
        </p:nvSpPr>
        <p:spPr>
          <a:xfrm>
            <a:off x="3429000" y="4362450"/>
            <a:ext cx="633122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sz="1600" b="1" dirty="0">
                <a:solidFill>
                  <a:srgbClr val="FFFFFF"/>
                </a:solidFill>
              </a:rPr>
              <a:t>Convert repeated AMIDS navigation into personalized page controls</a:t>
            </a:r>
            <a:r>
              <a:rPr lang="en-HK" sz="1600" b="1" dirty="0">
                <a:solidFill>
                  <a:srgbClr val="FFFFFF"/>
                </a:solidFill>
              </a:rPr>
              <a:t>.</a:t>
            </a:r>
            <a:endParaRPr sz="1600" b="1" dirty="0">
              <a:solidFill>
                <a:srgbClr val="FFFFFF"/>
              </a:solidFill>
            </a:endParaRPr>
          </a:p>
        </p:txBody>
      </p:sp>
      <p:sp>
        <p:nvSpPr>
          <p:cNvPr id="21" name="Text Placeholder 81">
            <a:extLst>
              <a:ext uri="{FF2B5EF4-FFF2-40B4-BE49-F238E27FC236}">
                <a16:creationId xmlns:a16="http://schemas.microsoft.com/office/drawing/2014/main" id="{2B41E3EC-A835-6D16-1E44-88037C83BF0C}"/>
              </a:ext>
            </a:extLst>
          </p:cNvPr>
          <p:cNvSpPr txBox="1">
            <a:spLocks/>
          </p:cNvSpPr>
          <p:nvPr/>
        </p:nvSpPr>
        <p:spPr>
          <a:xfrm>
            <a:off x="685800" y="469038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SOLUTION: TARGETING NAVIGATION HABITS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89E5BB-0675-CBCF-3D6C-F9C03880BB97}"/>
              </a:ext>
            </a:extLst>
          </p:cNvPr>
          <p:cNvSpPr>
            <a:spLocks noGrp="1"/>
          </p:cNvSpPr>
          <p:nvPr/>
        </p:nvSpPr>
        <p:spPr>
          <a:xfrm>
            <a:off x="8305800" y="2552700"/>
            <a:ext cx="26860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lang="en-HK" sz="1400" dirty="0">
                <a:solidFill>
                  <a:schemeClr val="bg2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Convert repeated navigation habits into personalized shortcuts, suggestions, and page groups</a:t>
            </a:r>
            <a:endParaRPr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54C47B4-EC4E-5D2F-66DF-8ADA6776ABD7}"/>
              </a:ext>
            </a:extLst>
          </p:cNvPr>
          <p:cNvSpPr>
            <a:spLocks noGrp="1"/>
          </p:cNvSpPr>
          <p:nvPr/>
        </p:nvSpPr>
        <p:spPr>
          <a:xfrm>
            <a:off x="1257300" y="5236640"/>
            <a:ext cx="9982200" cy="690382"/>
          </a:xfrm>
          <a:prstGeom prst="roundRect">
            <a:avLst>
              <a:gd name="adj" fmla="val 12245"/>
            </a:avLst>
          </a:prstGeom>
          <a:solidFill>
            <a:srgbClr val="0F4C81"/>
          </a:solidFill>
          <a:ln w="9525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8689C7-4BEB-1602-F3D5-4A3E8219A806}"/>
              </a:ext>
            </a:extLst>
          </p:cNvPr>
          <p:cNvSpPr>
            <a:spLocks noGrp="1"/>
          </p:cNvSpPr>
          <p:nvPr/>
        </p:nvSpPr>
        <p:spPr>
          <a:xfrm>
            <a:off x="1619249" y="5403147"/>
            <a:ext cx="1633402" cy="4054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1">
                <a:solidFill>
                  <a:srgbClr val="BFDBFE"/>
                </a:solidFill>
              </a:defRPr>
            </a:pPr>
            <a:r>
              <a:rPr sz="1600" b="1" dirty="0">
                <a:solidFill>
                  <a:srgbClr val="BFDBF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Design </a:t>
            </a:r>
            <a:r>
              <a:rPr lang="en-US" sz="1600" b="1" dirty="0">
                <a:solidFill>
                  <a:srgbClr val="BFDBF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principle</a:t>
            </a:r>
            <a:endParaRPr sz="1600" b="1" dirty="0">
              <a:solidFill>
                <a:srgbClr val="BFDBF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CBDEC14-55DB-F757-07D7-50AFD4E69CA3}"/>
              </a:ext>
            </a:extLst>
          </p:cNvPr>
          <p:cNvSpPr>
            <a:spLocks noGrp="1"/>
          </p:cNvSpPr>
          <p:nvPr/>
        </p:nvSpPr>
        <p:spPr>
          <a:xfrm>
            <a:off x="3429000" y="5403147"/>
            <a:ext cx="7810500" cy="2977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 lang="en-HK" sz="16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keep the operational UI simple while making the internal decisions transparent to admins.</a:t>
            </a:r>
            <a:endParaRPr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1733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oup 87"/>
          <p:cNvGrpSpPr/>
          <p:nvPr/>
        </p:nvGrpSpPr>
        <p:grpSpPr>
          <a:xfrm>
            <a:off x="8029169" y="1926931"/>
            <a:ext cx="3581103" cy="1121491"/>
            <a:chOff x="8481277" y="1863197"/>
            <a:chExt cx="3581103" cy="1121491"/>
          </a:xfrm>
        </p:grpSpPr>
        <p:sp>
          <p:nvSpPr>
            <p:cNvPr id="3" name="Oval 2"/>
            <p:cNvSpPr/>
            <p:nvPr/>
          </p:nvSpPr>
          <p:spPr>
            <a:xfrm>
              <a:off x="8481277" y="1863197"/>
              <a:ext cx="957805" cy="957806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5" name="Group 4"/>
            <p:cNvGrpSpPr/>
            <p:nvPr/>
          </p:nvGrpSpPr>
          <p:grpSpPr>
            <a:xfrm>
              <a:off x="9457182" y="1936123"/>
              <a:ext cx="2605198" cy="1048565"/>
              <a:chOff x="3970072" y="4063353"/>
              <a:chExt cx="5210395" cy="2097126"/>
            </a:xfrm>
          </p:grpSpPr>
          <p:sp>
            <p:nvSpPr>
              <p:cNvPr id="6" name="TextBox 5"/>
              <p:cNvSpPr txBox="1"/>
              <p:nvPr/>
            </p:nvSpPr>
            <p:spPr>
              <a:xfrm>
                <a:off x="3970072" y="4063353"/>
                <a:ext cx="5210395" cy="751355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Local navigation intelligence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4045930" y="4683158"/>
                <a:ext cx="4867703" cy="1477321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Local ranker, semantic encoder and optional Ollama API Fallback</a:t>
                </a:r>
              </a:p>
            </p:txBody>
          </p:sp>
        </p:grpSp>
      </p:grpSp>
      <p:grpSp>
        <p:nvGrpSpPr>
          <p:cNvPr id="93" name="Group 92"/>
          <p:cNvGrpSpPr/>
          <p:nvPr/>
        </p:nvGrpSpPr>
        <p:grpSpPr>
          <a:xfrm>
            <a:off x="8047698" y="3406150"/>
            <a:ext cx="3420840" cy="1276807"/>
            <a:chOff x="8499806" y="3342416"/>
            <a:chExt cx="3420840" cy="1276807"/>
          </a:xfrm>
        </p:grpSpPr>
        <p:sp>
          <p:nvSpPr>
            <p:cNvPr id="12" name="Oval 11"/>
            <p:cNvSpPr/>
            <p:nvPr/>
          </p:nvSpPr>
          <p:spPr>
            <a:xfrm>
              <a:off x="8499806" y="3389513"/>
              <a:ext cx="957805" cy="957806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14" name="Group 13"/>
            <p:cNvGrpSpPr/>
            <p:nvPr/>
          </p:nvGrpSpPr>
          <p:grpSpPr>
            <a:xfrm>
              <a:off x="9486794" y="3342416"/>
              <a:ext cx="2433852" cy="1276807"/>
              <a:chOff x="4029296" y="3741820"/>
              <a:chExt cx="4867703" cy="2553608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4029296" y="3741820"/>
                <a:ext cx="4511487" cy="751354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Personalized Navigation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16" name="TextBox 15"/>
              <p:cNvSpPr txBox="1"/>
              <p:nvPr/>
            </p:nvSpPr>
            <p:spPr>
              <a:xfrm>
                <a:off x="4029296" y="4387222"/>
                <a:ext cx="4867703" cy="1908206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Recommendations, frequent pages and related pages reduce clicks.</a:t>
                </a:r>
              </a:p>
            </p:txBody>
          </p:sp>
        </p:grpSp>
      </p:grpSp>
      <p:grpSp>
        <p:nvGrpSpPr>
          <p:cNvPr id="92" name="Group 91"/>
          <p:cNvGrpSpPr/>
          <p:nvPr/>
        </p:nvGrpSpPr>
        <p:grpSpPr>
          <a:xfrm>
            <a:off x="8029169" y="4943679"/>
            <a:ext cx="3452001" cy="999733"/>
            <a:chOff x="8481277" y="4879945"/>
            <a:chExt cx="3452001" cy="999733"/>
          </a:xfrm>
        </p:grpSpPr>
        <p:sp>
          <p:nvSpPr>
            <p:cNvPr id="22" name="Oval 21"/>
            <p:cNvSpPr/>
            <p:nvPr/>
          </p:nvSpPr>
          <p:spPr>
            <a:xfrm>
              <a:off x="8481277" y="4921872"/>
              <a:ext cx="957805" cy="957806"/>
            </a:xfrm>
            <a:prstGeom prst="ellipse">
              <a:avLst/>
            </a:prstGeom>
            <a:solidFill>
              <a:schemeClr val="accent4">
                <a:lumMod val="50000"/>
              </a:schemeClr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9486794" y="4879945"/>
              <a:ext cx="2446484" cy="929226"/>
              <a:chOff x="4029296" y="3670670"/>
              <a:chExt cx="4892967" cy="1858448"/>
            </a:xfrm>
          </p:grpSpPr>
          <p:sp>
            <p:nvSpPr>
              <p:cNvPr id="25" name="TextBox 24"/>
              <p:cNvSpPr txBox="1"/>
              <p:nvPr/>
            </p:nvSpPr>
            <p:spPr>
              <a:xfrm>
                <a:off x="4029296" y="3670670"/>
                <a:ext cx="4447367" cy="751354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Dynamic Page Handling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4054560" y="4482684"/>
                <a:ext cx="4867703" cy="1046434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Fills or requests required URL parameters.</a:t>
                </a:r>
              </a:p>
            </p:txBody>
          </p:sp>
        </p:grpSp>
      </p:grpSp>
      <p:grpSp>
        <p:nvGrpSpPr>
          <p:cNvPr id="29" name="Group 28"/>
          <p:cNvGrpSpPr/>
          <p:nvPr/>
        </p:nvGrpSpPr>
        <p:grpSpPr>
          <a:xfrm>
            <a:off x="4324360" y="1926931"/>
            <a:ext cx="3491127" cy="1135557"/>
            <a:chOff x="9552935" y="3738475"/>
            <a:chExt cx="6982253" cy="2271113"/>
          </a:xfrm>
        </p:grpSpPr>
        <p:sp>
          <p:nvSpPr>
            <p:cNvPr id="30" name="Oval 29"/>
            <p:cNvSpPr/>
            <p:nvPr/>
          </p:nvSpPr>
          <p:spPr>
            <a:xfrm>
              <a:off x="9552935" y="3738475"/>
              <a:ext cx="1915610" cy="1915610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sp>
          <p:nvSpPr>
            <p:cNvPr id="31" name="Freeform 7"/>
            <p:cNvSpPr>
              <a:spLocks noEditPoints="1"/>
            </p:cNvSpPr>
            <p:nvPr/>
          </p:nvSpPr>
          <p:spPr bwMode="auto">
            <a:xfrm>
              <a:off x="10012373" y="4126885"/>
              <a:ext cx="949974" cy="1108751"/>
            </a:xfrm>
            <a:custGeom>
              <a:avLst/>
              <a:gdLst>
                <a:gd name="T0" fmla="*/ 149 w 149"/>
                <a:gd name="T1" fmla="*/ 22 h 174"/>
                <a:gd name="T2" fmla="*/ 95 w 149"/>
                <a:gd name="T3" fmla="*/ 0 h 174"/>
                <a:gd name="T4" fmla="*/ 42 w 149"/>
                <a:gd name="T5" fmla="*/ 21 h 174"/>
                <a:gd name="T6" fmla="*/ 42 w 149"/>
                <a:gd name="T7" fmla="*/ 22 h 174"/>
                <a:gd name="T8" fmla="*/ 42 w 149"/>
                <a:gd name="T9" fmla="*/ 23 h 174"/>
                <a:gd name="T10" fmla="*/ 0 w 149"/>
                <a:gd name="T11" fmla="*/ 46 h 174"/>
                <a:gd name="T12" fmla="*/ 0 w 149"/>
                <a:gd name="T13" fmla="*/ 152 h 174"/>
                <a:gd name="T14" fmla="*/ 53 w 149"/>
                <a:gd name="T15" fmla="*/ 174 h 174"/>
                <a:gd name="T16" fmla="*/ 106 w 149"/>
                <a:gd name="T17" fmla="*/ 152 h 174"/>
                <a:gd name="T18" fmla="*/ 148 w 149"/>
                <a:gd name="T19" fmla="*/ 131 h 174"/>
                <a:gd name="T20" fmla="*/ 149 w 149"/>
                <a:gd name="T21" fmla="*/ 22 h 174"/>
                <a:gd name="T22" fmla="*/ 53 w 149"/>
                <a:gd name="T23" fmla="*/ 65 h 174"/>
                <a:gd name="T24" fmla="*/ 99 w 149"/>
                <a:gd name="T25" fmla="*/ 80 h 174"/>
                <a:gd name="T26" fmla="*/ 7 w 149"/>
                <a:gd name="T27" fmla="*/ 80 h 174"/>
                <a:gd name="T28" fmla="*/ 53 w 149"/>
                <a:gd name="T29" fmla="*/ 65 h 174"/>
                <a:gd name="T30" fmla="*/ 106 w 149"/>
                <a:gd name="T31" fmla="*/ 69 h 174"/>
                <a:gd name="T32" fmla="*/ 106 w 149"/>
                <a:gd name="T33" fmla="*/ 46 h 174"/>
                <a:gd name="T34" fmla="*/ 106 w 149"/>
                <a:gd name="T35" fmla="*/ 46 h 174"/>
                <a:gd name="T36" fmla="*/ 106 w 149"/>
                <a:gd name="T37" fmla="*/ 44 h 174"/>
                <a:gd name="T38" fmla="*/ 141 w 149"/>
                <a:gd name="T39" fmla="*/ 30 h 174"/>
                <a:gd name="T40" fmla="*/ 7 w 149"/>
                <a:gd name="T41" fmla="*/ 90 h 174"/>
                <a:gd name="T42" fmla="*/ 99 w 149"/>
                <a:gd name="T43" fmla="*/ 90 h 174"/>
                <a:gd name="T44" fmla="*/ 53 w 149"/>
                <a:gd name="T45" fmla="*/ 129 h 174"/>
                <a:gd name="T46" fmla="*/ 7 w 149"/>
                <a:gd name="T47" fmla="*/ 90 h 174"/>
                <a:gd name="T48" fmla="*/ 141 w 149"/>
                <a:gd name="T49" fmla="*/ 66 h 174"/>
                <a:gd name="T50" fmla="*/ 106 w 149"/>
                <a:gd name="T51" fmla="*/ 105 h 174"/>
                <a:gd name="T52" fmla="*/ 95 w 149"/>
                <a:gd name="T53" fmla="*/ 7 h 174"/>
                <a:gd name="T54" fmla="*/ 98 w 149"/>
                <a:gd name="T55" fmla="*/ 33 h 174"/>
                <a:gd name="T56" fmla="*/ 50 w 149"/>
                <a:gd name="T57" fmla="*/ 24 h 174"/>
                <a:gd name="T58" fmla="*/ 50 w 149"/>
                <a:gd name="T59" fmla="*/ 22 h 174"/>
                <a:gd name="T60" fmla="*/ 95 w 149"/>
                <a:gd name="T61" fmla="*/ 7 h 174"/>
                <a:gd name="T62" fmla="*/ 99 w 149"/>
                <a:gd name="T63" fmla="*/ 45 h 174"/>
                <a:gd name="T64" fmla="*/ 7 w 149"/>
                <a:gd name="T65" fmla="*/ 45 h 174"/>
                <a:gd name="T66" fmla="*/ 53 w 149"/>
                <a:gd name="T67" fmla="*/ 167 h 174"/>
                <a:gd name="T68" fmla="*/ 7 w 149"/>
                <a:gd name="T69" fmla="*/ 126 h 174"/>
                <a:gd name="T70" fmla="*/ 99 w 149"/>
                <a:gd name="T71" fmla="*/ 126 h 174"/>
                <a:gd name="T72" fmla="*/ 53 w 149"/>
                <a:gd name="T73" fmla="*/ 167 h 174"/>
                <a:gd name="T74" fmla="*/ 106 w 149"/>
                <a:gd name="T75" fmla="*/ 112 h 174"/>
                <a:gd name="T76" fmla="*/ 141 w 149"/>
                <a:gd name="T77" fmla="*/ 129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49" h="174">
                  <a:moveTo>
                    <a:pt x="149" y="22"/>
                  </a:moveTo>
                  <a:cubicBezTo>
                    <a:pt x="149" y="22"/>
                    <a:pt x="149" y="22"/>
                    <a:pt x="149" y="22"/>
                  </a:cubicBezTo>
                  <a:cubicBezTo>
                    <a:pt x="149" y="21"/>
                    <a:pt x="149" y="21"/>
                    <a:pt x="149" y="20"/>
                  </a:cubicBezTo>
                  <a:cubicBezTo>
                    <a:pt x="146" y="5"/>
                    <a:pt x="119" y="0"/>
                    <a:pt x="95" y="0"/>
                  </a:cubicBezTo>
                  <a:cubicBezTo>
                    <a:pt x="72" y="0"/>
                    <a:pt x="45" y="5"/>
                    <a:pt x="42" y="20"/>
                  </a:cubicBezTo>
                  <a:cubicBezTo>
                    <a:pt x="42" y="20"/>
                    <a:pt x="42" y="21"/>
                    <a:pt x="42" y="21"/>
                  </a:cubicBezTo>
                  <a:cubicBezTo>
                    <a:pt x="42" y="21"/>
                    <a:pt x="42" y="22"/>
                    <a:pt x="42" y="22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2" y="22"/>
                    <a:pt x="42" y="22"/>
                    <a:pt x="42" y="22"/>
                  </a:cubicBezTo>
                  <a:cubicBezTo>
                    <a:pt x="42" y="22"/>
                    <a:pt x="42" y="23"/>
                    <a:pt x="42" y="23"/>
                  </a:cubicBezTo>
                  <a:cubicBezTo>
                    <a:pt x="42" y="24"/>
                    <a:pt x="42" y="24"/>
                    <a:pt x="42" y="24"/>
                  </a:cubicBezTo>
                  <a:cubicBezTo>
                    <a:pt x="21" y="26"/>
                    <a:pt x="0" y="32"/>
                    <a:pt x="0" y="46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152"/>
                    <a:pt x="0" y="152"/>
                    <a:pt x="0" y="152"/>
                  </a:cubicBezTo>
                  <a:cubicBezTo>
                    <a:pt x="0" y="153"/>
                    <a:pt x="0" y="154"/>
                    <a:pt x="0" y="155"/>
                  </a:cubicBezTo>
                  <a:cubicBezTo>
                    <a:pt x="4" y="169"/>
                    <a:pt x="31" y="174"/>
                    <a:pt x="53" y="174"/>
                  </a:cubicBezTo>
                  <a:cubicBezTo>
                    <a:pt x="75" y="174"/>
                    <a:pt x="103" y="169"/>
                    <a:pt x="106" y="155"/>
                  </a:cubicBezTo>
                  <a:cubicBezTo>
                    <a:pt x="106" y="154"/>
                    <a:pt x="106" y="153"/>
                    <a:pt x="106" y="152"/>
                  </a:cubicBezTo>
                  <a:cubicBezTo>
                    <a:pt x="106" y="150"/>
                    <a:pt x="106" y="150"/>
                    <a:pt x="106" y="150"/>
                  </a:cubicBezTo>
                  <a:cubicBezTo>
                    <a:pt x="119" y="149"/>
                    <a:pt x="145" y="146"/>
                    <a:pt x="148" y="131"/>
                  </a:cubicBezTo>
                  <a:cubicBezTo>
                    <a:pt x="149" y="130"/>
                    <a:pt x="149" y="129"/>
                    <a:pt x="149" y="128"/>
                  </a:cubicBezTo>
                  <a:cubicBezTo>
                    <a:pt x="149" y="22"/>
                    <a:pt x="149" y="22"/>
                    <a:pt x="149" y="22"/>
                  </a:cubicBezTo>
                  <a:cubicBezTo>
                    <a:pt x="149" y="22"/>
                    <a:pt x="149" y="22"/>
                    <a:pt x="149" y="22"/>
                  </a:cubicBezTo>
                  <a:close/>
                  <a:moveTo>
                    <a:pt x="53" y="65"/>
                  </a:moveTo>
                  <a:cubicBezTo>
                    <a:pt x="74" y="65"/>
                    <a:pt x="90" y="60"/>
                    <a:pt x="99" y="54"/>
                  </a:cubicBezTo>
                  <a:cubicBezTo>
                    <a:pt x="99" y="80"/>
                    <a:pt x="99" y="80"/>
                    <a:pt x="99" y="80"/>
                  </a:cubicBezTo>
                  <a:cubicBezTo>
                    <a:pt x="97" y="83"/>
                    <a:pt x="83" y="93"/>
                    <a:pt x="53" y="93"/>
                  </a:cubicBezTo>
                  <a:cubicBezTo>
                    <a:pt x="23" y="93"/>
                    <a:pt x="9" y="84"/>
                    <a:pt x="7" y="80"/>
                  </a:cubicBezTo>
                  <a:cubicBezTo>
                    <a:pt x="7" y="55"/>
                    <a:pt x="7" y="55"/>
                    <a:pt x="7" y="55"/>
                  </a:cubicBezTo>
                  <a:cubicBezTo>
                    <a:pt x="16" y="60"/>
                    <a:pt x="31" y="65"/>
                    <a:pt x="53" y="65"/>
                  </a:cubicBezTo>
                  <a:close/>
                  <a:moveTo>
                    <a:pt x="141" y="57"/>
                  </a:moveTo>
                  <a:cubicBezTo>
                    <a:pt x="140" y="59"/>
                    <a:pt x="129" y="67"/>
                    <a:pt x="106" y="69"/>
                  </a:cubicBezTo>
                  <a:cubicBezTo>
                    <a:pt x="106" y="46"/>
                    <a:pt x="106" y="46"/>
                    <a:pt x="106" y="46"/>
                  </a:cubicBezTo>
                  <a:cubicBezTo>
                    <a:pt x="106" y="46"/>
                    <a:pt x="106" y="46"/>
                    <a:pt x="106" y="46"/>
                  </a:cubicBezTo>
                  <a:cubicBezTo>
                    <a:pt x="106" y="46"/>
                    <a:pt x="106" y="46"/>
                    <a:pt x="106" y="46"/>
                  </a:cubicBezTo>
                  <a:cubicBezTo>
                    <a:pt x="106" y="46"/>
                    <a:pt x="106" y="46"/>
                    <a:pt x="106" y="46"/>
                  </a:cubicBezTo>
                  <a:cubicBezTo>
                    <a:pt x="106" y="46"/>
                    <a:pt x="106" y="46"/>
                    <a:pt x="106" y="46"/>
                  </a:cubicBezTo>
                  <a:cubicBezTo>
                    <a:pt x="107" y="45"/>
                    <a:pt x="106" y="44"/>
                    <a:pt x="106" y="44"/>
                  </a:cubicBezTo>
                  <a:cubicBezTo>
                    <a:pt x="106" y="43"/>
                    <a:pt x="106" y="41"/>
                    <a:pt x="105" y="40"/>
                  </a:cubicBezTo>
                  <a:cubicBezTo>
                    <a:pt x="121" y="39"/>
                    <a:pt x="134" y="35"/>
                    <a:pt x="141" y="30"/>
                  </a:cubicBezTo>
                  <a:lnTo>
                    <a:pt x="141" y="57"/>
                  </a:lnTo>
                  <a:close/>
                  <a:moveTo>
                    <a:pt x="7" y="90"/>
                  </a:moveTo>
                  <a:cubicBezTo>
                    <a:pt x="16" y="96"/>
                    <a:pt x="31" y="101"/>
                    <a:pt x="53" y="101"/>
                  </a:cubicBezTo>
                  <a:cubicBezTo>
                    <a:pt x="74" y="101"/>
                    <a:pt x="90" y="96"/>
                    <a:pt x="99" y="90"/>
                  </a:cubicBezTo>
                  <a:cubicBezTo>
                    <a:pt x="99" y="116"/>
                    <a:pt x="99" y="116"/>
                    <a:pt x="99" y="116"/>
                  </a:cubicBezTo>
                  <a:cubicBezTo>
                    <a:pt x="97" y="119"/>
                    <a:pt x="82" y="129"/>
                    <a:pt x="53" y="129"/>
                  </a:cubicBezTo>
                  <a:cubicBezTo>
                    <a:pt x="23" y="129"/>
                    <a:pt x="9" y="119"/>
                    <a:pt x="7" y="116"/>
                  </a:cubicBezTo>
                  <a:lnTo>
                    <a:pt x="7" y="90"/>
                  </a:lnTo>
                  <a:close/>
                  <a:moveTo>
                    <a:pt x="106" y="76"/>
                  </a:moveTo>
                  <a:cubicBezTo>
                    <a:pt x="122" y="75"/>
                    <a:pt x="134" y="71"/>
                    <a:pt x="141" y="66"/>
                  </a:cubicBezTo>
                  <a:cubicBezTo>
                    <a:pt x="141" y="93"/>
                    <a:pt x="141" y="93"/>
                    <a:pt x="141" y="93"/>
                  </a:cubicBezTo>
                  <a:cubicBezTo>
                    <a:pt x="140" y="95"/>
                    <a:pt x="129" y="103"/>
                    <a:pt x="106" y="105"/>
                  </a:cubicBezTo>
                  <a:lnTo>
                    <a:pt x="106" y="76"/>
                  </a:lnTo>
                  <a:close/>
                  <a:moveTo>
                    <a:pt x="95" y="7"/>
                  </a:moveTo>
                  <a:cubicBezTo>
                    <a:pt x="120" y="7"/>
                    <a:pt x="139" y="13"/>
                    <a:pt x="141" y="21"/>
                  </a:cubicBezTo>
                  <a:cubicBezTo>
                    <a:pt x="139" y="24"/>
                    <a:pt x="125" y="32"/>
                    <a:pt x="98" y="33"/>
                  </a:cubicBezTo>
                  <a:cubicBezTo>
                    <a:pt x="88" y="26"/>
                    <a:pt x="70" y="24"/>
                    <a:pt x="53" y="24"/>
                  </a:cubicBezTo>
                  <a:cubicBezTo>
                    <a:pt x="52" y="24"/>
                    <a:pt x="51" y="24"/>
                    <a:pt x="50" y="24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50" y="23"/>
                    <a:pt x="50" y="23"/>
                    <a:pt x="50" y="22"/>
                  </a:cubicBezTo>
                  <a:cubicBezTo>
                    <a:pt x="50" y="22"/>
                    <a:pt x="50" y="22"/>
                    <a:pt x="50" y="22"/>
                  </a:cubicBezTo>
                  <a:cubicBezTo>
                    <a:pt x="50" y="14"/>
                    <a:pt x="70" y="7"/>
                    <a:pt x="95" y="7"/>
                  </a:cubicBezTo>
                  <a:close/>
                  <a:moveTo>
                    <a:pt x="53" y="31"/>
                  </a:moveTo>
                  <a:cubicBezTo>
                    <a:pt x="78" y="31"/>
                    <a:pt x="97" y="37"/>
                    <a:pt x="99" y="45"/>
                  </a:cubicBezTo>
                  <a:cubicBezTo>
                    <a:pt x="97" y="48"/>
                    <a:pt x="82" y="57"/>
                    <a:pt x="53" y="57"/>
                  </a:cubicBezTo>
                  <a:cubicBezTo>
                    <a:pt x="24" y="57"/>
                    <a:pt x="10" y="48"/>
                    <a:pt x="7" y="45"/>
                  </a:cubicBezTo>
                  <a:cubicBezTo>
                    <a:pt x="10" y="37"/>
                    <a:pt x="29" y="31"/>
                    <a:pt x="53" y="31"/>
                  </a:cubicBezTo>
                  <a:close/>
                  <a:moveTo>
                    <a:pt x="53" y="167"/>
                  </a:moveTo>
                  <a:cubicBezTo>
                    <a:pt x="29" y="167"/>
                    <a:pt x="9" y="161"/>
                    <a:pt x="7" y="152"/>
                  </a:cubicBezTo>
                  <a:cubicBezTo>
                    <a:pt x="7" y="126"/>
                    <a:pt x="7" y="126"/>
                    <a:pt x="7" y="126"/>
                  </a:cubicBezTo>
                  <a:cubicBezTo>
                    <a:pt x="16" y="132"/>
                    <a:pt x="31" y="137"/>
                    <a:pt x="53" y="137"/>
                  </a:cubicBezTo>
                  <a:cubicBezTo>
                    <a:pt x="74" y="137"/>
                    <a:pt x="90" y="132"/>
                    <a:pt x="99" y="126"/>
                  </a:cubicBezTo>
                  <a:cubicBezTo>
                    <a:pt x="99" y="153"/>
                    <a:pt x="99" y="153"/>
                    <a:pt x="99" y="153"/>
                  </a:cubicBezTo>
                  <a:cubicBezTo>
                    <a:pt x="97" y="161"/>
                    <a:pt x="77" y="167"/>
                    <a:pt x="53" y="167"/>
                  </a:cubicBezTo>
                  <a:close/>
                  <a:moveTo>
                    <a:pt x="106" y="143"/>
                  </a:moveTo>
                  <a:cubicBezTo>
                    <a:pt x="106" y="112"/>
                    <a:pt x="106" y="112"/>
                    <a:pt x="106" y="112"/>
                  </a:cubicBezTo>
                  <a:cubicBezTo>
                    <a:pt x="122" y="111"/>
                    <a:pt x="134" y="107"/>
                    <a:pt x="141" y="102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0" y="136"/>
                    <a:pt x="126" y="141"/>
                    <a:pt x="106" y="14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>
                <a:latin typeface="Lato" panose="020F0502020204030203" pitchFamily="34" charset="0"/>
              </a:endParaRPr>
            </a:p>
          </p:txBody>
        </p:sp>
        <p:grpSp>
          <p:nvGrpSpPr>
            <p:cNvPr id="32" name="Group 31"/>
            <p:cNvGrpSpPr/>
            <p:nvPr/>
          </p:nvGrpSpPr>
          <p:grpSpPr>
            <a:xfrm>
              <a:off x="11581895" y="3895024"/>
              <a:ext cx="4953293" cy="2114564"/>
              <a:chOff x="4020850" y="4074054"/>
              <a:chExt cx="4953293" cy="2114564"/>
            </a:xfrm>
          </p:grpSpPr>
          <p:sp>
            <p:nvSpPr>
              <p:cNvPr id="33" name="TextBox 32"/>
              <p:cNvSpPr txBox="1"/>
              <p:nvPr/>
            </p:nvSpPr>
            <p:spPr>
              <a:xfrm>
                <a:off x="4033052" y="4074054"/>
                <a:ext cx="4941091" cy="751355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Database / Evidence Layer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4020850" y="4711294"/>
                <a:ext cx="4606865" cy="1477324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Stores profiles, events, pins and reviewable decisions.</a:t>
                </a:r>
              </a:p>
            </p:txBody>
          </p:sp>
        </p:grpSp>
      </p:grpSp>
      <p:grpSp>
        <p:nvGrpSpPr>
          <p:cNvPr id="86" name="Group 85"/>
          <p:cNvGrpSpPr/>
          <p:nvPr/>
        </p:nvGrpSpPr>
        <p:grpSpPr>
          <a:xfrm>
            <a:off x="4312788" y="3441795"/>
            <a:ext cx="3362810" cy="1078695"/>
            <a:chOff x="4764896" y="3357719"/>
            <a:chExt cx="3362810" cy="1078695"/>
          </a:xfrm>
        </p:grpSpPr>
        <p:sp>
          <p:nvSpPr>
            <p:cNvPr id="36" name="Oval 35"/>
            <p:cNvSpPr/>
            <p:nvPr/>
          </p:nvSpPr>
          <p:spPr>
            <a:xfrm>
              <a:off x="4764896" y="3389513"/>
              <a:ext cx="957805" cy="957806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5003650" y="3573116"/>
              <a:ext cx="480297" cy="590599"/>
              <a:chOff x="11245851" y="9561513"/>
              <a:chExt cx="546100" cy="671513"/>
            </a:xfrm>
            <a:solidFill>
              <a:schemeClr val="bg1"/>
            </a:solidFill>
          </p:grpSpPr>
          <p:sp>
            <p:nvSpPr>
              <p:cNvPr id="41" name="Freeform 17"/>
              <p:cNvSpPr>
                <a:spLocks noEditPoints="1"/>
              </p:cNvSpPr>
              <p:nvPr/>
            </p:nvSpPr>
            <p:spPr bwMode="auto">
              <a:xfrm>
                <a:off x="11377613" y="10113963"/>
                <a:ext cx="73025" cy="71438"/>
              </a:xfrm>
              <a:custGeom>
                <a:avLst/>
                <a:gdLst>
                  <a:gd name="T0" fmla="*/ 9 w 19"/>
                  <a:gd name="T1" fmla="*/ 0 h 19"/>
                  <a:gd name="T2" fmla="*/ 3 w 19"/>
                  <a:gd name="T3" fmla="*/ 3 h 19"/>
                  <a:gd name="T4" fmla="*/ 0 w 19"/>
                  <a:gd name="T5" fmla="*/ 10 h 19"/>
                  <a:gd name="T6" fmla="*/ 9 w 19"/>
                  <a:gd name="T7" fmla="*/ 19 h 19"/>
                  <a:gd name="T8" fmla="*/ 19 w 19"/>
                  <a:gd name="T9" fmla="*/ 10 h 19"/>
                  <a:gd name="T10" fmla="*/ 9 w 19"/>
                  <a:gd name="T11" fmla="*/ 0 h 19"/>
                  <a:gd name="T12" fmla="*/ 7 w 19"/>
                  <a:gd name="T13" fmla="*/ 10 h 19"/>
                  <a:gd name="T14" fmla="*/ 8 w 19"/>
                  <a:gd name="T15" fmla="*/ 8 h 19"/>
                  <a:gd name="T16" fmla="*/ 9 w 19"/>
                  <a:gd name="T17" fmla="*/ 8 h 19"/>
                  <a:gd name="T18" fmla="*/ 11 w 19"/>
                  <a:gd name="T19" fmla="*/ 10 h 19"/>
                  <a:gd name="T20" fmla="*/ 7 w 19"/>
                  <a:gd name="T21" fmla="*/ 1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" h="19">
                    <a:moveTo>
                      <a:pt x="9" y="0"/>
                    </a:moveTo>
                    <a:cubicBezTo>
                      <a:pt x="7" y="0"/>
                      <a:pt x="4" y="1"/>
                      <a:pt x="3" y="3"/>
                    </a:cubicBezTo>
                    <a:cubicBezTo>
                      <a:pt x="1" y="5"/>
                      <a:pt x="0" y="7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cubicBezTo>
                      <a:pt x="19" y="5"/>
                      <a:pt x="14" y="0"/>
                      <a:pt x="9" y="0"/>
                    </a:cubicBezTo>
                    <a:close/>
                    <a:moveTo>
                      <a:pt x="7" y="10"/>
                    </a:moveTo>
                    <a:cubicBezTo>
                      <a:pt x="7" y="9"/>
                      <a:pt x="8" y="9"/>
                      <a:pt x="8" y="8"/>
                    </a:cubicBezTo>
                    <a:cubicBezTo>
                      <a:pt x="8" y="8"/>
                      <a:pt x="9" y="8"/>
                      <a:pt x="9" y="8"/>
                    </a:cubicBezTo>
                    <a:cubicBezTo>
                      <a:pt x="10" y="8"/>
                      <a:pt x="11" y="9"/>
                      <a:pt x="11" y="10"/>
                    </a:cubicBezTo>
                    <a:cubicBezTo>
                      <a:pt x="11" y="12"/>
                      <a:pt x="7" y="12"/>
                      <a:pt x="7" y="1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42" name="Freeform 18"/>
              <p:cNvSpPr>
                <a:spLocks noEditPoints="1"/>
              </p:cNvSpPr>
              <p:nvPr/>
            </p:nvSpPr>
            <p:spPr bwMode="auto">
              <a:xfrm>
                <a:off x="11245851" y="9566275"/>
                <a:ext cx="331788" cy="666750"/>
              </a:xfrm>
              <a:custGeom>
                <a:avLst/>
                <a:gdLst>
                  <a:gd name="T0" fmla="*/ 68 w 88"/>
                  <a:gd name="T1" fmla="*/ 1 h 178"/>
                  <a:gd name="T2" fmla="*/ 64 w 88"/>
                  <a:gd name="T3" fmla="*/ 1 h 178"/>
                  <a:gd name="T4" fmla="*/ 63 w 88"/>
                  <a:gd name="T5" fmla="*/ 4 h 178"/>
                  <a:gd name="T6" fmla="*/ 63 w 88"/>
                  <a:gd name="T7" fmla="*/ 29 h 178"/>
                  <a:gd name="T8" fmla="*/ 54 w 88"/>
                  <a:gd name="T9" fmla="*/ 42 h 178"/>
                  <a:gd name="T10" fmla="*/ 34 w 88"/>
                  <a:gd name="T11" fmla="*/ 42 h 178"/>
                  <a:gd name="T12" fmla="*/ 25 w 88"/>
                  <a:gd name="T13" fmla="*/ 29 h 178"/>
                  <a:gd name="T14" fmla="*/ 25 w 88"/>
                  <a:gd name="T15" fmla="*/ 4 h 178"/>
                  <a:gd name="T16" fmla="*/ 23 w 88"/>
                  <a:gd name="T17" fmla="*/ 1 h 178"/>
                  <a:gd name="T18" fmla="*/ 20 w 88"/>
                  <a:gd name="T19" fmla="*/ 1 h 178"/>
                  <a:gd name="T20" fmla="*/ 0 w 88"/>
                  <a:gd name="T21" fmla="*/ 37 h 178"/>
                  <a:gd name="T22" fmla="*/ 24 w 88"/>
                  <a:gd name="T23" fmla="*/ 72 h 178"/>
                  <a:gd name="T24" fmla="*/ 19 w 88"/>
                  <a:gd name="T25" fmla="*/ 153 h 178"/>
                  <a:gd name="T26" fmla="*/ 44 w 88"/>
                  <a:gd name="T27" fmla="*/ 178 h 178"/>
                  <a:gd name="T28" fmla="*/ 69 w 88"/>
                  <a:gd name="T29" fmla="*/ 153 h 178"/>
                  <a:gd name="T30" fmla="*/ 63 w 88"/>
                  <a:gd name="T31" fmla="*/ 72 h 178"/>
                  <a:gd name="T32" fmla="*/ 88 w 88"/>
                  <a:gd name="T33" fmla="*/ 37 h 178"/>
                  <a:gd name="T34" fmla="*/ 68 w 88"/>
                  <a:gd name="T35" fmla="*/ 1 h 178"/>
                  <a:gd name="T36" fmla="*/ 58 w 88"/>
                  <a:gd name="T37" fmla="*/ 67 h 178"/>
                  <a:gd name="T38" fmla="*/ 56 w 88"/>
                  <a:gd name="T39" fmla="*/ 70 h 178"/>
                  <a:gd name="T40" fmla="*/ 62 w 88"/>
                  <a:gd name="T41" fmla="*/ 153 h 178"/>
                  <a:gd name="T42" fmla="*/ 44 w 88"/>
                  <a:gd name="T43" fmla="*/ 170 h 178"/>
                  <a:gd name="T44" fmla="*/ 26 w 88"/>
                  <a:gd name="T45" fmla="*/ 153 h 178"/>
                  <a:gd name="T46" fmla="*/ 32 w 88"/>
                  <a:gd name="T47" fmla="*/ 70 h 178"/>
                  <a:gd name="T48" fmla="*/ 30 w 88"/>
                  <a:gd name="T49" fmla="*/ 67 h 178"/>
                  <a:gd name="T50" fmla="*/ 8 w 88"/>
                  <a:gd name="T51" fmla="*/ 37 h 178"/>
                  <a:gd name="T52" fmla="*/ 18 w 88"/>
                  <a:gd name="T53" fmla="*/ 12 h 178"/>
                  <a:gd name="T54" fmla="*/ 18 w 88"/>
                  <a:gd name="T55" fmla="*/ 30 h 178"/>
                  <a:gd name="T56" fmla="*/ 19 w 88"/>
                  <a:gd name="T57" fmla="*/ 32 h 178"/>
                  <a:gd name="T58" fmla="*/ 29 w 88"/>
                  <a:gd name="T59" fmla="*/ 48 h 178"/>
                  <a:gd name="T60" fmla="*/ 32 w 88"/>
                  <a:gd name="T61" fmla="*/ 50 h 178"/>
                  <a:gd name="T62" fmla="*/ 56 w 88"/>
                  <a:gd name="T63" fmla="*/ 50 h 178"/>
                  <a:gd name="T64" fmla="*/ 59 w 88"/>
                  <a:gd name="T65" fmla="*/ 48 h 178"/>
                  <a:gd name="T66" fmla="*/ 69 w 88"/>
                  <a:gd name="T67" fmla="*/ 32 h 178"/>
                  <a:gd name="T68" fmla="*/ 70 w 88"/>
                  <a:gd name="T69" fmla="*/ 30 h 178"/>
                  <a:gd name="T70" fmla="*/ 70 w 88"/>
                  <a:gd name="T71" fmla="*/ 12 h 178"/>
                  <a:gd name="T72" fmla="*/ 80 w 88"/>
                  <a:gd name="T73" fmla="*/ 37 h 178"/>
                  <a:gd name="T74" fmla="*/ 58 w 88"/>
                  <a:gd name="T75" fmla="*/ 67 h 1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88" h="178">
                    <a:moveTo>
                      <a:pt x="68" y="1"/>
                    </a:moveTo>
                    <a:cubicBezTo>
                      <a:pt x="67" y="0"/>
                      <a:pt x="66" y="0"/>
                      <a:pt x="64" y="1"/>
                    </a:cubicBezTo>
                    <a:cubicBezTo>
                      <a:pt x="63" y="2"/>
                      <a:pt x="63" y="3"/>
                      <a:pt x="63" y="4"/>
                    </a:cubicBezTo>
                    <a:cubicBezTo>
                      <a:pt x="63" y="29"/>
                      <a:pt x="63" y="29"/>
                      <a:pt x="63" y="29"/>
                    </a:cubicBezTo>
                    <a:cubicBezTo>
                      <a:pt x="54" y="42"/>
                      <a:pt x="54" y="42"/>
                      <a:pt x="54" y="42"/>
                    </a:cubicBezTo>
                    <a:cubicBezTo>
                      <a:pt x="34" y="42"/>
                      <a:pt x="34" y="42"/>
                      <a:pt x="34" y="42"/>
                    </a:cubicBezTo>
                    <a:cubicBezTo>
                      <a:pt x="25" y="29"/>
                      <a:pt x="25" y="29"/>
                      <a:pt x="25" y="29"/>
                    </a:cubicBezTo>
                    <a:cubicBezTo>
                      <a:pt x="25" y="4"/>
                      <a:pt x="25" y="4"/>
                      <a:pt x="25" y="4"/>
                    </a:cubicBezTo>
                    <a:cubicBezTo>
                      <a:pt x="25" y="3"/>
                      <a:pt x="25" y="2"/>
                      <a:pt x="23" y="1"/>
                    </a:cubicBezTo>
                    <a:cubicBezTo>
                      <a:pt x="22" y="0"/>
                      <a:pt x="21" y="0"/>
                      <a:pt x="20" y="1"/>
                    </a:cubicBezTo>
                    <a:cubicBezTo>
                      <a:pt x="7" y="9"/>
                      <a:pt x="0" y="23"/>
                      <a:pt x="0" y="37"/>
                    </a:cubicBezTo>
                    <a:cubicBezTo>
                      <a:pt x="0" y="54"/>
                      <a:pt x="17" y="67"/>
                      <a:pt x="24" y="72"/>
                    </a:cubicBezTo>
                    <a:cubicBezTo>
                      <a:pt x="19" y="153"/>
                      <a:pt x="19" y="153"/>
                      <a:pt x="19" y="153"/>
                    </a:cubicBezTo>
                    <a:cubicBezTo>
                      <a:pt x="19" y="167"/>
                      <a:pt x="30" y="178"/>
                      <a:pt x="44" y="178"/>
                    </a:cubicBezTo>
                    <a:cubicBezTo>
                      <a:pt x="58" y="178"/>
                      <a:pt x="69" y="167"/>
                      <a:pt x="69" y="153"/>
                    </a:cubicBezTo>
                    <a:cubicBezTo>
                      <a:pt x="63" y="72"/>
                      <a:pt x="63" y="72"/>
                      <a:pt x="63" y="72"/>
                    </a:cubicBezTo>
                    <a:cubicBezTo>
                      <a:pt x="71" y="67"/>
                      <a:pt x="88" y="54"/>
                      <a:pt x="88" y="37"/>
                    </a:cubicBezTo>
                    <a:cubicBezTo>
                      <a:pt x="88" y="23"/>
                      <a:pt x="81" y="9"/>
                      <a:pt x="68" y="1"/>
                    </a:cubicBezTo>
                    <a:close/>
                    <a:moveTo>
                      <a:pt x="58" y="67"/>
                    </a:moveTo>
                    <a:cubicBezTo>
                      <a:pt x="56" y="68"/>
                      <a:pt x="56" y="69"/>
                      <a:pt x="56" y="70"/>
                    </a:cubicBezTo>
                    <a:cubicBezTo>
                      <a:pt x="62" y="153"/>
                      <a:pt x="62" y="153"/>
                      <a:pt x="62" y="153"/>
                    </a:cubicBezTo>
                    <a:cubicBezTo>
                      <a:pt x="62" y="163"/>
                      <a:pt x="54" y="170"/>
                      <a:pt x="44" y="170"/>
                    </a:cubicBezTo>
                    <a:cubicBezTo>
                      <a:pt x="34" y="170"/>
                      <a:pt x="26" y="163"/>
                      <a:pt x="26" y="153"/>
                    </a:cubicBezTo>
                    <a:cubicBezTo>
                      <a:pt x="32" y="70"/>
                      <a:pt x="32" y="70"/>
                      <a:pt x="32" y="70"/>
                    </a:cubicBezTo>
                    <a:cubicBezTo>
                      <a:pt x="32" y="69"/>
                      <a:pt x="31" y="68"/>
                      <a:pt x="30" y="67"/>
                    </a:cubicBezTo>
                    <a:cubicBezTo>
                      <a:pt x="25" y="64"/>
                      <a:pt x="8" y="52"/>
                      <a:pt x="8" y="37"/>
                    </a:cubicBezTo>
                    <a:cubicBezTo>
                      <a:pt x="8" y="28"/>
                      <a:pt x="11" y="19"/>
                      <a:pt x="18" y="12"/>
                    </a:cubicBezTo>
                    <a:cubicBezTo>
                      <a:pt x="18" y="30"/>
                      <a:pt x="18" y="30"/>
                      <a:pt x="18" y="30"/>
                    </a:cubicBezTo>
                    <a:cubicBezTo>
                      <a:pt x="18" y="31"/>
                      <a:pt x="18" y="31"/>
                      <a:pt x="19" y="32"/>
                    </a:cubicBezTo>
                    <a:cubicBezTo>
                      <a:pt x="29" y="48"/>
                      <a:pt x="29" y="48"/>
                      <a:pt x="29" y="48"/>
                    </a:cubicBezTo>
                    <a:cubicBezTo>
                      <a:pt x="30" y="49"/>
                      <a:pt x="31" y="50"/>
                      <a:pt x="32" y="50"/>
                    </a:cubicBezTo>
                    <a:cubicBezTo>
                      <a:pt x="56" y="50"/>
                      <a:pt x="56" y="50"/>
                      <a:pt x="56" y="50"/>
                    </a:cubicBezTo>
                    <a:cubicBezTo>
                      <a:pt x="57" y="50"/>
                      <a:pt x="58" y="49"/>
                      <a:pt x="59" y="48"/>
                    </a:cubicBezTo>
                    <a:cubicBezTo>
                      <a:pt x="69" y="32"/>
                      <a:pt x="69" y="32"/>
                      <a:pt x="69" y="32"/>
                    </a:cubicBezTo>
                    <a:cubicBezTo>
                      <a:pt x="70" y="31"/>
                      <a:pt x="70" y="31"/>
                      <a:pt x="70" y="30"/>
                    </a:cubicBezTo>
                    <a:cubicBezTo>
                      <a:pt x="70" y="12"/>
                      <a:pt x="70" y="12"/>
                      <a:pt x="70" y="12"/>
                    </a:cubicBezTo>
                    <a:cubicBezTo>
                      <a:pt x="77" y="19"/>
                      <a:pt x="80" y="28"/>
                      <a:pt x="80" y="37"/>
                    </a:cubicBezTo>
                    <a:cubicBezTo>
                      <a:pt x="80" y="52"/>
                      <a:pt x="63" y="64"/>
                      <a:pt x="58" y="6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43" name="Freeform 19"/>
              <p:cNvSpPr>
                <a:spLocks noEditPoints="1"/>
              </p:cNvSpPr>
              <p:nvPr/>
            </p:nvSpPr>
            <p:spPr bwMode="auto">
              <a:xfrm>
                <a:off x="11596688" y="9561513"/>
                <a:ext cx="195263" cy="671513"/>
              </a:xfrm>
              <a:custGeom>
                <a:avLst/>
                <a:gdLst>
                  <a:gd name="T0" fmla="*/ 50 w 52"/>
                  <a:gd name="T1" fmla="*/ 100 h 179"/>
                  <a:gd name="T2" fmla="*/ 52 w 52"/>
                  <a:gd name="T3" fmla="*/ 97 h 179"/>
                  <a:gd name="T4" fmla="*/ 52 w 52"/>
                  <a:gd name="T5" fmla="*/ 81 h 179"/>
                  <a:gd name="T6" fmla="*/ 49 w 52"/>
                  <a:gd name="T7" fmla="*/ 78 h 179"/>
                  <a:gd name="T8" fmla="*/ 30 w 52"/>
                  <a:gd name="T9" fmla="*/ 78 h 179"/>
                  <a:gd name="T10" fmla="*/ 30 w 52"/>
                  <a:gd name="T11" fmla="*/ 27 h 179"/>
                  <a:gd name="T12" fmla="*/ 31 w 52"/>
                  <a:gd name="T13" fmla="*/ 27 h 179"/>
                  <a:gd name="T14" fmla="*/ 34 w 52"/>
                  <a:gd name="T15" fmla="*/ 25 h 179"/>
                  <a:gd name="T16" fmla="*/ 38 w 52"/>
                  <a:gd name="T17" fmla="*/ 14 h 179"/>
                  <a:gd name="T18" fmla="*/ 37 w 52"/>
                  <a:gd name="T19" fmla="*/ 11 h 179"/>
                  <a:gd name="T20" fmla="*/ 34 w 52"/>
                  <a:gd name="T21" fmla="*/ 3 h 179"/>
                  <a:gd name="T22" fmla="*/ 31 w 52"/>
                  <a:gd name="T23" fmla="*/ 0 h 179"/>
                  <a:gd name="T24" fmla="*/ 22 w 52"/>
                  <a:gd name="T25" fmla="*/ 0 h 179"/>
                  <a:gd name="T26" fmla="*/ 18 w 52"/>
                  <a:gd name="T27" fmla="*/ 3 h 179"/>
                  <a:gd name="T28" fmla="*/ 15 w 52"/>
                  <a:gd name="T29" fmla="*/ 11 h 179"/>
                  <a:gd name="T30" fmla="*/ 14 w 52"/>
                  <a:gd name="T31" fmla="*/ 14 h 179"/>
                  <a:gd name="T32" fmla="*/ 18 w 52"/>
                  <a:gd name="T33" fmla="*/ 25 h 179"/>
                  <a:gd name="T34" fmla="*/ 22 w 52"/>
                  <a:gd name="T35" fmla="*/ 27 h 179"/>
                  <a:gd name="T36" fmla="*/ 22 w 52"/>
                  <a:gd name="T37" fmla="*/ 27 h 179"/>
                  <a:gd name="T38" fmla="*/ 22 w 52"/>
                  <a:gd name="T39" fmla="*/ 78 h 179"/>
                  <a:gd name="T40" fmla="*/ 3 w 52"/>
                  <a:gd name="T41" fmla="*/ 78 h 179"/>
                  <a:gd name="T42" fmla="*/ 0 w 52"/>
                  <a:gd name="T43" fmla="*/ 81 h 179"/>
                  <a:gd name="T44" fmla="*/ 0 w 52"/>
                  <a:gd name="T45" fmla="*/ 97 h 179"/>
                  <a:gd name="T46" fmla="*/ 2 w 52"/>
                  <a:gd name="T47" fmla="*/ 100 h 179"/>
                  <a:gd name="T48" fmla="*/ 6 w 52"/>
                  <a:gd name="T49" fmla="*/ 106 h 179"/>
                  <a:gd name="T50" fmla="*/ 2 w 52"/>
                  <a:gd name="T51" fmla="*/ 112 h 179"/>
                  <a:gd name="T52" fmla="*/ 0 w 52"/>
                  <a:gd name="T53" fmla="*/ 115 h 179"/>
                  <a:gd name="T54" fmla="*/ 0 w 52"/>
                  <a:gd name="T55" fmla="*/ 157 h 179"/>
                  <a:gd name="T56" fmla="*/ 26 w 52"/>
                  <a:gd name="T57" fmla="*/ 179 h 179"/>
                  <a:gd name="T58" fmla="*/ 52 w 52"/>
                  <a:gd name="T59" fmla="*/ 157 h 179"/>
                  <a:gd name="T60" fmla="*/ 52 w 52"/>
                  <a:gd name="T61" fmla="*/ 115 h 179"/>
                  <a:gd name="T62" fmla="*/ 50 w 52"/>
                  <a:gd name="T63" fmla="*/ 112 h 179"/>
                  <a:gd name="T64" fmla="*/ 46 w 52"/>
                  <a:gd name="T65" fmla="*/ 106 h 179"/>
                  <a:gd name="T66" fmla="*/ 50 w 52"/>
                  <a:gd name="T67" fmla="*/ 100 h 179"/>
                  <a:gd name="T68" fmla="*/ 24 w 52"/>
                  <a:gd name="T69" fmla="*/ 8 h 179"/>
                  <a:gd name="T70" fmla="*/ 28 w 52"/>
                  <a:gd name="T71" fmla="*/ 8 h 179"/>
                  <a:gd name="T72" fmla="*/ 30 w 52"/>
                  <a:gd name="T73" fmla="*/ 13 h 179"/>
                  <a:gd name="T74" fmla="*/ 28 w 52"/>
                  <a:gd name="T75" fmla="*/ 20 h 179"/>
                  <a:gd name="T76" fmla="*/ 24 w 52"/>
                  <a:gd name="T77" fmla="*/ 20 h 179"/>
                  <a:gd name="T78" fmla="*/ 22 w 52"/>
                  <a:gd name="T79" fmla="*/ 13 h 179"/>
                  <a:gd name="T80" fmla="*/ 24 w 52"/>
                  <a:gd name="T81" fmla="*/ 8 h 179"/>
                  <a:gd name="T82" fmla="*/ 45 w 52"/>
                  <a:gd name="T83" fmla="*/ 95 h 179"/>
                  <a:gd name="T84" fmla="*/ 38 w 52"/>
                  <a:gd name="T85" fmla="*/ 106 h 179"/>
                  <a:gd name="T86" fmla="*/ 45 w 52"/>
                  <a:gd name="T87" fmla="*/ 117 h 179"/>
                  <a:gd name="T88" fmla="*/ 45 w 52"/>
                  <a:gd name="T89" fmla="*/ 157 h 179"/>
                  <a:gd name="T90" fmla="*/ 26 w 52"/>
                  <a:gd name="T91" fmla="*/ 172 h 179"/>
                  <a:gd name="T92" fmla="*/ 7 w 52"/>
                  <a:gd name="T93" fmla="*/ 157 h 179"/>
                  <a:gd name="T94" fmla="*/ 7 w 52"/>
                  <a:gd name="T95" fmla="*/ 117 h 179"/>
                  <a:gd name="T96" fmla="*/ 14 w 52"/>
                  <a:gd name="T97" fmla="*/ 106 h 179"/>
                  <a:gd name="T98" fmla="*/ 7 w 52"/>
                  <a:gd name="T99" fmla="*/ 95 h 179"/>
                  <a:gd name="T100" fmla="*/ 7 w 52"/>
                  <a:gd name="T101" fmla="*/ 85 h 179"/>
                  <a:gd name="T102" fmla="*/ 45 w 52"/>
                  <a:gd name="T103" fmla="*/ 85 h 179"/>
                  <a:gd name="T104" fmla="*/ 45 w 52"/>
                  <a:gd name="T105" fmla="*/ 95 h 1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52" h="179">
                    <a:moveTo>
                      <a:pt x="50" y="100"/>
                    </a:moveTo>
                    <a:cubicBezTo>
                      <a:pt x="52" y="100"/>
                      <a:pt x="52" y="98"/>
                      <a:pt x="52" y="97"/>
                    </a:cubicBezTo>
                    <a:cubicBezTo>
                      <a:pt x="52" y="81"/>
                      <a:pt x="52" y="81"/>
                      <a:pt x="52" y="81"/>
                    </a:cubicBezTo>
                    <a:cubicBezTo>
                      <a:pt x="52" y="79"/>
                      <a:pt x="51" y="78"/>
                      <a:pt x="49" y="78"/>
                    </a:cubicBezTo>
                    <a:cubicBezTo>
                      <a:pt x="30" y="78"/>
                      <a:pt x="30" y="78"/>
                      <a:pt x="30" y="78"/>
                    </a:cubicBezTo>
                    <a:cubicBezTo>
                      <a:pt x="30" y="27"/>
                      <a:pt x="30" y="27"/>
                      <a:pt x="30" y="27"/>
                    </a:cubicBezTo>
                    <a:cubicBezTo>
                      <a:pt x="31" y="27"/>
                      <a:pt x="31" y="27"/>
                      <a:pt x="31" y="27"/>
                    </a:cubicBezTo>
                    <a:cubicBezTo>
                      <a:pt x="32" y="27"/>
                      <a:pt x="34" y="26"/>
                      <a:pt x="34" y="25"/>
                    </a:cubicBezTo>
                    <a:cubicBezTo>
                      <a:pt x="38" y="14"/>
                      <a:pt x="38" y="14"/>
                      <a:pt x="38" y="14"/>
                    </a:cubicBezTo>
                    <a:cubicBezTo>
                      <a:pt x="38" y="13"/>
                      <a:pt x="38" y="12"/>
                      <a:pt x="37" y="11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1"/>
                      <a:pt x="32" y="0"/>
                      <a:pt x="31" y="0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20" y="0"/>
                      <a:pt x="19" y="1"/>
                      <a:pt x="18" y="3"/>
                    </a:cubicBezTo>
                    <a:cubicBezTo>
                      <a:pt x="15" y="11"/>
                      <a:pt x="15" y="11"/>
                      <a:pt x="15" y="11"/>
                    </a:cubicBezTo>
                    <a:cubicBezTo>
                      <a:pt x="14" y="12"/>
                      <a:pt x="14" y="13"/>
                      <a:pt x="14" y="14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18" y="26"/>
                      <a:pt x="20" y="27"/>
                      <a:pt x="22" y="27"/>
                    </a:cubicBezTo>
                    <a:cubicBezTo>
                      <a:pt x="22" y="27"/>
                      <a:pt x="22" y="27"/>
                      <a:pt x="22" y="27"/>
                    </a:cubicBezTo>
                    <a:cubicBezTo>
                      <a:pt x="22" y="78"/>
                      <a:pt x="22" y="78"/>
                      <a:pt x="22" y="78"/>
                    </a:cubicBezTo>
                    <a:cubicBezTo>
                      <a:pt x="3" y="78"/>
                      <a:pt x="3" y="78"/>
                      <a:pt x="3" y="78"/>
                    </a:cubicBezTo>
                    <a:cubicBezTo>
                      <a:pt x="1" y="78"/>
                      <a:pt x="0" y="79"/>
                      <a:pt x="0" y="81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0" y="98"/>
                      <a:pt x="0" y="100"/>
                      <a:pt x="2" y="100"/>
                    </a:cubicBezTo>
                    <a:cubicBezTo>
                      <a:pt x="4" y="101"/>
                      <a:pt x="6" y="104"/>
                      <a:pt x="6" y="106"/>
                    </a:cubicBezTo>
                    <a:cubicBezTo>
                      <a:pt x="6" y="108"/>
                      <a:pt x="4" y="110"/>
                      <a:pt x="2" y="112"/>
                    </a:cubicBezTo>
                    <a:cubicBezTo>
                      <a:pt x="0" y="112"/>
                      <a:pt x="0" y="114"/>
                      <a:pt x="0" y="115"/>
                    </a:cubicBezTo>
                    <a:cubicBezTo>
                      <a:pt x="0" y="157"/>
                      <a:pt x="0" y="157"/>
                      <a:pt x="0" y="157"/>
                    </a:cubicBezTo>
                    <a:cubicBezTo>
                      <a:pt x="0" y="169"/>
                      <a:pt x="11" y="179"/>
                      <a:pt x="26" y="179"/>
                    </a:cubicBezTo>
                    <a:cubicBezTo>
                      <a:pt x="41" y="179"/>
                      <a:pt x="52" y="169"/>
                      <a:pt x="52" y="157"/>
                    </a:cubicBezTo>
                    <a:cubicBezTo>
                      <a:pt x="52" y="115"/>
                      <a:pt x="52" y="115"/>
                      <a:pt x="52" y="115"/>
                    </a:cubicBezTo>
                    <a:cubicBezTo>
                      <a:pt x="52" y="114"/>
                      <a:pt x="52" y="112"/>
                      <a:pt x="50" y="112"/>
                    </a:cubicBezTo>
                    <a:cubicBezTo>
                      <a:pt x="48" y="110"/>
                      <a:pt x="46" y="108"/>
                      <a:pt x="46" y="106"/>
                    </a:cubicBezTo>
                    <a:cubicBezTo>
                      <a:pt x="46" y="104"/>
                      <a:pt x="48" y="101"/>
                      <a:pt x="50" y="100"/>
                    </a:cubicBezTo>
                    <a:close/>
                    <a:moveTo>
                      <a:pt x="24" y="8"/>
                    </a:moveTo>
                    <a:cubicBezTo>
                      <a:pt x="28" y="8"/>
                      <a:pt x="28" y="8"/>
                      <a:pt x="28" y="8"/>
                    </a:cubicBezTo>
                    <a:cubicBezTo>
                      <a:pt x="30" y="13"/>
                      <a:pt x="30" y="13"/>
                      <a:pt x="30" y="13"/>
                    </a:cubicBezTo>
                    <a:cubicBezTo>
                      <a:pt x="28" y="20"/>
                      <a:pt x="28" y="20"/>
                      <a:pt x="28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2" y="13"/>
                      <a:pt x="22" y="13"/>
                      <a:pt x="22" y="13"/>
                    </a:cubicBezTo>
                    <a:lnTo>
                      <a:pt x="24" y="8"/>
                    </a:lnTo>
                    <a:close/>
                    <a:moveTo>
                      <a:pt x="45" y="95"/>
                    </a:moveTo>
                    <a:cubicBezTo>
                      <a:pt x="41" y="97"/>
                      <a:pt x="38" y="101"/>
                      <a:pt x="38" y="106"/>
                    </a:cubicBezTo>
                    <a:cubicBezTo>
                      <a:pt x="38" y="110"/>
                      <a:pt x="41" y="115"/>
                      <a:pt x="45" y="117"/>
                    </a:cubicBezTo>
                    <a:cubicBezTo>
                      <a:pt x="45" y="157"/>
                      <a:pt x="45" y="157"/>
                      <a:pt x="45" y="157"/>
                    </a:cubicBezTo>
                    <a:cubicBezTo>
                      <a:pt x="45" y="165"/>
                      <a:pt x="36" y="172"/>
                      <a:pt x="26" y="172"/>
                    </a:cubicBezTo>
                    <a:cubicBezTo>
                      <a:pt x="16" y="172"/>
                      <a:pt x="7" y="165"/>
                      <a:pt x="7" y="157"/>
                    </a:cubicBezTo>
                    <a:cubicBezTo>
                      <a:pt x="7" y="117"/>
                      <a:pt x="7" y="117"/>
                      <a:pt x="7" y="117"/>
                    </a:cubicBezTo>
                    <a:cubicBezTo>
                      <a:pt x="11" y="115"/>
                      <a:pt x="14" y="110"/>
                      <a:pt x="14" y="106"/>
                    </a:cubicBezTo>
                    <a:cubicBezTo>
                      <a:pt x="14" y="101"/>
                      <a:pt x="11" y="97"/>
                      <a:pt x="7" y="95"/>
                    </a:cubicBezTo>
                    <a:cubicBezTo>
                      <a:pt x="7" y="85"/>
                      <a:pt x="7" y="85"/>
                      <a:pt x="7" y="85"/>
                    </a:cubicBezTo>
                    <a:cubicBezTo>
                      <a:pt x="45" y="85"/>
                      <a:pt x="45" y="85"/>
                      <a:pt x="45" y="85"/>
                    </a:cubicBezTo>
                    <a:lnTo>
                      <a:pt x="45" y="9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44" name="Freeform 20"/>
              <p:cNvSpPr>
                <a:spLocks/>
              </p:cNvSpPr>
              <p:nvPr/>
            </p:nvSpPr>
            <p:spPr bwMode="auto">
              <a:xfrm>
                <a:off x="11679238" y="10004425"/>
                <a:ext cx="30163" cy="158750"/>
              </a:xfrm>
              <a:custGeom>
                <a:avLst/>
                <a:gdLst>
                  <a:gd name="T0" fmla="*/ 0 w 8"/>
                  <a:gd name="T1" fmla="*/ 4 h 42"/>
                  <a:gd name="T2" fmla="*/ 0 w 8"/>
                  <a:gd name="T3" fmla="*/ 39 h 42"/>
                  <a:gd name="T4" fmla="*/ 4 w 8"/>
                  <a:gd name="T5" fmla="*/ 42 h 42"/>
                  <a:gd name="T6" fmla="*/ 8 w 8"/>
                  <a:gd name="T7" fmla="*/ 39 h 42"/>
                  <a:gd name="T8" fmla="*/ 8 w 8"/>
                  <a:gd name="T9" fmla="*/ 4 h 42"/>
                  <a:gd name="T10" fmla="*/ 4 w 8"/>
                  <a:gd name="T11" fmla="*/ 0 h 42"/>
                  <a:gd name="T12" fmla="*/ 0 w 8"/>
                  <a:gd name="T13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" h="42">
                    <a:moveTo>
                      <a:pt x="0" y="4"/>
                    </a:moveTo>
                    <a:cubicBezTo>
                      <a:pt x="0" y="39"/>
                      <a:pt x="0" y="39"/>
                      <a:pt x="0" y="39"/>
                    </a:cubicBezTo>
                    <a:cubicBezTo>
                      <a:pt x="0" y="41"/>
                      <a:pt x="2" y="42"/>
                      <a:pt x="4" y="42"/>
                    </a:cubicBezTo>
                    <a:cubicBezTo>
                      <a:pt x="6" y="42"/>
                      <a:pt x="8" y="41"/>
                      <a:pt x="8" y="39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8" y="2"/>
                      <a:pt x="6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5824272" y="3357719"/>
              <a:ext cx="2303434" cy="1078695"/>
              <a:chOff x="4087498" y="3772426"/>
              <a:chExt cx="4606867" cy="2157387"/>
            </a:xfrm>
          </p:grpSpPr>
          <p:sp>
            <p:nvSpPr>
              <p:cNvPr id="39" name="TextBox 38"/>
              <p:cNvSpPr txBox="1"/>
              <p:nvPr/>
            </p:nvSpPr>
            <p:spPr>
              <a:xfrm>
                <a:off x="4087498" y="3772426"/>
                <a:ext cx="4043409" cy="751355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Manual page openers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4087498" y="4452491"/>
                <a:ext cx="4606867" cy="1477322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>
                  <a:spcBef>
                    <a:spcPct val="20000"/>
                  </a:spcBef>
                  <a:defRPr/>
                </a:pPr>
                <a:r>
                  <a:rPr lang="en-US" sz="1400" dirty="0">
                    <a:latin typeface="Arial" panose="020B0604020202020204" pitchFamily="34" charset="0"/>
                    <a:ea typeface="Lato" panose="020F0502020204030203" pitchFamily="34" charset="0"/>
                    <a:cs typeface="Arial" panose="020B0604020202020204" pitchFamily="34" charset="0"/>
                  </a:rPr>
                  <a:t>Pins &amp; Role Essential </a:t>
                </a: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buttons can open a single page or a group</a:t>
                </a:r>
                <a:endParaRPr lang="en-US" sz="1400" dirty="0">
                  <a:latin typeface="Arial" panose="020B0604020202020204" pitchFamily="34" charset="0"/>
                  <a:ea typeface="Lato" panose="020F0502020204030203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45" name="Group 44"/>
          <p:cNvGrpSpPr/>
          <p:nvPr/>
        </p:nvGrpSpPr>
        <p:grpSpPr>
          <a:xfrm>
            <a:off x="4322201" y="4943679"/>
            <a:ext cx="3737353" cy="1049570"/>
            <a:chOff x="9552935" y="9740340"/>
            <a:chExt cx="7474705" cy="2099136"/>
          </a:xfrm>
        </p:grpSpPr>
        <p:sp>
          <p:nvSpPr>
            <p:cNvPr id="46" name="Oval 45"/>
            <p:cNvSpPr/>
            <p:nvPr/>
          </p:nvSpPr>
          <p:spPr>
            <a:xfrm>
              <a:off x="9552935" y="9864607"/>
              <a:ext cx="1915610" cy="1915610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47" name="Group 46"/>
            <p:cNvGrpSpPr/>
            <p:nvPr/>
          </p:nvGrpSpPr>
          <p:grpSpPr>
            <a:xfrm>
              <a:off x="9946078" y="10263065"/>
              <a:ext cx="1129325" cy="1118694"/>
              <a:chOff x="11152188" y="12609513"/>
              <a:chExt cx="674688" cy="668337"/>
            </a:xfrm>
            <a:solidFill>
              <a:schemeClr val="bg1"/>
            </a:solidFill>
          </p:grpSpPr>
          <p:sp>
            <p:nvSpPr>
              <p:cNvPr id="51" name="Freeform 14"/>
              <p:cNvSpPr>
                <a:spLocks noEditPoints="1"/>
              </p:cNvSpPr>
              <p:nvPr/>
            </p:nvSpPr>
            <p:spPr bwMode="auto">
              <a:xfrm>
                <a:off x="11152188" y="12609513"/>
                <a:ext cx="674688" cy="615950"/>
              </a:xfrm>
              <a:custGeom>
                <a:avLst/>
                <a:gdLst>
                  <a:gd name="T0" fmla="*/ 169 w 179"/>
                  <a:gd name="T1" fmla="*/ 15 h 164"/>
                  <a:gd name="T2" fmla="*/ 51 w 179"/>
                  <a:gd name="T3" fmla="*/ 15 h 164"/>
                  <a:gd name="T4" fmla="*/ 38 w 179"/>
                  <a:gd name="T5" fmla="*/ 0 h 164"/>
                  <a:gd name="T6" fmla="*/ 11 w 179"/>
                  <a:gd name="T7" fmla="*/ 0 h 164"/>
                  <a:gd name="T8" fmla="*/ 0 w 179"/>
                  <a:gd name="T9" fmla="*/ 11 h 164"/>
                  <a:gd name="T10" fmla="*/ 0 w 179"/>
                  <a:gd name="T11" fmla="*/ 153 h 164"/>
                  <a:gd name="T12" fmla="*/ 11 w 179"/>
                  <a:gd name="T13" fmla="*/ 164 h 164"/>
                  <a:gd name="T14" fmla="*/ 37 w 179"/>
                  <a:gd name="T15" fmla="*/ 164 h 164"/>
                  <a:gd name="T16" fmla="*/ 41 w 179"/>
                  <a:gd name="T17" fmla="*/ 160 h 164"/>
                  <a:gd name="T18" fmla="*/ 37 w 179"/>
                  <a:gd name="T19" fmla="*/ 157 h 164"/>
                  <a:gd name="T20" fmla="*/ 11 w 179"/>
                  <a:gd name="T21" fmla="*/ 157 h 164"/>
                  <a:gd name="T22" fmla="*/ 8 w 179"/>
                  <a:gd name="T23" fmla="*/ 153 h 164"/>
                  <a:gd name="T24" fmla="*/ 8 w 179"/>
                  <a:gd name="T25" fmla="*/ 52 h 164"/>
                  <a:gd name="T26" fmla="*/ 172 w 179"/>
                  <a:gd name="T27" fmla="*/ 52 h 164"/>
                  <a:gd name="T28" fmla="*/ 172 w 179"/>
                  <a:gd name="T29" fmla="*/ 153 h 164"/>
                  <a:gd name="T30" fmla="*/ 169 w 179"/>
                  <a:gd name="T31" fmla="*/ 157 h 164"/>
                  <a:gd name="T32" fmla="*/ 142 w 179"/>
                  <a:gd name="T33" fmla="*/ 157 h 164"/>
                  <a:gd name="T34" fmla="*/ 138 w 179"/>
                  <a:gd name="T35" fmla="*/ 160 h 164"/>
                  <a:gd name="T36" fmla="*/ 142 w 179"/>
                  <a:gd name="T37" fmla="*/ 164 h 164"/>
                  <a:gd name="T38" fmla="*/ 169 w 179"/>
                  <a:gd name="T39" fmla="*/ 164 h 164"/>
                  <a:gd name="T40" fmla="*/ 179 w 179"/>
                  <a:gd name="T41" fmla="*/ 153 h 164"/>
                  <a:gd name="T42" fmla="*/ 179 w 179"/>
                  <a:gd name="T43" fmla="*/ 26 h 164"/>
                  <a:gd name="T44" fmla="*/ 169 w 179"/>
                  <a:gd name="T45" fmla="*/ 15 h 164"/>
                  <a:gd name="T46" fmla="*/ 8 w 179"/>
                  <a:gd name="T47" fmla="*/ 45 h 164"/>
                  <a:gd name="T48" fmla="*/ 8 w 179"/>
                  <a:gd name="T49" fmla="*/ 11 h 164"/>
                  <a:gd name="T50" fmla="*/ 11 w 179"/>
                  <a:gd name="T51" fmla="*/ 7 h 164"/>
                  <a:gd name="T52" fmla="*/ 37 w 179"/>
                  <a:gd name="T53" fmla="*/ 7 h 164"/>
                  <a:gd name="T54" fmla="*/ 45 w 179"/>
                  <a:gd name="T55" fmla="*/ 20 h 164"/>
                  <a:gd name="T56" fmla="*/ 48 w 179"/>
                  <a:gd name="T57" fmla="*/ 22 h 164"/>
                  <a:gd name="T58" fmla="*/ 169 w 179"/>
                  <a:gd name="T59" fmla="*/ 22 h 164"/>
                  <a:gd name="T60" fmla="*/ 172 w 179"/>
                  <a:gd name="T61" fmla="*/ 26 h 164"/>
                  <a:gd name="T62" fmla="*/ 172 w 179"/>
                  <a:gd name="T63" fmla="*/ 45 h 164"/>
                  <a:gd name="T64" fmla="*/ 8 w 179"/>
                  <a:gd name="T65" fmla="*/ 45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179" h="164">
                    <a:moveTo>
                      <a:pt x="169" y="15"/>
                    </a:moveTo>
                    <a:cubicBezTo>
                      <a:pt x="51" y="15"/>
                      <a:pt x="51" y="15"/>
                      <a:pt x="51" y="15"/>
                    </a:cubicBezTo>
                    <a:cubicBezTo>
                      <a:pt x="43" y="0"/>
                      <a:pt x="39" y="0"/>
                      <a:pt x="38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5" y="0"/>
                      <a:pt x="0" y="5"/>
                      <a:pt x="0" y="11"/>
                    </a:cubicBezTo>
                    <a:cubicBezTo>
                      <a:pt x="0" y="153"/>
                      <a:pt x="0" y="153"/>
                      <a:pt x="0" y="153"/>
                    </a:cubicBezTo>
                    <a:cubicBezTo>
                      <a:pt x="0" y="159"/>
                      <a:pt x="5" y="164"/>
                      <a:pt x="11" y="164"/>
                    </a:cubicBezTo>
                    <a:cubicBezTo>
                      <a:pt x="37" y="164"/>
                      <a:pt x="37" y="164"/>
                      <a:pt x="37" y="164"/>
                    </a:cubicBezTo>
                    <a:cubicBezTo>
                      <a:pt x="39" y="164"/>
                      <a:pt x="41" y="162"/>
                      <a:pt x="41" y="160"/>
                    </a:cubicBezTo>
                    <a:cubicBezTo>
                      <a:pt x="41" y="158"/>
                      <a:pt x="39" y="157"/>
                      <a:pt x="37" y="157"/>
                    </a:cubicBezTo>
                    <a:cubicBezTo>
                      <a:pt x="11" y="157"/>
                      <a:pt x="11" y="157"/>
                      <a:pt x="11" y="157"/>
                    </a:cubicBezTo>
                    <a:cubicBezTo>
                      <a:pt x="9" y="157"/>
                      <a:pt x="8" y="155"/>
                      <a:pt x="8" y="153"/>
                    </a:cubicBezTo>
                    <a:cubicBezTo>
                      <a:pt x="8" y="52"/>
                      <a:pt x="8" y="52"/>
                      <a:pt x="8" y="52"/>
                    </a:cubicBezTo>
                    <a:cubicBezTo>
                      <a:pt x="172" y="52"/>
                      <a:pt x="172" y="52"/>
                      <a:pt x="172" y="52"/>
                    </a:cubicBezTo>
                    <a:cubicBezTo>
                      <a:pt x="172" y="153"/>
                      <a:pt x="172" y="153"/>
                      <a:pt x="172" y="153"/>
                    </a:cubicBezTo>
                    <a:cubicBezTo>
                      <a:pt x="172" y="155"/>
                      <a:pt x="170" y="157"/>
                      <a:pt x="169" y="157"/>
                    </a:cubicBezTo>
                    <a:cubicBezTo>
                      <a:pt x="142" y="157"/>
                      <a:pt x="142" y="157"/>
                      <a:pt x="142" y="157"/>
                    </a:cubicBezTo>
                    <a:cubicBezTo>
                      <a:pt x="140" y="157"/>
                      <a:pt x="138" y="158"/>
                      <a:pt x="138" y="160"/>
                    </a:cubicBezTo>
                    <a:cubicBezTo>
                      <a:pt x="138" y="162"/>
                      <a:pt x="140" y="164"/>
                      <a:pt x="142" y="164"/>
                    </a:cubicBezTo>
                    <a:cubicBezTo>
                      <a:pt x="169" y="164"/>
                      <a:pt x="169" y="164"/>
                      <a:pt x="169" y="164"/>
                    </a:cubicBezTo>
                    <a:cubicBezTo>
                      <a:pt x="175" y="164"/>
                      <a:pt x="179" y="159"/>
                      <a:pt x="179" y="153"/>
                    </a:cubicBezTo>
                    <a:cubicBezTo>
                      <a:pt x="179" y="26"/>
                      <a:pt x="179" y="26"/>
                      <a:pt x="179" y="26"/>
                    </a:cubicBezTo>
                    <a:cubicBezTo>
                      <a:pt x="179" y="20"/>
                      <a:pt x="175" y="15"/>
                      <a:pt x="169" y="15"/>
                    </a:cubicBezTo>
                    <a:close/>
                    <a:moveTo>
                      <a:pt x="8" y="45"/>
                    </a:moveTo>
                    <a:cubicBezTo>
                      <a:pt x="8" y="11"/>
                      <a:pt x="8" y="11"/>
                      <a:pt x="8" y="11"/>
                    </a:cubicBezTo>
                    <a:cubicBezTo>
                      <a:pt x="8" y="9"/>
                      <a:pt x="9" y="7"/>
                      <a:pt x="11" y="7"/>
                    </a:cubicBezTo>
                    <a:cubicBezTo>
                      <a:pt x="37" y="7"/>
                      <a:pt x="37" y="7"/>
                      <a:pt x="37" y="7"/>
                    </a:cubicBezTo>
                    <a:cubicBezTo>
                      <a:pt x="39" y="8"/>
                      <a:pt x="42" y="14"/>
                      <a:pt x="45" y="20"/>
                    </a:cubicBezTo>
                    <a:cubicBezTo>
                      <a:pt x="45" y="22"/>
                      <a:pt x="47" y="22"/>
                      <a:pt x="48" y="22"/>
                    </a:cubicBezTo>
                    <a:cubicBezTo>
                      <a:pt x="169" y="22"/>
                      <a:pt x="169" y="22"/>
                      <a:pt x="169" y="22"/>
                    </a:cubicBezTo>
                    <a:cubicBezTo>
                      <a:pt x="170" y="22"/>
                      <a:pt x="172" y="24"/>
                      <a:pt x="172" y="26"/>
                    </a:cubicBezTo>
                    <a:cubicBezTo>
                      <a:pt x="172" y="45"/>
                      <a:pt x="172" y="45"/>
                      <a:pt x="172" y="45"/>
                    </a:cubicBezTo>
                    <a:lnTo>
                      <a:pt x="8" y="4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52" name="Freeform 15"/>
              <p:cNvSpPr>
                <a:spLocks noEditPoints="1"/>
              </p:cNvSpPr>
              <p:nvPr/>
            </p:nvSpPr>
            <p:spPr bwMode="auto">
              <a:xfrm>
                <a:off x="11420476" y="13033375"/>
                <a:ext cx="134938" cy="134938"/>
              </a:xfrm>
              <a:custGeom>
                <a:avLst/>
                <a:gdLst>
                  <a:gd name="T0" fmla="*/ 25 w 36"/>
                  <a:gd name="T1" fmla="*/ 3 h 36"/>
                  <a:gd name="T2" fmla="*/ 3 w 36"/>
                  <a:gd name="T3" fmla="*/ 13 h 36"/>
                  <a:gd name="T4" fmla="*/ 12 w 36"/>
                  <a:gd name="T5" fmla="*/ 35 h 36"/>
                  <a:gd name="T6" fmla="*/ 19 w 36"/>
                  <a:gd name="T7" fmla="*/ 36 h 36"/>
                  <a:gd name="T8" fmla="*/ 34 w 36"/>
                  <a:gd name="T9" fmla="*/ 25 h 36"/>
                  <a:gd name="T10" fmla="*/ 34 w 36"/>
                  <a:gd name="T11" fmla="*/ 13 h 36"/>
                  <a:gd name="T12" fmla="*/ 25 w 36"/>
                  <a:gd name="T13" fmla="*/ 3 h 36"/>
                  <a:gd name="T14" fmla="*/ 28 w 36"/>
                  <a:gd name="T15" fmla="*/ 23 h 36"/>
                  <a:gd name="T16" fmla="*/ 15 w 36"/>
                  <a:gd name="T17" fmla="*/ 28 h 36"/>
                  <a:gd name="T18" fmla="*/ 10 w 36"/>
                  <a:gd name="T19" fmla="*/ 23 h 36"/>
                  <a:gd name="T20" fmla="*/ 10 w 36"/>
                  <a:gd name="T21" fmla="*/ 16 h 36"/>
                  <a:gd name="T22" fmla="*/ 19 w 36"/>
                  <a:gd name="T23" fmla="*/ 10 h 36"/>
                  <a:gd name="T24" fmla="*/ 22 w 36"/>
                  <a:gd name="T25" fmla="*/ 10 h 36"/>
                  <a:gd name="T26" fmla="*/ 28 w 36"/>
                  <a:gd name="T27" fmla="*/ 15 h 36"/>
                  <a:gd name="T28" fmla="*/ 28 w 36"/>
                  <a:gd name="T29" fmla="*/ 2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6" h="36">
                    <a:moveTo>
                      <a:pt x="25" y="3"/>
                    </a:moveTo>
                    <a:cubicBezTo>
                      <a:pt x="17" y="0"/>
                      <a:pt x="7" y="4"/>
                      <a:pt x="3" y="13"/>
                    </a:cubicBezTo>
                    <a:cubicBezTo>
                      <a:pt x="0" y="21"/>
                      <a:pt x="4" y="31"/>
                      <a:pt x="12" y="35"/>
                    </a:cubicBezTo>
                    <a:cubicBezTo>
                      <a:pt x="15" y="36"/>
                      <a:pt x="17" y="36"/>
                      <a:pt x="19" y="36"/>
                    </a:cubicBezTo>
                    <a:cubicBezTo>
                      <a:pt x="26" y="36"/>
                      <a:pt x="32" y="32"/>
                      <a:pt x="34" y="25"/>
                    </a:cubicBezTo>
                    <a:cubicBezTo>
                      <a:pt x="36" y="21"/>
                      <a:pt x="36" y="17"/>
                      <a:pt x="34" y="13"/>
                    </a:cubicBezTo>
                    <a:cubicBezTo>
                      <a:pt x="33" y="8"/>
                      <a:pt x="29" y="5"/>
                      <a:pt x="25" y="3"/>
                    </a:cubicBezTo>
                    <a:close/>
                    <a:moveTo>
                      <a:pt x="28" y="23"/>
                    </a:moveTo>
                    <a:cubicBezTo>
                      <a:pt x="26" y="27"/>
                      <a:pt x="20" y="30"/>
                      <a:pt x="15" y="28"/>
                    </a:cubicBezTo>
                    <a:cubicBezTo>
                      <a:pt x="13" y="27"/>
                      <a:pt x="11" y="25"/>
                      <a:pt x="10" y="23"/>
                    </a:cubicBezTo>
                    <a:cubicBezTo>
                      <a:pt x="9" y="20"/>
                      <a:pt x="9" y="18"/>
                      <a:pt x="10" y="16"/>
                    </a:cubicBezTo>
                    <a:cubicBezTo>
                      <a:pt x="12" y="12"/>
                      <a:pt x="15" y="10"/>
                      <a:pt x="19" y="10"/>
                    </a:cubicBezTo>
                    <a:cubicBezTo>
                      <a:pt x="20" y="10"/>
                      <a:pt x="21" y="10"/>
                      <a:pt x="22" y="10"/>
                    </a:cubicBezTo>
                    <a:cubicBezTo>
                      <a:pt x="25" y="11"/>
                      <a:pt x="27" y="13"/>
                      <a:pt x="28" y="15"/>
                    </a:cubicBezTo>
                    <a:cubicBezTo>
                      <a:pt x="28" y="18"/>
                      <a:pt x="29" y="20"/>
                      <a:pt x="28" y="23"/>
                    </a:cubicBez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53" name="Freeform 16"/>
              <p:cNvSpPr>
                <a:spLocks noEditPoints="1"/>
              </p:cNvSpPr>
              <p:nvPr/>
            </p:nvSpPr>
            <p:spPr bwMode="auto">
              <a:xfrm>
                <a:off x="11314113" y="12931775"/>
                <a:ext cx="350838" cy="346075"/>
              </a:xfrm>
              <a:custGeom>
                <a:avLst/>
                <a:gdLst>
                  <a:gd name="T0" fmla="*/ 83 w 93"/>
                  <a:gd name="T1" fmla="*/ 49 h 92"/>
                  <a:gd name="T2" fmla="*/ 91 w 93"/>
                  <a:gd name="T3" fmla="*/ 38 h 92"/>
                  <a:gd name="T4" fmla="*/ 88 w 93"/>
                  <a:gd name="T5" fmla="*/ 22 h 92"/>
                  <a:gd name="T6" fmla="*/ 74 w 93"/>
                  <a:gd name="T7" fmla="*/ 23 h 92"/>
                  <a:gd name="T8" fmla="*/ 73 w 93"/>
                  <a:gd name="T9" fmla="*/ 9 h 92"/>
                  <a:gd name="T10" fmla="*/ 59 w 93"/>
                  <a:gd name="T11" fmla="*/ 0 h 92"/>
                  <a:gd name="T12" fmla="*/ 50 w 93"/>
                  <a:gd name="T13" fmla="*/ 10 h 92"/>
                  <a:gd name="T14" fmla="*/ 39 w 93"/>
                  <a:gd name="T15" fmla="*/ 2 h 92"/>
                  <a:gd name="T16" fmla="*/ 23 w 93"/>
                  <a:gd name="T17" fmla="*/ 5 h 92"/>
                  <a:gd name="T18" fmla="*/ 23 w 93"/>
                  <a:gd name="T19" fmla="*/ 19 h 92"/>
                  <a:gd name="T20" fmla="*/ 10 w 93"/>
                  <a:gd name="T21" fmla="*/ 20 h 92"/>
                  <a:gd name="T22" fmla="*/ 1 w 93"/>
                  <a:gd name="T23" fmla="*/ 34 h 92"/>
                  <a:gd name="T24" fmla="*/ 11 w 93"/>
                  <a:gd name="T25" fmla="*/ 43 h 92"/>
                  <a:gd name="T26" fmla="*/ 3 w 93"/>
                  <a:gd name="T27" fmla="*/ 54 h 92"/>
                  <a:gd name="T28" fmla="*/ 6 w 93"/>
                  <a:gd name="T29" fmla="*/ 70 h 92"/>
                  <a:gd name="T30" fmla="*/ 19 w 93"/>
                  <a:gd name="T31" fmla="*/ 70 h 92"/>
                  <a:gd name="T32" fmla="*/ 21 w 93"/>
                  <a:gd name="T33" fmla="*/ 83 h 92"/>
                  <a:gd name="T34" fmla="*/ 35 w 93"/>
                  <a:gd name="T35" fmla="*/ 92 h 92"/>
                  <a:gd name="T36" fmla="*/ 39 w 93"/>
                  <a:gd name="T37" fmla="*/ 90 h 92"/>
                  <a:gd name="T38" fmla="*/ 50 w 93"/>
                  <a:gd name="T39" fmla="*/ 82 h 92"/>
                  <a:gd name="T40" fmla="*/ 59 w 93"/>
                  <a:gd name="T41" fmla="*/ 92 h 92"/>
                  <a:gd name="T42" fmla="*/ 73 w 93"/>
                  <a:gd name="T43" fmla="*/ 83 h 92"/>
                  <a:gd name="T44" fmla="*/ 75 w 93"/>
                  <a:gd name="T45" fmla="*/ 69 h 92"/>
                  <a:gd name="T46" fmla="*/ 88 w 93"/>
                  <a:gd name="T47" fmla="*/ 70 h 92"/>
                  <a:gd name="T48" fmla="*/ 91 w 93"/>
                  <a:gd name="T49" fmla="*/ 54 h 92"/>
                  <a:gd name="T50" fmla="*/ 74 w 93"/>
                  <a:gd name="T51" fmla="*/ 61 h 92"/>
                  <a:gd name="T52" fmla="*/ 64 w 93"/>
                  <a:gd name="T53" fmla="*/ 69 h 92"/>
                  <a:gd name="T54" fmla="*/ 65 w 93"/>
                  <a:gd name="T55" fmla="*/ 82 h 92"/>
                  <a:gd name="T56" fmla="*/ 55 w 93"/>
                  <a:gd name="T57" fmla="*/ 76 h 92"/>
                  <a:gd name="T58" fmla="*/ 43 w 93"/>
                  <a:gd name="T59" fmla="*/ 74 h 92"/>
                  <a:gd name="T60" fmla="*/ 34 w 93"/>
                  <a:gd name="T61" fmla="*/ 84 h 92"/>
                  <a:gd name="T62" fmla="*/ 32 w 93"/>
                  <a:gd name="T63" fmla="*/ 73 h 92"/>
                  <a:gd name="T64" fmla="*/ 24 w 93"/>
                  <a:gd name="T65" fmla="*/ 63 h 92"/>
                  <a:gd name="T66" fmla="*/ 11 w 93"/>
                  <a:gd name="T67" fmla="*/ 64 h 92"/>
                  <a:gd name="T68" fmla="*/ 17 w 93"/>
                  <a:gd name="T69" fmla="*/ 54 h 92"/>
                  <a:gd name="T70" fmla="*/ 19 w 93"/>
                  <a:gd name="T71" fmla="*/ 42 h 92"/>
                  <a:gd name="T72" fmla="*/ 9 w 93"/>
                  <a:gd name="T73" fmla="*/ 33 h 92"/>
                  <a:gd name="T74" fmla="*/ 20 w 93"/>
                  <a:gd name="T75" fmla="*/ 31 h 92"/>
                  <a:gd name="T76" fmla="*/ 30 w 93"/>
                  <a:gd name="T77" fmla="*/ 23 h 92"/>
                  <a:gd name="T78" fmla="*/ 29 w 93"/>
                  <a:gd name="T79" fmla="*/ 10 h 92"/>
                  <a:gd name="T80" fmla="*/ 38 w 93"/>
                  <a:gd name="T81" fmla="*/ 16 h 92"/>
                  <a:gd name="T82" fmla="*/ 51 w 93"/>
                  <a:gd name="T83" fmla="*/ 18 h 92"/>
                  <a:gd name="T84" fmla="*/ 59 w 93"/>
                  <a:gd name="T85" fmla="*/ 8 h 92"/>
                  <a:gd name="T86" fmla="*/ 62 w 93"/>
                  <a:gd name="T87" fmla="*/ 19 h 92"/>
                  <a:gd name="T88" fmla="*/ 70 w 93"/>
                  <a:gd name="T89" fmla="*/ 29 h 92"/>
                  <a:gd name="T90" fmla="*/ 83 w 93"/>
                  <a:gd name="T91" fmla="*/ 28 h 92"/>
                  <a:gd name="T92" fmla="*/ 77 w 93"/>
                  <a:gd name="T93" fmla="*/ 38 h 92"/>
                  <a:gd name="T94" fmla="*/ 75 w 93"/>
                  <a:gd name="T95" fmla="*/ 50 h 92"/>
                  <a:gd name="T96" fmla="*/ 85 w 93"/>
                  <a:gd name="T97" fmla="*/ 5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93" h="92">
                    <a:moveTo>
                      <a:pt x="91" y="54"/>
                    </a:moveTo>
                    <a:cubicBezTo>
                      <a:pt x="83" y="49"/>
                      <a:pt x="83" y="49"/>
                      <a:pt x="83" y="49"/>
                    </a:cubicBezTo>
                    <a:cubicBezTo>
                      <a:pt x="83" y="47"/>
                      <a:pt x="83" y="45"/>
                      <a:pt x="83" y="43"/>
                    </a:cubicBezTo>
                    <a:cubicBezTo>
                      <a:pt x="91" y="38"/>
                      <a:pt x="91" y="38"/>
                      <a:pt x="91" y="38"/>
                    </a:cubicBezTo>
                    <a:cubicBezTo>
                      <a:pt x="93" y="37"/>
                      <a:pt x="93" y="36"/>
                      <a:pt x="93" y="34"/>
                    </a:cubicBezTo>
                    <a:cubicBezTo>
                      <a:pt x="92" y="30"/>
                      <a:pt x="90" y="26"/>
                      <a:pt x="88" y="22"/>
                    </a:cubicBezTo>
                    <a:cubicBezTo>
                      <a:pt x="87" y="20"/>
                      <a:pt x="85" y="20"/>
                      <a:pt x="84" y="20"/>
                    </a:cubicBezTo>
                    <a:cubicBezTo>
                      <a:pt x="74" y="23"/>
                      <a:pt x="74" y="23"/>
                      <a:pt x="74" y="23"/>
                    </a:cubicBezTo>
                    <a:cubicBezTo>
                      <a:pt x="73" y="21"/>
                      <a:pt x="72" y="20"/>
                      <a:pt x="70" y="18"/>
                    </a:cubicBezTo>
                    <a:cubicBezTo>
                      <a:pt x="73" y="9"/>
                      <a:pt x="73" y="9"/>
                      <a:pt x="73" y="9"/>
                    </a:cubicBezTo>
                    <a:cubicBezTo>
                      <a:pt x="73" y="8"/>
                      <a:pt x="72" y="6"/>
                      <a:pt x="71" y="5"/>
                    </a:cubicBezTo>
                    <a:cubicBezTo>
                      <a:pt x="67" y="3"/>
                      <a:pt x="63" y="1"/>
                      <a:pt x="59" y="0"/>
                    </a:cubicBezTo>
                    <a:cubicBezTo>
                      <a:pt x="57" y="0"/>
                      <a:pt x="55" y="0"/>
                      <a:pt x="54" y="2"/>
                    </a:cubicBezTo>
                    <a:cubicBezTo>
                      <a:pt x="50" y="10"/>
                      <a:pt x="50" y="10"/>
                      <a:pt x="50" y="10"/>
                    </a:cubicBezTo>
                    <a:cubicBezTo>
                      <a:pt x="48" y="10"/>
                      <a:pt x="46" y="10"/>
                      <a:pt x="44" y="10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8" y="0"/>
                      <a:pt x="36" y="0"/>
                      <a:pt x="35" y="0"/>
                    </a:cubicBezTo>
                    <a:cubicBezTo>
                      <a:pt x="31" y="1"/>
                      <a:pt x="26" y="3"/>
                      <a:pt x="23" y="5"/>
                    </a:cubicBezTo>
                    <a:cubicBezTo>
                      <a:pt x="21" y="6"/>
                      <a:pt x="20" y="8"/>
                      <a:pt x="21" y="9"/>
                    </a:cubicBezTo>
                    <a:cubicBezTo>
                      <a:pt x="23" y="19"/>
                      <a:pt x="23" y="19"/>
                      <a:pt x="23" y="19"/>
                    </a:cubicBezTo>
                    <a:cubicBezTo>
                      <a:pt x="22" y="20"/>
                      <a:pt x="20" y="21"/>
                      <a:pt x="19" y="23"/>
                    </a:cubicBezTo>
                    <a:cubicBezTo>
                      <a:pt x="10" y="20"/>
                      <a:pt x="10" y="20"/>
                      <a:pt x="10" y="20"/>
                    </a:cubicBezTo>
                    <a:cubicBezTo>
                      <a:pt x="8" y="20"/>
                      <a:pt x="7" y="21"/>
                      <a:pt x="6" y="22"/>
                    </a:cubicBezTo>
                    <a:cubicBezTo>
                      <a:pt x="4" y="26"/>
                      <a:pt x="2" y="30"/>
                      <a:pt x="1" y="34"/>
                    </a:cubicBezTo>
                    <a:cubicBezTo>
                      <a:pt x="0" y="36"/>
                      <a:pt x="1" y="38"/>
                      <a:pt x="3" y="38"/>
                    </a:cubicBezTo>
                    <a:cubicBezTo>
                      <a:pt x="11" y="43"/>
                      <a:pt x="11" y="43"/>
                      <a:pt x="11" y="43"/>
                    </a:cubicBezTo>
                    <a:cubicBezTo>
                      <a:pt x="11" y="45"/>
                      <a:pt x="11" y="47"/>
                      <a:pt x="11" y="49"/>
                    </a:cubicBezTo>
                    <a:cubicBezTo>
                      <a:pt x="3" y="54"/>
                      <a:pt x="3" y="54"/>
                      <a:pt x="3" y="54"/>
                    </a:cubicBezTo>
                    <a:cubicBezTo>
                      <a:pt x="1" y="55"/>
                      <a:pt x="1" y="57"/>
                      <a:pt x="1" y="58"/>
                    </a:cubicBezTo>
                    <a:cubicBezTo>
                      <a:pt x="2" y="62"/>
                      <a:pt x="4" y="67"/>
                      <a:pt x="6" y="70"/>
                    </a:cubicBezTo>
                    <a:cubicBezTo>
                      <a:pt x="7" y="72"/>
                      <a:pt x="9" y="72"/>
                      <a:pt x="10" y="72"/>
                    </a:cubicBezTo>
                    <a:cubicBezTo>
                      <a:pt x="19" y="70"/>
                      <a:pt x="19" y="70"/>
                      <a:pt x="19" y="70"/>
                    </a:cubicBezTo>
                    <a:cubicBezTo>
                      <a:pt x="21" y="71"/>
                      <a:pt x="22" y="72"/>
                      <a:pt x="24" y="74"/>
                    </a:cubicBezTo>
                    <a:cubicBezTo>
                      <a:pt x="21" y="83"/>
                      <a:pt x="21" y="83"/>
                      <a:pt x="21" y="83"/>
                    </a:cubicBezTo>
                    <a:cubicBezTo>
                      <a:pt x="21" y="85"/>
                      <a:pt x="22" y="86"/>
                      <a:pt x="23" y="87"/>
                    </a:cubicBezTo>
                    <a:cubicBezTo>
                      <a:pt x="27" y="89"/>
                      <a:pt x="31" y="91"/>
                      <a:pt x="35" y="92"/>
                    </a:cubicBezTo>
                    <a:cubicBezTo>
                      <a:pt x="35" y="92"/>
                      <a:pt x="36" y="92"/>
                      <a:pt x="36" y="92"/>
                    </a:cubicBezTo>
                    <a:cubicBezTo>
                      <a:pt x="37" y="92"/>
                      <a:pt x="39" y="92"/>
                      <a:pt x="39" y="90"/>
                    </a:cubicBezTo>
                    <a:cubicBezTo>
                      <a:pt x="44" y="82"/>
                      <a:pt x="44" y="82"/>
                      <a:pt x="44" y="82"/>
                    </a:cubicBezTo>
                    <a:cubicBezTo>
                      <a:pt x="46" y="82"/>
                      <a:pt x="48" y="82"/>
                      <a:pt x="50" y="82"/>
                    </a:cubicBezTo>
                    <a:cubicBezTo>
                      <a:pt x="55" y="90"/>
                      <a:pt x="55" y="90"/>
                      <a:pt x="55" y="90"/>
                    </a:cubicBezTo>
                    <a:cubicBezTo>
                      <a:pt x="56" y="92"/>
                      <a:pt x="57" y="92"/>
                      <a:pt x="59" y="92"/>
                    </a:cubicBezTo>
                    <a:cubicBezTo>
                      <a:pt x="63" y="91"/>
                      <a:pt x="67" y="89"/>
                      <a:pt x="71" y="87"/>
                    </a:cubicBezTo>
                    <a:cubicBezTo>
                      <a:pt x="73" y="86"/>
                      <a:pt x="73" y="84"/>
                      <a:pt x="73" y="83"/>
                    </a:cubicBezTo>
                    <a:cubicBezTo>
                      <a:pt x="70" y="74"/>
                      <a:pt x="70" y="74"/>
                      <a:pt x="70" y="74"/>
                    </a:cubicBezTo>
                    <a:cubicBezTo>
                      <a:pt x="72" y="72"/>
                      <a:pt x="73" y="71"/>
                      <a:pt x="75" y="69"/>
                    </a:cubicBezTo>
                    <a:cubicBezTo>
                      <a:pt x="84" y="72"/>
                      <a:pt x="84" y="72"/>
                      <a:pt x="84" y="72"/>
                    </a:cubicBezTo>
                    <a:cubicBezTo>
                      <a:pt x="85" y="72"/>
                      <a:pt x="87" y="71"/>
                      <a:pt x="88" y="70"/>
                    </a:cubicBezTo>
                    <a:cubicBezTo>
                      <a:pt x="90" y="66"/>
                      <a:pt x="92" y="62"/>
                      <a:pt x="93" y="58"/>
                    </a:cubicBezTo>
                    <a:cubicBezTo>
                      <a:pt x="93" y="56"/>
                      <a:pt x="93" y="54"/>
                      <a:pt x="91" y="54"/>
                    </a:cubicBezTo>
                    <a:close/>
                    <a:moveTo>
                      <a:pt x="83" y="64"/>
                    </a:moveTo>
                    <a:cubicBezTo>
                      <a:pt x="74" y="61"/>
                      <a:pt x="74" y="61"/>
                      <a:pt x="74" y="61"/>
                    </a:cubicBezTo>
                    <a:cubicBezTo>
                      <a:pt x="73" y="61"/>
                      <a:pt x="71" y="62"/>
                      <a:pt x="70" y="63"/>
                    </a:cubicBezTo>
                    <a:cubicBezTo>
                      <a:pt x="68" y="65"/>
                      <a:pt x="66" y="67"/>
                      <a:pt x="64" y="69"/>
                    </a:cubicBezTo>
                    <a:cubicBezTo>
                      <a:pt x="63" y="70"/>
                      <a:pt x="62" y="72"/>
                      <a:pt x="62" y="73"/>
                    </a:cubicBezTo>
                    <a:cubicBezTo>
                      <a:pt x="65" y="82"/>
                      <a:pt x="65" y="82"/>
                      <a:pt x="65" y="82"/>
                    </a:cubicBezTo>
                    <a:cubicBezTo>
                      <a:pt x="63" y="83"/>
                      <a:pt x="62" y="83"/>
                      <a:pt x="60" y="84"/>
                    </a:cubicBezTo>
                    <a:cubicBezTo>
                      <a:pt x="55" y="76"/>
                      <a:pt x="55" y="76"/>
                      <a:pt x="55" y="76"/>
                    </a:cubicBezTo>
                    <a:cubicBezTo>
                      <a:pt x="54" y="75"/>
                      <a:pt x="53" y="74"/>
                      <a:pt x="51" y="74"/>
                    </a:cubicBezTo>
                    <a:cubicBezTo>
                      <a:pt x="49" y="75"/>
                      <a:pt x="46" y="75"/>
                      <a:pt x="43" y="74"/>
                    </a:cubicBezTo>
                    <a:cubicBezTo>
                      <a:pt x="41" y="74"/>
                      <a:pt x="40" y="75"/>
                      <a:pt x="39" y="76"/>
                    </a:cubicBezTo>
                    <a:cubicBezTo>
                      <a:pt x="34" y="84"/>
                      <a:pt x="34" y="84"/>
                      <a:pt x="34" y="84"/>
                    </a:cubicBezTo>
                    <a:cubicBezTo>
                      <a:pt x="33" y="83"/>
                      <a:pt x="31" y="83"/>
                      <a:pt x="29" y="82"/>
                    </a:cubicBezTo>
                    <a:cubicBezTo>
                      <a:pt x="32" y="73"/>
                      <a:pt x="32" y="73"/>
                      <a:pt x="32" y="73"/>
                    </a:cubicBezTo>
                    <a:cubicBezTo>
                      <a:pt x="32" y="72"/>
                      <a:pt x="31" y="70"/>
                      <a:pt x="30" y="69"/>
                    </a:cubicBezTo>
                    <a:cubicBezTo>
                      <a:pt x="28" y="68"/>
                      <a:pt x="26" y="65"/>
                      <a:pt x="24" y="63"/>
                    </a:cubicBezTo>
                    <a:cubicBezTo>
                      <a:pt x="23" y="62"/>
                      <a:pt x="21" y="61"/>
                      <a:pt x="20" y="62"/>
                    </a:cubicBezTo>
                    <a:cubicBezTo>
                      <a:pt x="11" y="64"/>
                      <a:pt x="11" y="64"/>
                      <a:pt x="11" y="64"/>
                    </a:cubicBezTo>
                    <a:cubicBezTo>
                      <a:pt x="10" y="62"/>
                      <a:pt x="10" y="61"/>
                      <a:pt x="9" y="59"/>
                    </a:cubicBezTo>
                    <a:cubicBezTo>
                      <a:pt x="17" y="54"/>
                      <a:pt x="17" y="54"/>
                      <a:pt x="17" y="54"/>
                    </a:cubicBezTo>
                    <a:cubicBezTo>
                      <a:pt x="18" y="54"/>
                      <a:pt x="19" y="52"/>
                      <a:pt x="19" y="51"/>
                    </a:cubicBezTo>
                    <a:cubicBezTo>
                      <a:pt x="18" y="48"/>
                      <a:pt x="18" y="45"/>
                      <a:pt x="19" y="42"/>
                    </a:cubicBezTo>
                    <a:cubicBezTo>
                      <a:pt x="19" y="40"/>
                      <a:pt x="18" y="39"/>
                      <a:pt x="17" y="38"/>
                    </a:cubicBezTo>
                    <a:cubicBezTo>
                      <a:pt x="9" y="33"/>
                      <a:pt x="9" y="33"/>
                      <a:pt x="9" y="33"/>
                    </a:cubicBezTo>
                    <a:cubicBezTo>
                      <a:pt x="9" y="32"/>
                      <a:pt x="10" y="30"/>
                      <a:pt x="11" y="28"/>
                    </a:cubicBezTo>
                    <a:cubicBezTo>
                      <a:pt x="20" y="31"/>
                      <a:pt x="20" y="31"/>
                      <a:pt x="20" y="31"/>
                    </a:cubicBezTo>
                    <a:cubicBezTo>
                      <a:pt x="21" y="31"/>
                      <a:pt x="23" y="31"/>
                      <a:pt x="24" y="29"/>
                    </a:cubicBezTo>
                    <a:cubicBezTo>
                      <a:pt x="25" y="27"/>
                      <a:pt x="28" y="25"/>
                      <a:pt x="30" y="23"/>
                    </a:cubicBezTo>
                    <a:cubicBezTo>
                      <a:pt x="31" y="22"/>
                      <a:pt x="32" y="20"/>
                      <a:pt x="31" y="19"/>
                    </a:cubicBezTo>
                    <a:cubicBezTo>
                      <a:pt x="29" y="10"/>
                      <a:pt x="29" y="10"/>
                      <a:pt x="29" y="10"/>
                    </a:cubicBezTo>
                    <a:cubicBezTo>
                      <a:pt x="31" y="9"/>
                      <a:pt x="32" y="9"/>
                      <a:pt x="34" y="8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9" y="17"/>
                      <a:pt x="41" y="18"/>
                      <a:pt x="42" y="18"/>
                    </a:cubicBezTo>
                    <a:cubicBezTo>
                      <a:pt x="45" y="17"/>
                      <a:pt x="48" y="17"/>
                      <a:pt x="51" y="18"/>
                    </a:cubicBezTo>
                    <a:cubicBezTo>
                      <a:pt x="53" y="18"/>
                      <a:pt x="54" y="17"/>
                      <a:pt x="55" y="16"/>
                    </a:cubicBezTo>
                    <a:cubicBezTo>
                      <a:pt x="59" y="8"/>
                      <a:pt x="59" y="8"/>
                      <a:pt x="59" y="8"/>
                    </a:cubicBezTo>
                    <a:cubicBezTo>
                      <a:pt x="61" y="9"/>
                      <a:pt x="63" y="9"/>
                      <a:pt x="65" y="10"/>
                    </a:cubicBezTo>
                    <a:cubicBezTo>
                      <a:pt x="62" y="19"/>
                      <a:pt x="62" y="19"/>
                      <a:pt x="62" y="19"/>
                    </a:cubicBezTo>
                    <a:cubicBezTo>
                      <a:pt x="62" y="20"/>
                      <a:pt x="62" y="22"/>
                      <a:pt x="64" y="23"/>
                    </a:cubicBezTo>
                    <a:cubicBezTo>
                      <a:pt x="66" y="25"/>
                      <a:pt x="68" y="27"/>
                      <a:pt x="70" y="29"/>
                    </a:cubicBezTo>
                    <a:cubicBezTo>
                      <a:pt x="71" y="30"/>
                      <a:pt x="72" y="31"/>
                      <a:pt x="74" y="31"/>
                    </a:cubicBezTo>
                    <a:cubicBezTo>
                      <a:pt x="83" y="28"/>
                      <a:pt x="83" y="28"/>
                      <a:pt x="83" y="28"/>
                    </a:cubicBezTo>
                    <a:cubicBezTo>
                      <a:pt x="83" y="30"/>
                      <a:pt x="84" y="31"/>
                      <a:pt x="85" y="33"/>
                    </a:cubicBezTo>
                    <a:cubicBezTo>
                      <a:pt x="77" y="38"/>
                      <a:pt x="77" y="38"/>
                      <a:pt x="77" y="38"/>
                    </a:cubicBezTo>
                    <a:cubicBezTo>
                      <a:pt x="76" y="38"/>
                      <a:pt x="75" y="40"/>
                      <a:pt x="75" y="42"/>
                    </a:cubicBezTo>
                    <a:cubicBezTo>
                      <a:pt x="76" y="44"/>
                      <a:pt x="76" y="47"/>
                      <a:pt x="75" y="50"/>
                    </a:cubicBezTo>
                    <a:cubicBezTo>
                      <a:pt x="75" y="52"/>
                      <a:pt x="76" y="53"/>
                      <a:pt x="77" y="54"/>
                    </a:cubicBezTo>
                    <a:cubicBezTo>
                      <a:pt x="85" y="59"/>
                      <a:pt x="85" y="59"/>
                      <a:pt x="85" y="59"/>
                    </a:cubicBezTo>
                    <a:cubicBezTo>
                      <a:pt x="84" y="60"/>
                      <a:pt x="84" y="62"/>
                      <a:pt x="83" y="64"/>
                    </a:cubicBez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</p:grpSp>
        <p:grpSp>
          <p:nvGrpSpPr>
            <p:cNvPr id="48" name="Group 47"/>
            <p:cNvGrpSpPr/>
            <p:nvPr/>
          </p:nvGrpSpPr>
          <p:grpSpPr>
            <a:xfrm>
              <a:off x="11563969" y="9740340"/>
              <a:ext cx="5463671" cy="2099136"/>
              <a:chOff x="4002924" y="3651126"/>
              <a:chExt cx="5463671" cy="2099136"/>
            </a:xfrm>
          </p:grpSpPr>
          <p:sp>
            <p:nvSpPr>
              <p:cNvPr id="49" name="TextBox 48"/>
              <p:cNvSpPr txBox="1"/>
              <p:nvPr/>
            </p:nvSpPr>
            <p:spPr>
              <a:xfrm>
                <a:off x="4002924" y="3651126"/>
                <a:ext cx="5463671" cy="751355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Decision Diagnostics (admins)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50" name="TextBox 49"/>
              <p:cNvSpPr txBox="1"/>
              <p:nvPr/>
            </p:nvSpPr>
            <p:spPr>
              <a:xfrm>
                <a:off x="4178538" y="4272941"/>
                <a:ext cx="4611185" cy="1477321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Shows routing evidence only to reviewers and developers.</a:t>
                </a:r>
              </a:p>
            </p:txBody>
          </p:sp>
        </p:grpSp>
      </p:grpSp>
      <p:grpSp>
        <p:nvGrpSpPr>
          <p:cNvPr id="90" name="Group 89"/>
          <p:cNvGrpSpPr/>
          <p:nvPr/>
        </p:nvGrpSpPr>
        <p:grpSpPr>
          <a:xfrm>
            <a:off x="619550" y="1939016"/>
            <a:ext cx="3646952" cy="1014815"/>
            <a:chOff x="1071658" y="1875282"/>
            <a:chExt cx="3646952" cy="1014815"/>
          </a:xfrm>
        </p:grpSpPr>
        <p:sp>
          <p:nvSpPr>
            <p:cNvPr id="55" name="Oval 54"/>
            <p:cNvSpPr/>
            <p:nvPr/>
          </p:nvSpPr>
          <p:spPr>
            <a:xfrm>
              <a:off x="1071658" y="1875282"/>
              <a:ext cx="957805" cy="957806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57" name="Group 56"/>
            <p:cNvGrpSpPr/>
            <p:nvPr/>
          </p:nvGrpSpPr>
          <p:grpSpPr>
            <a:xfrm>
              <a:off x="2014648" y="1935616"/>
              <a:ext cx="2703962" cy="954481"/>
              <a:chOff x="4029296" y="4062341"/>
              <a:chExt cx="5407923" cy="1908959"/>
            </a:xfrm>
          </p:grpSpPr>
          <p:sp>
            <p:nvSpPr>
              <p:cNvPr id="58" name="TextBox 57"/>
              <p:cNvSpPr txBox="1"/>
              <p:nvPr/>
            </p:nvSpPr>
            <p:spPr>
              <a:xfrm>
                <a:off x="4050492" y="4062341"/>
                <a:ext cx="5386727" cy="751355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Natural-language Navigation 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4029296" y="4924866"/>
                <a:ext cx="4751139" cy="1046434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Maps user requests to approved AMIDS pages.</a:t>
                </a:r>
              </a:p>
            </p:txBody>
          </p:sp>
        </p:grpSp>
      </p:grpSp>
      <p:grpSp>
        <p:nvGrpSpPr>
          <p:cNvPr id="60" name="Group 59"/>
          <p:cNvGrpSpPr/>
          <p:nvPr/>
        </p:nvGrpSpPr>
        <p:grpSpPr>
          <a:xfrm>
            <a:off x="619550" y="3456089"/>
            <a:ext cx="3468654" cy="979149"/>
            <a:chOff x="2143316" y="6784709"/>
            <a:chExt cx="6937307" cy="1958298"/>
          </a:xfrm>
        </p:grpSpPr>
        <p:sp>
          <p:nvSpPr>
            <p:cNvPr id="61" name="Oval 60"/>
            <p:cNvSpPr/>
            <p:nvPr/>
          </p:nvSpPr>
          <p:spPr>
            <a:xfrm>
              <a:off x="2143316" y="6827397"/>
              <a:ext cx="1915610" cy="1915610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63" name="Group 62"/>
            <p:cNvGrpSpPr/>
            <p:nvPr/>
          </p:nvGrpSpPr>
          <p:grpSpPr>
            <a:xfrm>
              <a:off x="4052702" y="6784709"/>
              <a:ext cx="5027921" cy="1913358"/>
              <a:chOff x="4052702" y="3841702"/>
              <a:chExt cx="5027921" cy="1913358"/>
            </a:xfrm>
          </p:grpSpPr>
          <p:sp>
            <p:nvSpPr>
              <p:cNvPr id="64" name="TextBox 63"/>
              <p:cNvSpPr txBox="1"/>
              <p:nvPr/>
            </p:nvSpPr>
            <p:spPr>
              <a:xfrm>
                <a:off x="4052702" y="3841702"/>
                <a:ext cx="4706669" cy="830992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Clarification on uncertainty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65" name="TextBox 64"/>
              <p:cNvSpPr txBox="1"/>
              <p:nvPr/>
            </p:nvSpPr>
            <p:spPr>
              <a:xfrm>
                <a:off x="4063388" y="4708624"/>
                <a:ext cx="5017235" cy="1046436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Asks the user to choose instead of guessing.</a:t>
                </a:r>
              </a:p>
            </p:txBody>
          </p:sp>
        </p:grpSp>
      </p:grpSp>
      <p:grpSp>
        <p:nvGrpSpPr>
          <p:cNvPr id="91" name="Group 90"/>
          <p:cNvGrpSpPr/>
          <p:nvPr/>
        </p:nvGrpSpPr>
        <p:grpSpPr>
          <a:xfrm>
            <a:off x="645002" y="4943679"/>
            <a:ext cx="3541680" cy="1000469"/>
            <a:chOff x="1097110" y="4879945"/>
            <a:chExt cx="3541680" cy="1000469"/>
          </a:xfrm>
        </p:grpSpPr>
        <p:sp>
          <p:nvSpPr>
            <p:cNvPr id="71" name="Oval 70"/>
            <p:cNvSpPr/>
            <p:nvPr/>
          </p:nvSpPr>
          <p:spPr>
            <a:xfrm>
              <a:off x="1097110" y="4922609"/>
              <a:ext cx="957805" cy="957805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  <a:prstDash val="sys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2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+mj-cs"/>
              </a:endParaRPr>
            </a:p>
          </p:txBody>
        </p:sp>
        <p:grpSp>
          <p:nvGrpSpPr>
            <p:cNvPr id="72" name="Group 71"/>
            <p:cNvGrpSpPr/>
            <p:nvPr/>
          </p:nvGrpSpPr>
          <p:grpSpPr>
            <a:xfrm>
              <a:off x="1303518" y="5129659"/>
              <a:ext cx="544991" cy="543706"/>
              <a:chOff x="11077576" y="11085513"/>
              <a:chExt cx="673100" cy="671513"/>
            </a:xfrm>
            <a:solidFill>
              <a:schemeClr val="bg1"/>
            </a:solidFill>
          </p:grpSpPr>
          <p:sp>
            <p:nvSpPr>
              <p:cNvPr id="76" name="Freeform 10"/>
              <p:cNvSpPr>
                <a:spLocks noEditPoints="1"/>
              </p:cNvSpPr>
              <p:nvPr/>
            </p:nvSpPr>
            <p:spPr bwMode="auto">
              <a:xfrm>
                <a:off x="11209338" y="11445875"/>
                <a:ext cx="184150" cy="180975"/>
              </a:xfrm>
              <a:custGeom>
                <a:avLst/>
                <a:gdLst>
                  <a:gd name="T0" fmla="*/ 24 w 49"/>
                  <a:gd name="T1" fmla="*/ 0 h 48"/>
                  <a:gd name="T2" fmla="*/ 0 w 49"/>
                  <a:gd name="T3" fmla="*/ 24 h 48"/>
                  <a:gd name="T4" fmla="*/ 24 w 49"/>
                  <a:gd name="T5" fmla="*/ 48 h 48"/>
                  <a:gd name="T6" fmla="*/ 49 w 49"/>
                  <a:gd name="T7" fmla="*/ 24 h 48"/>
                  <a:gd name="T8" fmla="*/ 24 w 49"/>
                  <a:gd name="T9" fmla="*/ 0 h 48"/>
                  <a:gd name="T10" fmla="*/ 24 w 49"/>
                  <a:gd name="T11" fmla="*/ 41 h 48"/>
                  <a:gd name="T12" fmla="*/ 8 w 49"/>
                  <a:gd name="T13" fmla="*/ 24 h 48"/>
                  <a:gd name="T14" fmla="*/ 24 w 49"/>
                  <a:gd name="T15" fmla="*/ 7 h 48"/>
                  <a:gd name="T16" fmla="*/ 41 w 49"/>
                  <a:gd name="T17" fmla="*/ 24 h 48"/>
                  <a:gd name="T18" fmla="*/ 24 w 49"/>
                  <a:gd name="T19" fmla="*/ 41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" h="48">
                    <a:moveTo>
                      <a:pt x="24" y="0"/>
                    </a:moveTo>
                    <a:cubicBezTo>
                      <a:pt x="11" y="0"/>
                      <a:pt x="0" y="11"/>
                      <a:pt x="0" y="24"/>
                    </a:cubicBezTo>
                    <a:cubicBezTo>
                      <a:pt x="0" y="37"/>
                      <a:pt x="11" y="48"/>
                      <a:pt x="24" y="48"/>
                    </a:cubicBezTo>
                    <a:cubicBezTo>
                      <a:pt x="38" y="48"/>
                      <a:pt x="49" y="37"/>
                      <a:pt x="49" y="24"/>
                    </a:cubicBezTo>
                    <a:cubicBezTo>
                      <a:pt x="49" y="11"/>
                      <a:pt x="38" y="0"/>
                      <a:pt x="24" y="0"/>
                    </a:cubicBezTo>
                    <a:close/>
                    <a:moveTo>
                      <a:pt x="24" y="41"/>
                    </a:moveTo>
                    <a:cubicBezTo>
                      <a:pt x="15" y="41"/>
                      <a:pt x="8" y="33"/>
                      <a:pt x="8" y="24"/>
                    </a:cubicBezTo>
                    <a:cubicBezTo>
                      <a:pt x="8" y="15"/>
                      <a:pt x="15" y="7"/>
                      <a:pt x="24" y="7"/>
                    </a:cubicBezTo>
                    <a:cubicBezTo>
                      <a:pt x="34" y="7"/>
                      <a:pt x="41" y="15"/>
                      <a:pt x="41" y="24"/>
                    </a:cubicBezTo>
                    <a:cubicBezTo>
                      <a:pt x="41" y="33"/>
                      <a:pt x="34" y="41"/>
                      <a:pt x="24" y="4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77" name="Freeform 11"/>
              <p:cNvSpPr>
                <a:spLocks noEditPoints="1"/>
              </p:cNvSpPr>
              <p:nvPr/>
            </p:nvSpPr>
            <p:spPr bwMode="auto">
              <a:xfrm>
                <a:off x="11077576" y="11314113"/>
                <a:ext cx="444500" cy="442913"/>
              </a:xfrm>
              <a:custGeom>
                <a:avLst/>
                <a:gdLst>
                  <a:gd name="T0" fmla="*/ 102 w 118"/>
                  <a:gd name="T1" fmla="*/ 46 h 118"/>
                  <a:gd name="T2" fmla="*/ 106 w 118"/>
                  <a:gd name="T3" fmla="*/ 28 h 118"/>
                  <a:gd name="T4" fmla="*/ 95 w 118"/>
                  <a:gd name="T5" fmla="*/ 12 h 118"/>
                  <a:gd name="T6" fmla="*/ 80 w 118"/>
                  <a:gd name="T7" fmla="*/ 20 h 118"/>
                  <a:gd name="T8" fmla="*/ 71 w 118"/>
                  <a:gd name="T9" fmla="*/ 4 h 118"/>
                  <a:gd name="T10" fmla="*/ 51 w 118"/>
                  <a:gd name="T11" fmla="*/ 1 h 118"/>
                  <a:gd name="T12" fmla="*/ 47 w 118"/>
                  <a:gd name="T13" fmla="*/ 16 h 118"/>
                  <a:gd name="T14" fmla="*/ 29 w 118"/>
                  <a:gd name="T15" fmla="*/ 12 h 118"/>
                  <a:gd name="T16" fmla="*/ 13 w 118"/>
                  <a:gd name="T17" fmla="*/ 24 h 118"/>
                  <a:gd name="T18" fmla="*/ 20 w 118"/>
                  <a:gd name="T19" fmla="*/ 38 h 118"/>
                  <a:gd name="T20" fmla="*/ 4 w 118"/>
                  <a:gd name="T21" fmla="*/ 48 h 118"/>
                  <a:gd name="T22" fmla="*/ 1 w 118"/>
                  <a:gd name="T23" fmla="*/ 67 h 118"/>
                  <a:gd name="T24" fmla="*/ 17 w 118"/>
                  <a:gd name="T25" fmla="*/ 72 h 118"/>
                  <a:gd name="T26" fmla="*/ 13 w 118"/>
                  <a:gd name="T27" fmla="*/ 90 h 118"/>
                  <a:gd name="T28" fmla="*/ 24 w 118"/>
                  <a:gd name="T29" fmla="*/ 106 h 118"/>
                  <a:gd name="T30" fmla="*/ 39 w 118"/>
                  <a:gd name="T31" fmla="*/ 98 h 118"/>
                  <a:gd name="T32" fmla="*/ 48 w 118"/>
                  <a:gd name="T33" fmla="*/ 114 h 118"/>
                  <a:gd name="T34" fmla="*/ 59 w 118"/>
                  <a:gd name="T35" fmla="*/ 118 h 118"/>
                  <a:gd name="T36" fmla="*/ 71 w 118"/>
                  <a:gd name="T37" fmla="*/ 114 h 118"/>
                  <a:gd name="T38" fmla="*/ 80 w 118"/>
                  <a:gd name="T39" fmla="*/ 98 h 118"/>
                  <a:gd name="T40" fmla="*/ 95 w 118"/>
                  <a:gd name="T41" fmla="*/ 106 h 118"/>
                  <a:gd name="T42" fmla="*/ 106 w 118"/>
                  <a:gd name="T43" fmla="*/ 90 h 118"/>
                  <a:gd name="T44" fmla="*/ 102 w 118"/>
                  <a:gd name="T45" fmla="*/ 72 h 118"/>
                  <a:gd name="T46" fmla="*/ 118 w 118"/>
                  <a:gd name="T47" fmla="*/ 67 h 118"/>
                  <a:gd name="T48" fmla="*/ 114 w 118"/>
                  <a:gd name="T49" fmla="*/ 48 h 118"/>
                  <a:gd name="T50" fmla="*/ 99 w 118"/>
                  <a:gd name="T51" fmla="*/ 65 h 118"/>
                  <a:gd name="T52" fmla="*/ 91 w 118"/>
                  <a:gd name="T53" fmla="*/ 78 h 118"/>
                  <a:gd name="T54" fmla="*/ 99 w 118"/>
                  <a:gd name="T55" fmla="*/ 92 h 118"/>
                  <a:gd name="T56" fmla="*/ 83 w 118"/>
                  <a:gd name="T57" fmla="*/ 91 h 118"/>
                  <a:gd name="T58" fmla="*/ 68 w 118"/>
                  <a:gd name="T59" fmla="*/ 95 h 118"/>
                  <a:gd name="T60" fmla="*/ 64 w 118"/>
                  <a:gd name="T61" fmla="*/ 110 h 118"/>
                  <a:gd name="T62" fmla="*/ 54 w 118"/>
                  <a:gd name="T63" fmla="*/ 98 h 118"/>
                  <a:gd name="T64" fmla="*/ 40 w 118"/>
                  <a:gd name="T65" fmla="*/ 91 h 118"/>
                  <a:gd name="T66" fmla="*/ 26 w 118"/>
                  <a:gd name="T67" fmla="*/ 98 h 118"/>
                  <a:gd name="T68" fmla="*/ 28 w 118"/>
                  <a:gd name="T69" fmla="*/ 83 h 118"/>
                  <a:gd name="T70" fmla="*/ 23 w 118"/>
                  <a:gd name="T71" fmla="*/ 68 h 118"/>
                  <a:gd name="T72" fmla="*/ 8 w 118"/>
                  <a:gd name="T73" fmla="*/ 63 h 118"/>
                  <a:gd name="T74" fmla="*/ 20 w 118"/>
                  <a:gd name="T75" fmla="*/ 53 h 118"/>
                  <a:gd name="T76" fmla="*/ 28 w 118"/>
                  <a:gd name="T77" fmla="*/ 40 h 118"/>
                  <a:gd name="T78" fmla="*/ 20 w 118"/>
                  <a:gd name="T79" fmla="*/ 26 h 118"/>
                  <a:gd name="T80" fmla="*/ 36 w 118"/>
                  <a:gd name="T81" fmla="*/ 27 h 118"/>
                  <a:gd name="T82" fmla="*/ 51 w 118"/>
                  <a:gd name="T83" fmla="*/ 23 h 118"/>
                  <a:gd name="T84" fmla="*/ 55 w 118"/>
                  <a:gd name="T85" fmla="*/ 8 h 118"/>
                  <a:gd name="T86" fmla="*/ 65 w 118"/>
                  <a:gd name="T87" fmla="*/ 20 h 118"/>
                  <a:gd name="T88" fmla="*/ 79 w 118"/>
                  <a:gd name="T89" fmla="*/ 27 h 118"/>
                  <a:gd name="T90" fmla="*/ 93 w 118"/>
                  <a:gd name="T91" fmla="*/ 20 h 118"/>
                  <a:gd name="T92" fmla="*/ 91 w 118"/>
                  <a:gd name="T93" fmla="*/ 35 h 118"/>
                  <a:gd name="T94" fmla="*/ 95 w 118"/>
                  <a:gd name="T95" fmla="*/ 50 h 118"/>
                  <a:gd name="T96" fmla="*/ 111 w 118"/>
                  <a:gd name="T97" fmla="*/ 55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118" h="118">
                    <a:moveTo>
                      <a:pt x="114" y="48"/>
                    </a:moveTo>
                    <a:cubicBezTo>
                      <a:pt x="102" y="46"/>
                      <a:pt x="102" y="46"/>
                      <a:pt x="102" y="46"/>
                    </a:cubicBezTo>
                    <a:cubicBezTo>
                      <a:pt x="101" y="43"/>
                      <a:pt x="100" y="41"/>
                      <a:pt x="99" y="38"/>
                    </a:cubicBezTo>
                    <a:cubicBezTo>
                      <a:pt x="106" y="28"/>
                      <a:pt x="106" y="28"/>
                      <a:pt x="106" y="28"/>
                    </a:cubicBezTo>
                    <a:cubicBezTo>
                      <a:pt x="107" y="27"/>
                      <a:pt x="107" y="25"/>
                      <a:pt x="106" y="24"/>
                    </a:cubicBezTo>
                    <a:cubicBezTo>
                      <a:pt x="103" y="19"/>
                      <a:pt x="99" y="15"/>
                      <a:pt x="95" y="12"/>
                    </a:cubicBezTo>
                    <a:cubicBezTo>
                      <a:pt x="93" y="11"/>
                      <a:pt x="92" y="11"/>
                      <a:pt x="90" y="12"/>
                    </a:cubicBezTo>
                    <a:cubicBezTo>
                      <a:pt x="80" y="20"/>
                      <a:pt x="80" y="20"/>
                      <a:pt x="80" y="20"/>
                    </a:cubicBezTo>
                    <a:cubicBezTo>
                      <a:pt x="78" y="18"/>
                      <a:pt x="75" y="17"/>
                      <a:pt x="72" y="16"/>
                    </a:cubicBezTo>
                    <a:cubicBezTo>
                      <a:pt x="71" y="4"/>
                      <a:pt x="71" y="4"/>
                      <a:pt x="71" y="4"/>
                    </a:cubicBezTo>
                    <a:cubicBezTo>
                      <a:pt x="71" y="2"/>
                      <a:pt x="69" y="1"/>
                      <a:pt x="68" y="1"/>
                    </a:cubicBezTo>
                    <a:cubicBezTo>
                      <a:pt x="62" y="0"/>
                      <a:pt x="57" y="0"/>
                      <a:pt x="51" y="1"/>
                    </a:cubicBezTo>
                    <a:cubicBezTo>
                      <a:pt x="50" y="1"/>
                      <a:pt x="48" y="2"/>
                      <a:pt x="48" y="4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4" y="17"/>
                      <a:pt x="41" y="18"/>
                      <a:pt x="39" y="20"/>
                    </a:cubicBezTo>
                    <a:cubicBezTo>
                      <a:pt x="29" y="12"/>
                      <a:pt x="29" y="12"/>
                      <a:pt x="29" y="12"/>
                    </a:cubicBezTo>
                    <a:cubicBezTo>
                      <a:pt x="27" y="11"/>
                      <a:pt x="25" y="11"/>
                      <a:pt x="24" y="12"/>
                    </a:cubicBezTo>
                    <a:cubicBezTo>
                      <a:pt x="20" y="15"/>
                      <a:pt x="16" y="19"/>
                      <a:pt x="13" y="24"/>
                    </a:cubicBezTo>
                    <a:cubicBezTo>
                      <a:pt x="12" y="25"/>
                      <a:pt x="12" y="27"/>
                      <a:pt x="13" y="28"/>
                    </a:cubicBezTo>
                    <a:cubicBezTo>
                      <a:pt x="20" y="38"/>
                      <a:pt x="20" y="38"/>
                      <a:pt x="20" y="38"/>
                    </a:cubicBezTo>
                    <a:cubicBezTo>
                      <a:pt x="19" y="41"/>
                      <a:pt x="18" y="43"/>
                      <a:pt x="17" y="46"/>
                    </a:cubicBezTo>
                    <a:cubicBezTo>
                      <a:pt x="4" y="48"/>
                      <a:pt x="4" y="48"/>
                      <a:pt x="4" y="48"/>
                    </a:cubicBezTo>
                    <a:cubicBezTo>
                      <a:pt x="3" y="48"/>
                      <a:pt x="1" y="49"/>
                      <a:pt x="1" y="51"/>
                    </a:cubicBezTo>
                    <a:cubicBezTo>
                      <a:pt x="0" y="56"/>
                      <a:pt x="0" y="62"/>
                      <a:pt x="1" y="67"/>
                    </a:cubicBezTo>
                    <a:cubicBezTo>
                      <a:pt x="1" y="69"/>
                      <a:pt x="3" y="70"/>
                      <a:pt x="4" y="70"/>
                    </a:cubicBezTo>
                    <a:cubicBezTo>
                      <a:pt x="17" y="72"/>
                      <a:pt x="17" y="72"/>
                      <a:pt x="17" y="72"/>
                    </a:cubicBezTo>
                    <a:cubicBezTo>
                      <a:pt x="18" y="75"/>
                      <a:pt x="19" y="77"/>
                      <a:pt x="20" y="80"/>
                    </a:cubicBezTo>
                    <a:cubicBezTo>
                      <a:pt x="13" y="90"/>
                      <a:pt x="13" y="90"/>
                      <a:pt x="13" y="90"/>
                    </a:cubicBezTo>
                    <a:cubicBezTo>
                      <a:pt x="12" y="91"/>
                      <a:pt x="12" y="93"/>
                      <a:pt x="13" y="94"/>
                    </a:cubicBezTo>
                    <a:cubicBezTo>
                      <a:pt x="16" y="99"/>
                      <a:pt x="20" y="103"/>
                      <a:pt x="24" y="106"/>
                    </a:cubicBezTo>
                    <a:cubicBezTo>
                      <a:pt x="25" y="107"/>
                      <a:pt x="27" y="107"/>
                      <a:pt x="29" y="106"/>
                    </a:cubicBezTo>
                    <a:cubicBezTo>
                      <a:pt x="39" y="98"/>
                      <a:pt x="39" y="98"/>
                      <a:pt x="39" y="98"/>
                    </a:cubicBezTo>
                    <a:cubicBezTo>
                      <a:pt x="41" y="100"/>
                      <a:pt x="44" y="101"/>
                      <a:pt x="47" y="102"/>
                    </a:cubicBezTo>
                    <a:cubicBezTo>
                      <a:pt x="48" y="114"/>
                      <a:pt x="48" y="114"/>
                      <a:pt x="48" y="114"/>
                    </a:cubicBezTo>
                    <a:cubicBezTo>
                      <a:pt x="48" y="116"/>
                      <a:pt x="50" y="117"/>
                      <a:pt x="51" y="117"/>
                    </a:cubicBezTo>
                    <a:cubicBezTo>
                      <a:pt x="54" y="118"/>
                      <a:pt x="57" y="118"/>
                      <a:pt x="59" y="118"/>
                    </a:cubicBezTo>
                    <a:cubicBezTo>
                      <a:pt x="62" y="118"/>
                      <a:pt x="65" y="118"/>
                      <a:pt x="68" y="117"/>
                    </a:cubicBezTo>
                    <a:cubicBezTo>
                      <a:pt x="69" y="117"/>
                      <a:pt x="71" y="116"/>
                      <a:pt x="71" y="114"/>
                    </a:cubicBezTo>
                    <a:cubicBezTo>
                      <a:pt x="72" y="102"/>
                      <a:pt x="72" y="102"/>
                      <a:pt x="72" y="102"/>
                    </a:cubicBezTo>
                    <a:cubicBezTo>
                      <a:pt x="75" y="101"/>
                      <a:pt x="78" y="100"/>
                      <a:pt x="80" y="98"/>
                    </a:cubicBezTo>
                    <a:cubicBezTo>
                      <a:pt x="90" y="106"/>
                      <a:pt x="90" y="106"/>
                      <a:pt x="90" y="106"/>
                    </a:cubicBezTo>
                    <a:cubicBezTo>
                      <a:pt x="92" y="107"/>
                      <a:pt x="93" y="107"/>
                      <a:pt x="95" y="106"/>
                    </a:cubicBezTo>
                    <a:cubicBezTo>
                      <a:pt x="99" y="103"/>
                      <a:pt x="103" y="99"/>
                      <a:pt x="106" y="94"/>
                    </a:cubicBezTo>
                    <a:cubicBezTo>
                      <a:pt x="107" y="93"/>
                      <a:pt x="107" y="91"/>
                      <a:pt x="106" y="90"/>
                    </a:cubicBezTo>
                    <a:cubicBezTo>
                      <a:pt x="99" y="80"/>
                      <a:pt x="99" y="80"/>
                      <a:pt x="99" y="80"/>
                    </a:cubicBezTo>
                    <a:cubicBezTo>
                      <a:pt x="100" y="77"/>
                      <a:pt x="101" y="75"/>
                      <a:pt x="102" y="72"/>
                    </a:cubicBezTo>
                    <a:cubicBezTo>
                      <a:pt x="114" y="70"/>
                      <a:pt x="114" y="70"/>
                      <a:pt x="114" y="70"/>
                    </a:cubicBezTo>
                    <a:cubicBezTo>
                      <a:pt x="116" y="70"/>
                      <a:pt x="117" y="69"/>
                      <a:pt x="118" y="67"/>
                    </a:cubicBezTo>
                    <a:cubicBezTo>
                      <a:pt x="118" y="62"/>
                      <a:pt x="118" y="56"/>
                      <a:pt x="118" y="51"/>
                    </a:cubicBezTo>
                    <a:cubicBezTo>
                      <a:pt x="117" y="49"/>
                      <a:pt x="116" y="48"/>
                      <a:pt x="114" y="48"/>
                    </a:cubicBezTo>
                    <a:close/>
                    <a:moveTo>
                      <a:pt x="111" y="63"/>
                    </a:moveTo>
                    <a:cubicBezTo>
                      <a:pt x="99" y="65"/>
                      <a:pt x="99" y="65"/>
                      <a:pt x="99" y="65"/>
                    </a:cubicBezTo>
                    <a:cubicBezTo>
                      <a:pt x="97" y="65"/>
                      <a:pt x="96" y="66"/>
                      <a:pt x="95" y="68"/>
                    </a:cubicBezTo>
                    <a:cubicBezTo>
                      <a:pt x="94" y="71"/>
                      <a:pt x="93" y="75"/>
                      <a:pt x="91" y="78"/>
                    </a:cubicBezTo>
                    <a:cubicBezTo>
                      <a:pt x="90" y="80"/>
                      <a:pt x="90" y="81"/>
                      <a:pt x="91" y="82"/>
                    </a:cubicBezTo>
                    <a:cubicBezTo>
                      <a:pt x="99" y="92"/>
                      <a:pt x="99" y="92"/>
                      <a:pt x="99" y="92"/>
                    </a:cubicBezTo>
                    <a:cubicBezTo>
                      <a:pt x="97" y="94"/>
                      <a:pt x="95" y="96"/>
                      <a:pt x="93" y="98"/>
                    </a:cubicBezTo>
                    <a:cubicBezTo>
                      <a:pt x="83" y="91"/>
                      <a:pt x="83" y="91"/>
                      <a:pt x="83" y="91"/>
                    </a:cubicBezTo>
                    <a:cubicBezTo>
                      <a:pt x="82" y="90"/>
                      <a:pt x="80" y="90"/>
                      <a:pt x="79" y="91"/>
                    </a:cubicBezTo>
                    <a:cubicBezTo>
                      <a:pt x="75" y="93"/>
                      <a:pt x="72" y="94"/>
                      <a:pt x="68" y="95"/>
                    </a:cubicBezTo>
                    <a:cubicBezTo>
                      <a:pt x="67" y="95"/>
                      <a:pt x="65" y="97"/>
                      <a:pt x="65" y="98"/>
                    </a:cubicBezTo>
                    <a:cubicBezTo>
                      <a:pt x="64" y="110"/>
                      <a:pt x="64" y="110"/>
                      <a:pt x="64" y="110"/>
                    </a:cubicBezTo>
                    <a:cubicBezTo>
                      <a:pt x="61" y="110"/>
                      <a:pt x="58" y="110"/>
                      <a:pt x="55" y="110"/>
                    </a:cubicBezTo>
                    <a:cubicBezTo>
                      <a:pt x="54" y="98"/>
                      <a:pt x="54" y="98"/>
                      <a:pt x="54" y="98"/>
                    </a:cubicBezTo>
                    <a:cubicBezTo>
                      <a:pt x="53" y="97"/>
                      <a:pt x="52" y="95"/>
                      <a:pt x="51" y="95"/>
                    </a:cubicBezTo>
                    <a:cubicBezTo>
                      <a:pt x="47" y="94"/>
                      <a:pt x="43" y="93"/>
                      <a:pt x="40" y="91"/>
                    </a:cubicBezTo>
                    <a:cubicBezTo>
                      <a:pt x="39" y="90"/>
                      <a:pt x="37" y="90"/>
                      <a:pt x="36" y="91"/>
                    </a:cubicBezTo>
                    <a:cubicBezTo>
                      <a:pt x="26" y="98"/>
                      <a:pt x="26" y="98"/>
                      <a:pt x="26" y="98"/>
                    </a:cubicBezTo>
                    <a:cubicBezTo>
                      <a:pt x="24" y="96"/>
                      <a:pt x="22" y="94"/>
                      <a:pt x="20" y="92"/>
                    </a:cubicBezTo>
                    <a:cubicBezTo>
                      <a:pt x="28" y="83"/>
                      <a:pt x="28" y="83"/>
                      <a:pt x="28" y="83"/>
                    </a:cubicBezTo>
                    <a:cubicBezTo>
                      <a:pt x="29" y="81"/>
                      <a:pt x="29" y="80"/>
                      <a:pt x="28" y="78"/>
                    </a:cubicBezTo>
                    <a:cubicBezTo>
                      <a:pt x="26" y="75"/>
                      <a:pt x="24" y="71"/>
                      <a:pt x="23" y="68"/>
                    </a:cubicBezTo>
                    <a:cubicBezTo>
                      <a:pt x="23" y="66"/>
                      <a:pt x="22" y="65"/>
                      <a:pt x="20" y="65"/>
                    </a:cubicBezTo>
                    <a:cubicBezTo>
                      <a:pt x="8" y="63"/>
                      <a:pt x="8" y="63"/>
                      <a:pt x="8" y="63"/>
                    </a:cubicBezTo>
                    <a:cubicBezTo>
                      <a:pt x="8" y="60"/>
                      <a:pt x="8" y="58"/>
                      <a:pt x="8" y="55"/>
                    </a:cubicBezTo>
                    <a:cubicBezTo>
                      <a:pt x="20" y="53"/>
                      <a:pt x="20" y="53"/>
                      <a:pt x="20" y="53"/>
                    </a:cubicBezTo>
                    <a:cubicBezTo>
                      <a:pt x="22" y="53"/>
                      <a:pt x="23" y="52"/>
                      <a:pt x="23" y="50"/>
                    </a:cubicBezTo>
                    <a:cubicBezTo>
                      <a:pt x="24" y="47"/>
                      <a:pt x="26" y="43"/>
                      <a:pt x="28" y="40"/>
                    </a:cubicBezTo>
                    <a:cubicBezTo>
                      <a:pt x="29" y="38"/>
                      <a:pt x="29" y="37"/>
                      <a:pt x="28" y="35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22" y="24"/>
                      <a:pt x="24" y="22"/>
                      <a:pt x="26" y="20"/>
                    </a:cubicBezTo>
                    <a:cubicBezTo>
                      <a:pt x="36" y="27"/>
                      <a:pt x="36" y="27"/>
                      <a:pt x="36" y="27"/>
                    </a:cubicBezTo>
                    <a:cubicBezTo>
                      <a:pt x="37" y="28"/>
                      <a:pt x="39" y="28"/>
                      <a:pt x="40" y="27"/>
                    </a:cubicBezTo>
                    <a:cubicBezTo>
                      <a:pt x="43" y="25"/>
                      <a:pt x="47" y="24"/>
                      <a:pt x="51" y="23"/>
                    </a:cubicBezTo>
                    <a:cubicBezTo>
                      <a:pt x="52" y="23"/>
                      <a:pt x="53" y="21"/>
                      <a:pt x="54" y="20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58" y="8"/>
                      <a:pt x="61" y="8"/>
                      <a:pt x="64" y="8"/>
                    </a:cubicBezTo>
                    <a:cubicBezTo>
                      <a:pt x="65" y="20"/>
                      <a:pt x="65" y="20"/>
                      <a:pt x="65" y="20"/>
                    </a:cubicBezTo>
                    <a:cubicBezTo>
                      <a:pt x="65" y="21"/>
                      <a:pt x="67" y="23"/>
                      <a:pt x="68" y="23"/>
                    </a:cubicBezTo>
                    <a:cubicBezTo>
                      <a:pt x="72" y="24"/>
                      <a:pt x="75" y="25"/>
                      <a:pt x="79" y="27"/>
                    </a:cubicBezTo>
                    <a:cubicBezTo>
                      <a:pt x="80" y="28"/>
                      <a:pt x="82" y="28"/>
                      <a:pt x="83" y="27"/>
                    </a:cubicBezTo>
                    <a:cubicBezTo>
                      <a:pt x="93" y="20"/>
                      <a:pt x="93" y="20"/>
                      <a:pt x="93" y="20"/>
                    </a:cubicBezTo>
                    <a:cubicBezTo>
                      <a:pt x="95" y="22"/>
                      <a:pt x="97" y="24"/>
                      <a:pt x="99" y="26"/>
                    </a:cubicBezTo>
                    <a:cubicBezTo>
                      <a:pt x="91" y="35"/>
                      <a:pt x="91" y="35"/>
                      <a:pt x="91" y="35"/>
                    </a:cubicBezTo>
                    <a:cubicBezTo>
                      <a:pt x="90" y="37"/>
                      <a:pt x="90" y="38"/>
                      <a:pt x="91" y="40"/>
                    </a:cubicBezTo>
                    <a:cubicBezTo>
                      <a:pt x="93" y="43"/>
                      <a:pt x="94" y="47"/>
                      <a:pt x="95" y="50"/>
                    </a:cubicBezTo>
                    <a:cubicBezTo>
                      <a:pt x="96" y="52"/>
                      <a:pt x="97" y="53"/>
                      <a:pt x="99" y="53"/>
                    </a:cubicBezTo>
                    <a:cubicBezTo>
                      <a:pt x="111" y="55"/>
                      <a:pt x="111" y="55"/>
                      <a:pt x="111" y="55"/>
                    </a:cubicBezTo>
                    <a:cubicBezTo>
                      <a:pt x="111" y="58"/>
                      <a:pt x="111" y="60"/>
                      <a:pt x="111" y="6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78" name="Freeform 12"/>
              <p:cNvSpPr>
                <a:spLocks noEditPoints="1"/>
              </p:cNvSpPr>
              <p:nvPr/>
            </p:nvSpPr>
            <p:spPr bwMode="auto">
              <a:xfrm>
                <a:off x="11517313" y="11171238"/>
                <a:ext cx="139700" cy="139700"/>
              </a:xfrm>
              <a:custGeom>
                <a:avLst/>
                <a:gdLst>
                  <a:gd name="T0" fmla="*/ 26 w 37"/>
                  <a:gd name="T1" fmla="*/ 4 h 37"/>
                  <a:gd name="T2" fmla="*/ 4 w 37"/>
                  <a:gd name="T3" fmla="*/ 13 h 37"/>
                  <a:gd name="T4" fmla="*/ 13 w 37"/>
                  <a:gd name="T5" fmla="*/ 35 h 37"/>
                  <a:gd name="T6" fmla="*/ 19 w 37"/>
                  <a:gd name="T7" fmla="*/ 37 h 37"/>
                  <a:gd name="T8" fmla="*/ 35 w 37"/>
                  <a:gd name="T9" fmla="*/ 26 h 37"/>
                  <a:gd name="T10" fmla="*/ 35 w 37"/>
                  <a:gd name="T11" fmla="*/ 13 h 37"/>
                  <a:gd name="T12" fmla="*/ 26 w 37"/>
                  <a:gd name="T13" fmla="*/ 4 h 37"/>
                  <a:gd name="T14" fmla="*/ 28 w 37"/>
                  <a:gd name="T15" fmla="*/ 23 h 37"/>
                  <a:gd name="T16" fmla="*/ 16 w 37"/>
                  <a:gd name="T17" fmla="*/ 28 h 37"/>
                  <a:gd name="T18" fmla="*/ 10 w 37"/>
                  <a:gd name="T19" fmla="*/ 16 h 37"/>
                  <a:gd name="T20" fmla="*/ 19 w 37"/>
                  <a:gd name="T21" fmla="*/ 10 h 37"/>
                  <a:gd name="T22" fmla="*/ 23 w 37"/>
                  <a:gd name="T23" fmla="*/ 11 h 37"/>
                  <a:gd name="T24" fmla="*/ 28 w 37"/>
                  <a:gd name="T25" fmla="*/ 16 h 37"/>
                  <a:gd name="T26" fmla="*/ 28 w 37"/>
                  <a:gd name="T27" fmla="*/ 2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7" h="37">
                    <a:moveTo>
                      <a:pt x="26" y="4"/>
                    </a:moveTo>
                    <a:cubicBezTo>
                      <a:pt x="17" y="0"/>
                      <a:pt x="7" y="5"/>
                      <a:pt x="4" y="13"/>
                    </a:cubicBezTo>
                    <a:cubicBezTo>
                      <a:pt x="0" y="22"/>
                      <a:pt x="4" y="32"/>
                      <a:pt x="13" y="35"/>
                    </a:cubicBezTo>
                    <a:cubicBezTo>
                      <a:pt x="15" y="36"/>
                      <a:pt x="17" y="37"/>
                      <a:pt x="19" y="37"/>
                    </a:cubicBezTo>
                    <a:cubicBezTo>
                      <a:pt x="26" y="37"/>
                      <a:pt x="32" y="32"/>
                      <a:pt x="35" y="26"/>
                    </a:cubicBezTo>
                    <a:cubicBezTo>
                      <a:pt x="37" y="22"/>
                      <a:pt x="37" y="17"/>
                      <a:pt x="35" y="13"/>
                    </a:cubicBezTo>
                    <a:cubicBezTo>
                      <a:pt x="33" y="9"/>
                      <a:pt x="30" y="6"/>
                      <a:pt x="26" y="4"/>
                    </a:cubicBezTo>
                    <a:close/>
                    <a:moveTo>
                      <a:pt x="28" y="23"/>
                    </a:moveTo>
                    <a:cubicBezTo>
                      <a:pt x="26" y="28"/>
                      <a:pt x="20" y="30"/>
                      <a:pt x="16" y="28"/>
                    </a:cubicBezTo>
                    <a:cubicBezTo>
                      <a:pt x="11" y="26"/>
                      <a:pt x="8" y="21"/>
                      <a:pt x="10" y="16"/>
                    </a:cubicBezTo>
                    <a:cubicBezTo>
                      <a:pt x="12" y="12"/>
                      <a:pt x="15" y="10"/>
                      <a:pt x="19" y="10"/>
                    </a:cubicBezTo>
                    <a:cubicBezTo>
                      <a:pt x="20" y="10"/>
                      <a:pt x="22" y="10"/>
                      <a:pt x="23" y="11"/>
                    </a:cubicBezTo>
                    <a:cubicBezTo>
                      <a:pt x="25" y="12"/>
                      <a:pt x="27" y="14"/>
                      <a:pt x="28" y="16"/>
                    </a:cubicBezTo>
                    <a:cubicBezTo>
                      <a:pt x="29" y="18"/>
                      <a:pt x="29" y="21"/>
                      <a:pt x="28" y="2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  <p:sp>
            <p:nvSpPr>
              <p:cNvPr id="79" name="Freeform 13"/>
              <p:cNvSpPr>
                <a:spLocks noEditPoints="1"/>
              </p:cNvSpPr>
              <p:nvPr/>
            </p:nvSpPr>
            <p:spPr bwMode="auto">
              <a:xfrm>
                <a:off x="11431588" y="11085513"/>
                <a:ext cx="319088" cy="319088"/>
              </a:xfrm>
              <a:custGeom>
                <a:avLst/>
                <a:gdLst>
                  <a:gd name="T0" fmla="*/ 75 w 85"/>
                  <a:gd name="T1" fmla="*/ 45 h 85"/>
                  <a:gd name="T2" fmla="*/ 83 w 85"/>
                  <a:gd name="T3" fmla="*/ 36 h 85"/>
                  <a:gd name="T4" fmla="*/ 80 w 85"/>
                  <a:gd name="T5" fmla="*/ 20 h 85"/>
                  <a:gd name="T6" fmla="*/ 67 w 85"/>
                  <a:gd name="T7" fmla="*/ 21 h 85"/>
                  <a:gd name="T8" fmla="*/ 66 w 85"/>
                  <a:gd name="T9" fmla="*/ 9 h 85"/>
                  <a:gd name="T10" fmla="*/ 53 w 85"/>
                  <a:gd name="T11" fmla="*/ 0 h 85"/>
                  <a:gd name="T12" fmla="*/ 45 w 85"/>
                  <a:gd name="T13" fmla="*/ 9 h 85"/>
                  <a:gd name="T14" fmla="*/ 35 w 85"/>
                  <a:gd name="T15" fmla="*/ 2 h 85"/>
                  <a:gd name="T16" fmla="*/ 20 w 85"/>
                  <a:gd name="T17" fmla="*/ 5 h 85"/>
                  <a:gd name="T18" fmla="*/ 21 w 85"/>
                  <a:gd name="T19" fmla="*/ 17 h 85"/>
                  <a:gd name="T20" fmla="*/ 9 w 85"/>
                  <a:gd name="T21" fmla="*/ 19 h 85"/>
                  <a:gd name="T22" fmla="*/ 0 w 85"/>
                  <a:gd name="T23" fmla="*/ 32 h 85"/>
                  <a:gd name="T24" fmla="*/ 9 w 85"/>
                  <a:gd name="T25" fmla="*/ 40 h 85"/>
                  <a:gd name="T26" fmla="*/ 2 w 85"/>
                  <a:gd name="T27" fmla="*/ 49 h 85"/>
                  <a:gd name="T28" fmla="*/ 5 w 85"/>
                  <a:gd name="T29" fmla="*/ 65 h 85"/>
                  <a:gd name="T30" fmla="*/ 17 w 85"/>
                  <a:gd name="T31" fmla="*/ 64 h 85"/>
                  <a:gd name="T32" fmla="*/ 19 w 85"/>
                  <a:gd name="T33" fmla="*/ 76 h 85"/>
                  <a:gd name="T34" fmla="*/ 32 w 85"/>
                  <a:gd name="T35" fmla="*/ 85 h 85"/>
                  <a:gd name="T36" fmla="*/ 36 w 85"/>
                  <a:gd name="T37" fmla="*/ 83 h 85"/>
                  <a:gd name="T38" fmla="*/ 45 w 85"/>
                  <a:gd name="T39" fmla="*/ 76 h 85"/>
                  <a:gd name="T40" fmla="*/ 53 w 85"/>
                  <a:gd name="T41" fmla="*/ 85 h 85"/>
                  <a:gd name="T42" fmla="*/ 66 w 85"/>
                  <a:gd name="T43" fmla="*/ 76 h 85"/>
                  <a:gd name="T44" fmla="*/ 68 w 85"/>
                  <a:gd name="T45" fmla="*/ 64 h 85"/>
                  <a:gd name="T46" fmla="*/ 80 w 85"/>
                  <a:gd name="T47" fmla="*/ 64 h 85"/>
                  <a:gd name="T48" fmla="*/ 83 w 85"/>
                  <a:gd name="T49" fmla="*/ 49 h 85"/>
                  <a:gd name="T50" fmla="*/ 67 w 85"/>
                  <a:gd name="T51" fmla="*/ 56 h 85"/>
                  <a:gd name="T52" fmla="*/ 57 w 85"/>
                  <a:gd name="T53" fmla="*/ 63 h 85"/>
                  <a:gd name="T54" fmla="*/ 58 w 85"/>
                  <a:gd name="T55" fmla="*/ 75 h 85"/>
                  <a:gd name="T56" fmla="*/ 50 w 85"/>
                  <a:gd name="T57" fmla="*/ 70 h 85"/>
                  <a:gd name="T58" fmla="*/ 38 w 85"/>
                  <a:gd name="T59" fmla="*/ 68 h 85"/>
                  <a:gd name="T60" fmla="*/ 31 w 85"/>
                  <a:gd name="T61" fmla="*/ 77 h 85"/>
                  <a:gd name="T62" fmla="*/ 29 w 85"/>
                  <a:gd name="T63" fmla="*/ 67 h 85"/>
                  <a:gd name="T64" fmla="*/ 22 w 85"/>
                  <a:gd name="T65" fmla="*/ 58 h 85"/>
                  <a:gd name="T66" fmla="*/ 10 w 85"/>
                  <a:gd name="T67" fmla="*/ 58 h 85"/>
                  <a:gd name="T68" fmla="*/ 15 w 85"/>
                  <a:gd name="T69" fmla="*/ 50 h 85"/>
                  <a:gd name="T70" fmla="*/ 17 w 85"/>
                  <a:gd name="T71" fmla="*/ 39 h 85"/>
                  <a:gd name="T72" fmla="*/ 8 w 85"/>
                  <a:gd name="T73" fmla="*/ 31 h 85"/>
                  <a:gd name="T74" fmla="*/ 17 w 85"/>
                  <a:gd name="T75" fmla="*/ 29 h 85"/>
                  <a:gd name="T76" fmla="*/ 27 w 85"/>
                  <a:gd name="T77" fmla="*/ 22 h 85"/>
                  <a:gd name="T78" fmla="*/ 26 w 85"/>
                  <a:gd name="T79" fmla="*/ 10 h 85"/>
                  <a:gd name="T80" fmla="*/ 34 w 85"/>
                  <a:gd name="T81" fmla="*/ 15 h 85"/>
                  <a:gd name="T82" fmla="*/ 46 w 85"/>
                  <a:gd name="T83" fmla="*/ 17 h 85"/>
                  <a:gd name="T84" fmla="*/ 54 w 85"/>
                  <a:gd name="T85" fmla="*/ 9 h 85"/>
                  <a:gd name="T86" fmla="*/ 56 w 85"/>
                  <a:gd name="T87" fmla="*/ 18 h 85"/>
                  <a:gd name="T88" fmla="*/ 63 w 85"/>
                  <a:gd name="T89" fmla="*/ 27 h 85"/>
                  <a:gd name="T90" fmla="*/ 75 w 85"/>
                  <a:gd name="T91" fmla="*/ 27 h 85"/>
                  <a:gd name="T92" fmla="*/ 69 w 85"/>
                  <a:gd name="T93" fmla="*/ 35 h 85"/>
                  <a:gd name="T94" fmla="*/ 68 w 85"/>
                  <a:gd name="T95" fmla="*/ 46 h 85"/>
                  <a:gd name="T96" fmla="*/ 76 w 85"/>
                  <a:gd name="T97" fmla="*/ 5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85" h="85">
                    <a:moveTo>
                      <a:pt x="83" y="49"/>
                    </a:moveTo>
                    <a:cubicBezTo>
                      <a:pt x="75" y="45"/>
                      <a:pt x="75" y="45"/>
                      <a:pt x="75" y="45"/>
                    </a:cubicBezTo>
                    <a:cubicBezTo>
                      <a:pt x="75" y="43"/>
                      <a:pt x="75" y="42"/>
                      <a:pt x="75" y="40"/>
                    </a:cubicBezTo>
                    <a:cubicBezTo>
                      <a:pt x="83" y="36"/>
                      <a:pt x="83" y="36"/>
                      <a:pt x="83" y="36"/>
                    </a:cubicBezTo>
                    <a:cubicBezTo>
                      <a:pt x="84" y="35"/>
                      <a:pt x="85" y="33"/>
                      <a:pt x="84" y="31"/>
                    </a:cubicBezTo>
                    <a:cubicBezTo>
                      <a:pt x="83" y="28"/>
                      <a:pt x="82" y="24"/>
                      <a:pt x="80" y="20"/>
                    </a:cubicBezTo>
                    <a:cubicBezTo>
                      <a:pt x="79" y="19"/>
                      <a:pt x="77" y="18"/>
                      <a:pt x="75" y="19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6" y="20"/>
                      <a:pt x="65" y="18"/>
                      <a:pt x="64" y="17"/>
                    </a:cubicBezTo>
                    <a:cubicBezTo>
                      <a:pt x="66" y="9"/>
                      <a:pt x="66" y="9"/>
                      <a:pt x="66" y="9"/>
                    </a:cubicBezTo>
                    <a:cubicBezTo>
                      <a:pt x="66" y="8"/>
                      <a:pt x="66" y="6"/>
                      <a:pt x="64" y="5"/>
                    </a:cubicBezTo>
                    <a:cubicBezTo>
                      <a:pt x="61" y="3"/>
                      <a:pt x="57" y="1"/>
                      <a:pt x="53" y="0"/>
                    </a:cubicBezTo>
                    <a:cubicBezTo>
                      <a:pt x="51" y="0"/>
                      <a:pt x="50" y="1"/>
                      <a:pt x="49" y="2"/>
                    </a:cubicBezTo>
                    <a:cubicBezTo>
                      <a:pt x="45" y="9"/>
                      <a:pt x="45" y="9"/>
                      <a:pt x="45" y="9"/>
                    </a:cubicBezTo>
                    <a:cubicBezTo>
                      <a:pt x="43" y="9"/>
                      <a:pt x="41" y="9"/>
                      <a:pt x="40" y="10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5" y="1"/>
                      <a:pt x="33" y="0"/>
                      <a:pt x="31" y="1"/>
                    </a:cubicBezTo>
                    <a:cubicBezTo>
                      <a:pt x="27" y="2"/>
                      <a:pt x="24" y="3"/>
                      <a:pt x="20" y="5"/>
                    </a:cubicBezTo>
                    <a:cubicBezTo>
                      <a:pt x="19" y="6"/>
                      <a:pt x="18" y="8"/>
                      <a:pt x="18" y="9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9" y="19"/>
                      <a:pt x="18" y="20"/>
                      <a:pt x="17" y="21"/>
                    </a:cubicBezTo>
                    <a:cubicBezTo>
                      <a:pt x="9" y="19"/>
                      <a:pt x="9" y="19"/>
                      <a:pt x="9" y="19"/>
                    </a:cubicBezTo>
                    <a:cubicBezTo>
                      <a:pt x="7" y="19"/>
                      <a:pt x="6" y="19"/>
                      <a:pt x="5" y="21"/>
                    </a:cubicBezTo>
                    <a:cubicBezTo>
                      <a:pt x="3" y="24"/>
                      <a:pt x="1" y="28"/>
                      <a:pt x="0" y="32"/>
                    </a:cubicBezTo>
                    <a:cubicBezTo>
                      <a:pt x="0" y="33"/>
                      <a:pt x="0" y="35"/>
                      <a:pt x="2" y="36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9" y="44"/>
                      <a:pt x="9" y="45"/>
                    </a:cubicBezTo>
                    <a:cubicBezTo>
                      <a:pt x="2" y="49"/>
                      <a:pt x="2" y="49"/>
                      <a:pt x="2" y="49"/>
                    </a:cubicBezTo>
                    <a:cubicBezTo>
                      <a:pt x="1" y="50"/>
                      <a:pt x="0" y="52"/>
                      <a:pt x="0" y="54"/>
                    </a:cubicBezTo>
                    <a:cubicBezTo>
                      <a:pt x="1" y="57"/>
                      <a:pt x="3" y="61"/>
                      <a:pt x="5" y="65"/>
                    </a:cubicBezTo>
                    <a:cubicBezTo>
                      <a:pt x="6" y="66"/>
                      <a:pt x="7" y="67"/>
                      <a:pt x="9" y="66"/>
                    </a:cubicBezTo>
                    <a:cubicBezTo>
                      <a:pt x="17" y="64"/>
                      <a:pt x="17" y="64"/>
                      <a:pt x="17" y="64"/>
                    </a:cubicBezTo>
                    <a:cubicBezTo>
                      <a:pt x="18" y="65"/>
                      <a:pt x="20" y="67"/>
                      <a:pt x="21" y="68"/>
                    </a:cubicBezTo>
                    <a:cubicBezTo>
                      <a:pt x="19" y="76"/>
                      <a:pt x="19" y="76"/>
                      <a:pt x="19" y="76"/>
                    </a:cubicBezTo>
                    <a:cubicBezTo>
                      <a:pt x="18" y="78"/>
                      <a:pt x="19" y="79"/>
                      <a:pt x="20" y="80"/>
                    </a:cubicBezTo>
                    <a:cubicBezTo>
                      <a:pt x="24" y="82"/>
                      <a:pt x="28" y="84"/>
                      <a:pt x="32" y="85"/>
                    </a:cubicBezTo>
                    <a:cubicBezTo>
                      <a:pt x="32" y="85"/>
                      <a:pt x="32" y="85"/>
                      <a:pt x="32" y="85"/>
                    </a:cubicBezTo>
                    <a:cubicBezTo>
                      <a:pt x="34" y="85"/>
                      <a:pt x="35" y="84"/>
                      <a:pt x="36" y="83"/>
                    </a:cubicBezTo>
                    <a:cubicBezTo>
                      <a:pt x="40" y="76"/>
                      <a:pt x="40" y="76"/>
                      <a:pt x="40" y="76"/>
                    </a:cubicBezTo>
                    <a:cubicBezTo>
                      <a:pt x="42" y="76"/>
                      <a:pt x="43" y="76"/>
                      <a:pt x="45" y="76"/>
                    </a:cubicBezTo>
                    <a:cubicBezTo>
                      <a:pt x="49" y="83"/>
                      <a:pt x="49" y="83"/>
                      <a:pt x="49" y="83"/>
                    </a:cubicBezTo>
                    <a:cubicBezTo>
                      <a:pt x="50" y="84"/>
                      <a:pt x="52" y="85"/>
                      <a:pt x="53" y="85"/>
                    </a:cubicBezTo>
                    <a:cubicBezTo>
                      <a:pt x="57" y="84"/>
                      <a:pt x="61" y="82"/>
                      <a:pt x="64" y="80"/>
                    </a:cubicBezTo>
                    <a:cubicBezTo>
                      <a:pt x="66" y="79"/>
                      <a:pt x="67" y="77"/>
                      <a:pt x="66" y="76"/>
                    </a:cubicBezTo>
                    <a:cubicBezTo>
                      <a:pt x="64" y="68"/>
                      <a:pt x="64" y="68"/>
                      <a:pt x="64" y="68"/>
                    </a:cubicBezTo>
                    <a:cubicBezTo>
                      <a:pt x="65" y="66"/>
                      <a:pt x="66" y="65"/>
                      <a:pt x="68" y="64"/>
                    </a:cubicBezTo>
                    <a:cubicBezTo>
                      <a:pt x="76" y="66"/>
                      <a:pt x="76" y="66"/>
                      <a:pt x="76" y="66"/>
                    </a:cubicBezTo>
                    <a:cubicBezTo>
                      <a:pt x="77" y="67"/>
                      <a:pt x="79" y="66"/>
                      <a:pt x="80" y="64"/>
                    </a:cubicBezTo>
                    <a:cubicBezTo>
                      <a:pt x="82" y="61"/>
                      <a:pt x="83" y="57"/>
                      <a:pt x="84" y="53"/>
                    </a:cubicBezTo>
                    <a:cubicBezTo>
                      <a:pt x="85" y="52"/>
                      <a:pt x="84" y="50"/>
                      <a:pt x="83" y="49"/>
                    </a:cubicBezTo>
                    <a:close/>
                    <a:moveTo>
                      <a:pt x="75" y="58"/>
                    </a:moveTo>
                    <a:cubicBezTo>
                      <a:pt x="67" y="56"/>
                      <a:pt x="67" y="56"/>
                      <a:pt x="67" y="56"/>
                    </a:cubicBezTo>
                    <a:cubicBezTo>
                      <a:pt x="66" y="56"/>
                      <a:pt x="64" y="56"/>
                      <a:pt x="63" y="58"/>
                    </a:cubicBezTo>
                    <a:cubicBezTo>
                      <a:pt x="62" y="60"/>
                      <a:pt x="60" y="62"/>
                      <a:pt x="57" y="63"/>
                    </a:cubicBezTo>
                    <a:cubicBezTo>
                      <a:pt x="56" y="64"/>
                      <a:pt x="56" y="66"/>
                      <a:pt x="56" y="6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7" y="75"/>
                      <a:pt x="56" y="76"/>
                      <a:pt x="54" y="76"/>
                    </a:cubicBezTo>
                    <a:cubicBezTo>
                      <a:pt x="50" y="70"/>
                      <a:pt x="50" y="70"/>
                      <a:pt x="50" y="70"/>
                    </a:cubicBezTo>
                    <a:cubicBezTo>
                      <a:pt x="49" y="68"/>
                      <a:pt x="48" y="68"/>
                      <a:pt x="46" y="68"/>
                    </a:cubicBezTo>
                    <a:cubicBezTo>
                      <a:pt x="44" y="68"/>
                      <a:pt x="41" y="68"/>
                      <a:pt x="38" y="68"/>
                    </a:cubicBezTo>
                    <a:cubicBezTo>
                      <a:pt x="37" y="68"/>
                      <a:pt x="35" y="68"/>
                      <a:pt x="35" y="70"/>
                    </a:cubicBezTo>
                    <a:cubicBezTo>
                      <a:pt x="31" y="77"/>
                      <a:pt x="31" y="77"/>
                      <a:pt x="31" y="77"/>
                    </a:cubicBezTo>
                    <a:cubicBezTo>
                      <a:pt x="29" y="76"/>
                      <a:pt x="28" y="76"/>
                      <a:pt x="27" y="75"/>
                    </a:cubicBezTo>
                    <a:cubicBezTo>
                      <a:pt x="29" y="67"/>
                      <a:pt x="29" y="67"/>
                      <a:pt x="29" y="67"/>
                    </a:cubicBezTo>
                    <a:cubicBezTo>
                      <a:pt x="29" y="66"/>
                      <a:pt x="29" y="64"/>
                      <a:pt x="27" y="63"/>
                    </a:cubicBezTo>
                    <a:cubicBezTo>
                      <a:pt x="25" y="62"/>
                      <a:pt x="23" y="60"/>
                      <a:pt x="22" y="58"/>
                    </a:cubicBezTo>
                    <a:cubicBezTo>
                      <a:pt x="21" y="56"/>
                      <a:pt x="19" y="56"/>
                      <a:pt x="18" y="56"/>
                    </a:cubicBezTo>
                    <a:cubicBezTo>
                      <a:pt x="10" y="58"/>
                      <a:pt x="10" y="58"/>
                      <a:pt x="10" y="58"/>
                    </a:cubicBezTo>
                    <a:cubicBezTo>
                      <a:pt x="9" y="57"/>
                      <a:pt x="9" y="56"/>
                      <a:pt x="8" y="54"/>
                    </a:cubicBezTo>
                    <a:cubicBezTo>
                      <a:pt x="15" y="50"/>
                      <a:pt x="15" y="50"/>
                      <a:pt x="15" y="50"/>
                    </a:cubicBezTo>
                    <a:cubicBezTo>
                      <a:pt x="16" y="50"/>
                      <a:pt x="17" y="48"/>
                      <a:pt x="17" y="47"/>
                    </a:cubicBezTo>
                    <a:cubicBezTo>
                      <a:pt x="17" y="44"/>
                      <a:pt x="17" y="41"/>
                      <a:pt x="17" y="39"/>
                    </a:cubicBezTo>
                    <a:cubicBezTo>
                      <a:pt x="17" y="37"/>
                      <a:pt x="16" y="36"/>
                      <a:pt x="15" y="35"/>
                    </a:cubicBezTo>
                    <a:cubicBezTo>
                      <a:pt x="8" y="31"/>
                      <a:pt x="8" y="31"/>
                      <a:pt x="8" y="31"/>
                    </a:cubicBezTo>
                    <a:cubicBezTo>
                      <a:pt x="9" y="30"/>
                      <a:pt x="9" y="28"/>
                      <a:pt x="10" y="27"/>
                    </a:cubicBezTo>
                    <a:cubicBezTo>
                      <a:pt x="17" y="29"/>
                      <a:pt x="17" y="29"/>
                      <a:pt x="17" y="29"/>
                    </a:cubicBezTo>
                    <a:cubicBezTo>
                      <a:pt x="19" y="29"/>
                      <a:pt x="21" y="29"/>
                      <a:pt x="21" y="28"/>
                    </a:cubicBezTo>
                    <a:cubicBezTo>
                      <a:pt x="23" y="25"/>
                      <a:pt x="25" y="23"/>
                      <a:pt x="27" y="22"/>
                    </a:cubicBezTo>
                    <a:cubicBezTo>
                      <a:pt x="28" y="21"/>
                      <a:pt x="29" y="19"/>
                      <a:pt x="28" y="18"/>
                    </a:cubicBezTo>
                    <a:cubicBezTo>
                      <a:pt x="26" y="10"/>
                      <a:pt x="26" y="10"/>
                      <a:pt x="26" y="10"/>
                    </a:cubicBezTo>
                    <a:cubicBezTo>
                      <a:pt x="28" y="10"/>
                      <a:pt x="29" y="9"/>
                      <a:pt x="30" y="9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35" y="17"/>
                      <a:pt x="37" y="17"/>
                      <a:pt x="38" y="17"/>
                    </a:cubicBezTo>
                    <a:cubicBezTo>
                      <a:pt x="41" y="17"/>
                      <a:pt x="43" y="17"/>
                      <a:pt x="46" y="17"/>
                    </a:cubicBezTo>
                    <a:cubicBezTo>
                      <a:pt x="48" y="17"/>
                      <a:pt x="49" y="17"/>
                      <a:pt x="50" y="15"/>
                    </a:cubicBezTo>
                    <a:cubicBezTo>
                      <a:pt x="54" y="9"/>
                      <a:pt x="54" y="9"/>
                      <a:pt x="54" y="9"/>
                    </a:cubicBezTo>
                    <a:cubicBezTo>
                      <a:pt x="55" y="9"/>
                      <a:pt x="57" y="10"/>
                      <a:pt x="58" y="10"/>
                    </a:cubicBezTo>
                    <a:cubicBezTo>
                      <a:pt x="56" y="18"/>
                      <a:pt x="56" y="18"/>
                      <a:pt x="56" y="18"/>
                    </a:cubicBezTo>
                    <a:cubicBezTo>
                      <a:pt x="55" y="19"/>
                      <a:pt x="56" y="21"/>
                      <a:pt x="57" y="22"/>
                    </a:cubicBezTo>
                    <a:cubicBezTo>
                      <a:pt x="59" y="23"/>
                      <a:pt x="61" y="25"/>
                      <a:pt x="63" y="27"/>
                    </a:cubicBezTo>
                    <a:cubicBezTo>
                      <a:pt x="64" y="29"/>
                      <a:pt x="65" y="29"/>
                      <a:pt x="67" y="29"/>
                    </a:cubicBezTo>
                    <a:cubicBezTo>
                      <a:pt x="75" y="27"/>
                      <a:pt x="75" y="27"/>
                      <a:pt x="75" y="27"/>
                    </a:cubicBezTo>
                    <a:cubicBezTo>
                      <a:pt x="75" y="28"/>
                      <a:pt x="76" y="29"/>
                      <a:pt x="76" y="31"/>
                    </a:cubicBezTo>
                    <a:cubicBezTo>
                      <a:pt x="69" y="35"/>
                      <a:pt x="69" y="35"/>
                      <a:pt x="69" y="35"/>
                    </a:cubicBezTo>
                    <a:cubicBezTo>
                      <a:pt x="68" y="35"/>
                      <a:pt x="67" y="37"/>
                      <a:pt x="68" y="38"/>
                    </a:cubicBezTo>
                    <a:cubicBezTo>
                      <a:pt x="68" y="41"/>
                      <a:pt x="68" y="44"/>
                      <a:pt x="68" y="46"/>
                    </a:cubicBezTo>
                    <a:cubicBezTo>
                      <a:pt x="67" y="48"/>
                      <a:pt x="68" y="49"/>
                      <a:pt x="69" y="50"/>
                    </a:cubicBezTo>
                    <a:cubicBezTo>
                      <a:pt x="76" y="54"/>
                      <a:pt x="76" y="54"/>
                      <a:pt x="76" y="54"/>
                    </a:cubicBezTo>
                    <a:cubicBezTo>
                      <a:pt x="76" y="56"/>
                      <a:pt x="75" y="57"/>
                      <a:pt x="75" y="5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45720" tIns="22860" rIns="45720" bIns="2286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900" dirty="0">
                  <a:latin typeface="Lato" panose="020F0502020204030203" pitchFamily="34" charset="0"/>
                </a:endParaRPr>
              </a:p>
            </p:txBody>
          </p:sp>
        </p:grpSp>
        <p:grpSp>
          <p:nvGrpSpPr>
            <p:cNvPr id="73" name="Group 72"/>
            <p:cNvGrpSpPr/>
            <p:nvPr/>
          </p:nvGrpSpPr>
          <p:grpSpPr>
            <a:xfrm>
              <a:off x="2039950" y="4879945"/>
              <a:ext cx="2598840" cy="940144"/>
              <a:chOff x="4079898" y="3670676"/>
              <a:chExt cx="5197679" cy="1880288"/>
            </a:xfrm>
          </p:grpSpPr>
          <p:sp>
            <p:nvSpPr>
              <p:cNvPr id="74" name="TextBox 73"/>
              <p:cNvSpPr txBox="1"/>
              <p:nvPr/>
            </p:nvSpPr>
            <p:spPr>
              <a:xfrm>
                <a:off x="4172978" y="3670676"/>
                <a:ext cx="5104599" cy="751356"/>
              </a:xfrm>
              <a:prstGeom prst="rect">
                <a:avLst/>
              </a:prstGeom>
              <a:noFill/>
            </p:spPr>
            <p:txBody>
              <a:bodyPr wrap="none" lIns="91439" tIns="45719" rIns="91439" bIns="45719" rtlCol="0">
                <a:spAutoFit/>
              </a:bodyPr>
              <a:lstStyle/>
              <a:p>
                <a:pPr>
                  <a:lnSpc>
                    <a:spcPct val="140000"/>
                  </a:lnSpc>
                  <a:defRPr/>
                </a:pPr>
                <a:r>
                  <a:rPr lang="en-US" sz="1500" b="1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Roles &amp; Preferences setting</a:t>
                </a:r>
                <a:endParaRPr lang="id-ID" sz="1500" b="1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079898" y="4504528"/>
                <a:ext cx="4751137" cy="1046436"/>
              </a:xfrm>
              <a:prstGeom prst="rect">
                <a:avLst/>
              </a:prstGeom>
              <a:noFill/>
            </p:spPr>
            <p:txBody>
              <a:bodyPr wrap="square" lIns="91439" tIns="45719" rIns="91439" bIns="45719" rtlCol="0">
                <a:spAutoFit/>
              </a:bodyPr>
              <a:lstStyle/>
              <a:p>
                <a:pPr marL="171450" indent="-171450">
                  <a:spcBef>
                    <a:spcPct val="20000"/>
                  </a:spcBef>
                  <a:buFont typeface="Arial"/>
                  <a:buChar char="•"/>
                </a:pPr>
                <a:r>
                  <a:rPr lang="en-US" altLang="zh-TW" sz="1400" dirty="0">
                    <a:latin typeface="Arial"/>
                    <a:ea typeface="Arial"/>
                    <a:cs typeface="Arial"/>
                  </a:rPr>
                  <a:t>Role and preferences shape the workspace.</a:t>
                </a:r>
              </a:p>
            </p:txBody>
          </p:sp>
        </p:grpSp>
      </p:grpSp>
      <p:sp>
        <p:nvSpPr>
          <p:cNvPr id="2" name="Title 79">
            <a:extLst>
              <a:ext uri="{FF2B5EF4-FFF2-40B4-BE49-F238E27FC236}">
                <a16:creationId xmlns:a16="http://schemas.microsoft.com/office/drawing/2014/main" id="{5CEAD35F-357B-475A-B099-CAC76043CFF1}"/>
              </a:ext>
            </a:extLst>
          </p:cNvPr>
          <p:cNvSpPr txBox="1">
            <a:spLocks/>
          </p:cNvSpPr>
          <p:nvPr/>
        </p:nvSpPr>
        <p:spPr>
          <a:xfrm>
            <a:off x="605019" y="710112"/>
            <a:ext cx="7394446" cy="52271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21" name="Text Placeholder 81">
            <a:extLst>
              <a:ext uri="{FF2B5EF4-FFF2-40B4-BE49-F238E27FC236}">
                <a16:creationId xmlns:a16="http://schemas.microsoft.com/office/drawing/2014/main" id="{F61F78D9-1F1E-9138-14D6-E336B03DC018}"/>
              </a:ext>
            </a:extLst>
          </p:cNvPr>
          <p:cNvSpPr txBox="1">
            <a:spLocks/>
          </p:cNvSpPr>
          <p:nvPr/>
        </p:nvSpPr>
        <p:spPr>
          <a:xfrm>
            <a:off x="619550" y="504023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WHAT DOES AMIDS COMPASS CONTAIN?</a:t>
            </a:r>
          </a:p>
        </p:txBody>
      </p:sp>
      <p:pic>
        <p:nvPicPr>
          <p:cNvPr id="54" name="Graphic 53">
            <a:extLst>
              <a:ext uri="{FF2B5EF4-FFF2-40B4-BE49-F238E27FC236}">
                <a16:creationId xmlns:a16="http://schemas.microsoft.com/office/drawing/2014/main" id="{5D2CFC24-73BF-4996-132E-2676F3605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395" y="2089329"/>
            <a:ext cx="609600" cy="609600"/>
          </a:xfrm>
          <a:prstGeom prst="rect">
            <a:avLst/>
          </a:prstGeom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4B09C729-8FE3-D6F0-4251-5DE45EA3A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4768" y="3647691"/>
            <a:ext cx="609600" cy="609600"/>
          </a:xfrm>
          <a:prstGeom prst="rect">
            <a:avLst/>
          </a:prstGeom>
        </p:spPr>
      </p:pic>
      <p:pic>
        <p:nvPicPr>
          <p:cNvPr id="96" name="Graphic 95">
            <a:extLst>
              <a:ext uri="{FF2B5EF4-FFF2-40B4-BE49-F238E27FC236}">
                <a16:creationId xmlns:a16="http://schemas.microsoft.com/office/drawing/2014/main" id="{6463C68F-66D7-8EFC-C519-0459EC88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9632" y="2053823"/>
            <a:ext cx="609600" cy="602564"/>
          </a:xfrm>
          <a:prstGeom prst="rect">
            <a:avLst/>
          </a:prstGeom>
        </p:spPr>
      </p:pic>
      <p:sp>
        <p:nvSpPr>
          <p:cNvPr id="98" name="Multiply 97">
            <a:extLst>
              <a:ext uri="{FF2B5EF4-FFF2-40B4-BE49-F238E27FC236}">
                <a16:creationId xmlns:a16="http://schemas.microsoft.com/office/drawing/2014/main" id="{D89D5227-86B5-5F5E-B56E-34472F84D886}"/>
              </a:ext>
            </a:extLst>
          </p:cNvPr>
          <p:cNvSpPr/>
          <p:nvPr/>
        </p:nvSpPr>
        <p:spPr>
          <a:xfrm>
            <a:off x="8131711" y="2029721"/>
            <a:ext cx="785442" cy="776396"/>
          </a:xfrm>
          <a:prstGeom prst="mathMultiply">
            <a:avLst>
              <a:gd name="adj1" fmla="val 693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0" name="Graphic 99">
            <a:extLst>
              <a:ext uri="{FF2B5EF4-FFF2-40B4-BE49-F238E27FC236}">
                <a16:creationId xmlns:a16="http://schemas.microsoft.com/office/drawing/2014/main" id="{F9C0D1AC-5102-DECE-3157-22227F13C6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19632" y="3598017"/>
            <a:ext cx="609600" cy="609600"/>
          </a:xfrm>
          <a:prstGeom prst="rect">
            <a:avLst/>
          </a:prstGeom>
        </p:spPr>
      </p:pic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C30507C-C1A0-5DFE-B8F4-1D0C2FDA6166}"/>
              </a:ext>
            </a:extLst>
          </p:cNvPr>
          <p:cNvGrpSpPr/>
          <p:nvPr/>
        </p:nvGrpSpPr>
        <p:grpSpPr>
          <a:xfrm>
            <a:off x="8219632" y="5218902"/>
            <a:ext cx="567740" cy="518197"/>
            <a:chOff x="11047413" y="6575425"/>
            <a:chExt cx="673100" cy="614363"/>
          </a:xfrm>
          <a:solidFill>
            <a:schemeClr val="bg1"/>
          </a:solidFill>
        </p:grpSpPr>
        <p:sp>
          <p:nvSpPr>
            <p:cNvPr id="108" name="Freeform 47">
              <a:extLst>
                <a:ext uri="{FF2B5EF4-FFF2-40B4-BE49-F238E27FC236}">
                  <a16:creationId xmlns:a16="http://schemas.microsoft.com/office/drawing/2014/main" id="{30448825-F358-943A-0BA7-456EBDF0CD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168063" y="6575425"/>
              <a:ext cx="549275" cy="107950"/>
            </a:xfrm>
            <a:custGeom>
              <a:avLst/>
              <a:gdLst>
                <a:gd name="T0" fmla="*/ 4 w 146"/>
                <a:gd name="T1" fmla="*/ 29 h 29"/>
                <a:gd name="T2" fmla="*/ 142 w 146"/>
                <a:gd name="T3" fmla="*/ 29 h 29"/>
                <a:gd name="T4" fmla="*/ 142 w 146"/>
                <a:gd name="T5" fmla="*/ 29 h 29"/>
                <a:gd name="T6" fmla="*/ 146 w 146"/>
                <a:gd name="T7" fmla="*/ 25 h 29"/>
                <a:gd name="T8" fmla="*/ 144 w 146"/>
                <a:gd name="T9" fmla="*/ 22 h 29"/>
                <a:gd name="T10" fmla="*/ 122 w 146"/>
                <a:gd name="T11" fmla="*/ 1 h 29"/>
                <a:gd name="T12" fmla="*/ 120 w 146"/>
                <a:gd name="T13" fmla="*/ 0 h 29"/>
                <a:gd name="T14" fmla="*/ 26 w 146"/>
                <a:gd name="T15" fmla="*/ 0 h 29"/>
                <a:gd name="T16" fmla="*/ 24 w 146"/>
                <a:gd name="T17" fmla="*/ 1 h 29"/>
                <a:gd name="T18" fmla="*/ 1 w 146"/>
                <a:gd name="T19" fmla="*/ 23 h 29"/>
                <a:gd name="T20" fmla="*/ 0 w 146"/>
                <a:gd name="T21" fmla="*/ 27 h 29"/>
                <a:gd name="T22" fmla="*/ 4 w 146"/>
                <a:gd name="T23" fmla="*/ 29 h 29"/>
                <a:gd name="T24" fmla="*/ 28 w 146"/>
                <a:gd name="T25" fmla="*/ 7 h 29"/>
                <a:gd name="T26" fmla="*/ 118 w 146"/>
                <a:gd name="T27" fmla="*/ 7 h 29"/>
                <a:gd name="T28" fmla="*/ 133 w 146"/>
                <a:gd name="T29" fmla="*/ 22 h 29"/>
                <a:gd name="T30" fmla="*/ 13 w 146"/>
                <a:gd name="T31" fmla="*/ 22 h 29"/>
                <a:gd name="T32" fmla="*/ 28 w 146"/>
                <a:gd name="T33" fmla="*/ 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6" h="29">
                  <a:moveTo>
                    <a:pt x="4" y="29"/>
                  </a:moveTo>
                  <a:cubicBezTo>
                    <a:pt x="142" y="29"/>
                    <a:pt x="142" y="29"/>
                    <a:pt x="142" y="29"/>
                  </a:cubicBezTo>
                  <a:cubicBezTo>
                    <a:pt x="142" y="29"/>
                    <a:pt x="142" y="29"/>
                    <a:pt x="142" y="29"/>
                  </a:cubicBezTo>
                  <a:cubicBezTo>
                    <a:pt x="144" y="29"/>
                    <a:pt x="146" y="28"/>
                    <a:pt x="146" y="25"/>
                  </a:cubicBezTo>
                  <a:cubicBezTo>
                    <a:pt x="146" y="24"/>
                    <a:pt x="145" y="23"/>
                    <a:pt x="144" y="22"/>
                  </a:cubicBezTo>
                  <a:cubicBezTo>
                    <a:pt x="122" y="1"/>
                    <a:pt x="122" y="1"/>
                    <a:pt x="122" y="1"/>
                  </a:cubicBezTo>
                  <a:cubicBezTo>
                    <a:pt x="122" y="0"/>
                    <a:pt x="121" y="0"/>
                    <a:pt x="120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5" y="0"/>
                    <a:pt x="25" y="0"/>
                    <a:pt x="24" y="1"/>
                  </a:cubicBezTo>
                  <a:cubicBezTo>
                    <a:pt x="1" y="23"/>
                    <a:pt x="1" y="23"/>
                    <a:pt x="1" y="23"/>
                  </a:cubicBezTo>
                  <a:cubicBezTo>
                    <a:pt x="0" y="24"/>
                    <a:pt x="0" y="25"/>
                    <a:pt x="0" y="27"/>
                  </a:cubicBezTo>
                  <a:cubicBezTo>
                    <a:pt x="1" y="28"/>
                    <a:pt x="2" y="29"/>
                    <a:pt x="4" y="29"/>
                  </a:cubicBezTo>
                  <a:close/>
                  <a:moveTo>
                    <a:pt x="28" y="7"/>
                  </a:moveTo>
                  <a:cubicBezTo>
                    <a:pt x="118" y="7"/>
                    <a:pt x="118" y="7"/>
                    <a:pt x="118" y="7"/>
                  </a:cubicBezTo>
                  <a:cubicBezTo>
                    <a:pt x="133" y="22"/>
                    <a:pt x="133" y="22"/>
                    <a:pt x="133" y="22"/>
                  </a:cubicBezTo>
                  <a:cubicBezTo>
                    <a:pt x="13" y="22"/>
                    <a:pt x="13" y="22"/>
                    <a:pt x="13" y="22"/>
                  </a:cubicBezTo>
                  <a:lnTo>
                    <a:pt x="28" y="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>
                <a:latin typeface="Lato" panose="020F0502020204030203" pitchFamily="34" charset="0"/>
              </a:endParaRPr>
            </a:p>
          </p:txBody>
        </p:sp>
        <p:sp>
          <p:nvSpPr>
            <p:cNvPr id="109" name="Freeform 48">
              <a:extLst>
                <a:ext uri="{FF2B5EF4-FFF2-40B4-BE49-F238E27FC236}">
                  <a16:creationId xmlns:a16="http://schemas.microsoft.com/office/drawing/2014/main" id="{2D1ABC76-EB74-4951-2446-AD5B779928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47413" y="6964363"/>
              <a:ext cx="673100" cy="225425"/>
            </a:xfrm>
            <a:custGeom>
              <a:avLst/>
              <a:gdLst>
                <a:gd name="T0" fmla="*/ 173 w 179"/>
                <a:gd name="T1" fmla="*/ 13 h 60"/>
                <a:gd name="T2" fmla="*/ 160 w 179"/>
                <a:gd name="T3" fmla="*/ 12 h 60"/>
                <a:gd name="T4" fmla="*/ 131 w 179"/>
                <a:gd name="T5" fmla="*/ 25 h 60"/>
                <a:gd name="T6" fmla="*/ 124 w 179"/>
                <a:gd name="T7" fmla="*/ 21 h 60"/>
                <a:gd name="T8" fmla="*/ 83 w 179"/>
                <a:gd name="T9" fmla="*/ 9 h 60"/>
                <a:gd name="T10" fmla="*/ 38 w 179"/>
                <a:gd name="T11" fmla="*/ 9 h 60"/>
                <a:gd name="T12" fmla="*/ 38 w 179"/>
                <a:gd name="T13" fmla="*/ 4 h 60"/>
                <a:gd name="T14" fmla="*/ 34 w 179"/>
                <a:gd name="T15" fmla="*/ 0 h 60"/>
                <a:gd name="T16" fmla="*/ 4 w 179"/>
                <a:gd name="T17" fmla="*/ 0 h 60"/>
                <a:gd name="T18" fmla="*/ 0 w 179"/>
                <a:gd name="T19" fmla="*/ 4 h 60"/>
                <a:gd name="T20" fmla="*/ 0 w 179"/>
                <a:gd name="T21" fmla="*/ 57 h 60"/>
                <a:gd name="T22" fmla="*/ 4 w 179"/>
                <a:gd name="T23" fmla="*/ 60 h 60"/>
                <a:gd name="T24" fmla="*/ 34 w 179"/>
                <a:gd name="T25" fmla="*/ 60 h 60"/>
                <a:gd name="T26" fmla="*/ 38 w 179"/>
                <a:gd name="T27" fmla="*/ 57 h 60"/>
                <a:gd name="T28" fmla="*/ 38 w 179"/>
                <a:gd name="T29" fmla="*/ 49 h 60"/>
                <a:gd name="T30" fmla="*/ 38 w 179"/>
                <a:gd name="T31" fmla="*/ 49 h 60"/>
                <a:gd name="T32" fmla="*/ 54 w 179"/>
                <a:gd name="T33" fmla="*/ 47 h 60"/>
                <a:gd name="T34" fmla="*/ 107 w 179"/>
                <a:gd name="T35" fmla="*/ 59 h 60"/>
                <a:gd name="T36" fmla="*/ 127 w 179"/>
                <a:gd name="T37" fmla="*/ 56 h 60"/>
                <a:gd name="T38" fmla="*/ 171 w 179"/>
                <a:gd name="T39" fmla="*/ 36 h 60"/>
                <a:gd name="T40" fmla="*/ 179 w 179"/>
                <a:gd name="T41" fmla="*/ 25 h 60"/>
                <a:gd name="T42" fmla="*/ 173 w 179"/>
                <a:gd name="T43" fmla="*/ 13 h 60"/>
                <a:gd name="T44" fmla="*/ 30 w 179"/>
                <a:gd name="T45" fmla="*/ 53 h 60"/>
                <a:gd name="T46" fmla="*/ 8 w 179"/>
                <a:gd name="T47" fmla="*/ 53 h 60"/>
                <a:gd name="T48" fmla="*/ 8 w 179"/>
                <a:gd name="T49" fmla="*/ 8 h 60"/>
                <a:gd name="T50" fmla="*/ 30 w 179"/>
                <a:gd name="T51" fmla="*/ 8 h 60"/>
                <a:gd name="T52" fmla="*/ 30 w 179"/>
                <a:gd name="T53" fmla="*/ 53 h 60"/>
                <a:gd name="T54" fmla="*/ 168 w 179"/>
                <a:gd name="T55" fmla="*/ 29 h 60"/>
                <a:gd name="T56" fmla="*/ 124 w 179"/>
                <a:gd name="T57" fmla="*/ 49 h 60"/>
                <a:gd name="T58" fmla="*/ 57 w 179"/>
                <a:gd name="T59" fmla="*/ 40 h 60"/>
                <a:gd name="T60" fmla="*/ 38 w 179"/>
                <a:gd name="T61" fmla="*/ 41 h 60"/>
                <a:gd name="T62" fmla="*/ 38 w 179"/>
                <a:gd name="T63" fmla="*/ 16 h 60"/>
                <a:gd name="T64" fmla="*/ 81 w 179"/>
                <a:gd name="T65" fmla="*/ 16 h 60"/>
                <a:gd name="T66" fmla="*/ 122 w 179"/>
                <a:gd name="T67" fmla="*/ 28 h 60"/>
                <a:gd name="T68" fmla="*/ 126 w 179"/>
                <a:gd name="T69" fmla="*/ 31 h 60"/>
                <a:gd name="T70" fmla="*/ 126 w 179"/>
                <a:gd name="T71" fmla="*/ 32 h 60"/>
                <a:gd name="T72" fmla="*/ 126 w 179"/>
                <a:gd name="T73" fmla="*/ 32 h 60"/>
                <a:gd name="T74" fmla="*/ 126 w 179"/>
                <a:gd name="T75" fmla="*/ 35 h 60"/>
                <a:gd name="T76" fmla="*/ 124 w 179"/>
                <a:gd name="T77" fmla="*/ 39 h 60"/>
                <a:gd name="T78" fmla="*/ 119 w 179"/>
                <a:gd name="T79" fmla="*/ 39 h 60"/>
                <a:gd name="T80" fmla="*/ 76 w 179"/>
                <a:gd name="T81" fmla="*/ 26 h 60"/>
                <a:gd name="T82" fmla="*/ 71 w 179"/>
                <a:gd name="T83" fmla="*/ 29 h 60"/>
                <a:gd name="T84" fmla="*/ 74 w 179"/>
                <a:gd name="T85" fmla="*/ 34 h 60"/>
                <a:gd name="T86" fmla="*/ 117 w 179"/>
                <a:gd name="T87" fmla="*/ 46 h 60"/>
                <a:gd name="T88" fmla="*/ 121 w 179"/>
                <a:gd name="T89" fmla="*/ 47 h 60"/>
                <a:gd name="T90" fmla="*/ 128 w 179"/>
                <a:gd name="T91" fmla="*/ 45 h 60"/>
                <a:gd name="T92" fmla="*/ 133 w 179"/>
                <a:gd name="T93" fmla="*/ 38 h 60"/>
                <a:gd name="T94" fmla="*/ 134 w 179"/>
                <a:gd name="T95" fmla="*/ 32 h 60"/>
                <a:gd name="T96" fmla="*/ 163 w 179"/>
                <a:gd name="T97" fmla="*/ 19 h 60"/>
                <a:gd name="T98" fmla="*/ 169 w 179"/>
                <a:gd name="T99" fmla="*/ 19 h 60"/>
                <a:gd name="T100" fmla="*/ 171 w 179"/>
                <a:gd name="T101" fmla="*/ 25 h 60"/>
                <a:gd name="T102" fmla="*/ 168 w 179"/>
                <a:gd name="T103" fmla="*/ 29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79" h="60">
                  <a:moveTo>
                    <a:pt x="173" y="13"/>
                  </a:moveTo>
                  <a:cubicBezTo>
                    <a:pt x="169" y="10"/>
                    <a:pt x="165" y="10"/>
                    <a:pt x="160" y="12"/>
                  </a:cubicBezTo>
                  <a:cubicBezTo>
                    <a:pt x="131" y="25"/>
                    <a:pt x="131" y="25"/>
                    <a:pt x="131" y="25"/>
                  </a:cubicBezTo>
                  <a:cubicBezTo>
                    <a:pt x="129" y="24"/>
                    <a:pt x="127" y="22"/>
                    <a:pt x="124" y="21"/>
                  </a:cubicBezTo>
                  <a:cubicBezTo>
                    <a:pt x="83" y="9"/>
                    <a:pt x="83" y="9"/>
                    <a:pt x="83" y="9"/>
                  </a:cubicBezTo>
                  <a:cubicBezTo>
                    <a:pt x="76" y="7"/>
                    <a:pt x="57" y="6"/>
                    <a:pt x="38" y="9"/>
                  </a:cubicBezTo>
                  <a:cubicBezTo>
                    <a:pt x="38" y="4"/>
                    <a:pt x="38" y="4"/>
                    <a:pt x="38" y="4"/>
                  </a:cubicBezTo>
                  <a:cubicBezTo>
                    <a:pt x="38" y="2"/>
                    <a:pt x="36" y="0"/>
                    <a:pt x="3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57"/>
                    <a:pt x="0" y="57"/>
                    <a:pt x="0" y="57"/>
                  </a:cubicBezTo>
                  <a:cubicBezTo>
                    <a:pt x="0" y="59"/>
                    <a:pt x="2" y="60"/>
                    <a:pt x="4" y="60"/>
                  </a:cubicBezTo>
                  <a:cubicBezTo>
                    <a:pt x="34" y="60"/>
                    <a:pt x="34" y="60"/>
                    <a:pt x="34" y="60"/>
                  </a:cubicBezTo>
                  <a:cubicBezTo>
                    <a:pt x="36" y="60"/>
                    <a:pt x="38" y="59"/>
                    <a:pt x="38" y="57"/>
                  </a:cubicBezTo>
                  <a:cubicBezTo>
                    <a:pt x="38" y="49"/>
                    <a:pt x="38" y="49"/>
                    <a:pt x="38" y="49"/>
                  </a:cubicBezTo>
                  <a:cubicBezTo>
                    <a:pt x="38" y="49"/>
                    <a:pt x="38" y="49"/>
                    <a:pt x="38" y="49"/>
                  </a:cubicBezTo>
                  <a:cubicBezTo>
                    <a:pt x="43" y="47"/>
                    <a:pt x="50" y="45"/>
                    <a:pt x="54" y="47"/>
                  </a:cubicBezTo>
                  <a:cubicBezTo>
                    <a:pt x="74" y="56"/>
                    <a:pt x="93" y="59"/>
                    <a:pt x="107" y="59"/>
                  </a:cubicBezTo>
                  <a:cubicBezTo>
                    <a:pt x="116" y="59"/>
                    <a:pt x="124" y="57"/>
                    <a:pt x="127" y="56"/>
                  </a:cubicBezTo>
                  <a:cubicBezTo>
                    <a:pt x="171" y="36"/>
                    <a:pt x="171" y="36"/>
                    <a:pt x="171" y="36"/>
                  </a:cubicBezTo>
                  <a:cubicBezTo>
                    <a:pt x="175" y="34"/>
                    <a:pt x="178" y="30"/>
                    <a:pt x="179" y="25"/>
                  </a:cubicBezTo>
                  <a:cubicBezTo>
                    <a:pt x="179" y="21"/>
                    <a:pt x="177" y="16"/>
                    <a:pt x="173" y="13"/>
                  </a:cubicBezTo>
                  <a:close/>
                  <a:moveTo>
                    <a:pt x="30" y="53"/>
                  </a:moveTo>
                  <a:cubicBezTo>
                    <a:pt x="8" y="53"/>
                    <a:pt x="8" y="53"/>
                    <a:pt x="8" y="53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30" y="8"/>
                    <a:pt x="30" y="8"/>
                    <a:pt x="30" y="8"/>
                  </a:cubicBezTo>
                  <a:lnTo>
                    <a:pt x="30" y="53"/>
                  </a:lnTo>
                  <a:close/>
                  <a:moveTo>
                    <a:pt x="168" y="2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18" y="52"/>
                    <a:pt x="90" y="55"/>
                    <a:pt x="57" y="40"/>
                  </a:cubicBezTo>
                  <a:cubicBezTo>
                    <a:pt x="52" y="37"/>
                    <a:pt x="44" y="39"/>
                    <a:pt x="38" y="41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57" y="13"/>
                    <a:pt x="75" y="15"/>
                    <a:pt x="81" y="16"/>
                  </a:cubicBezTo>
                  <a:cubicBezTo>
                    <a:pt x="122" y="28"/>
                    <a:pt x="122" y="28"/>
                    <a:pt x="122" y="28"/>
                  </a:cubicBezTo>
                  <a:cubicBezTo>
                    <a:pt x="124" y="29"/>
                    <a:pt x="125" y="30"/>
                    <a:pt x="126" y="31"/>
                  </a:cubicBezTo>
                  <a:cubicBezTo>
                    <a:pt x="126" y="31"/>
                    <a:pt x="126" y="32"/>
                    <a:pt x="126" y="32"/>
                  </a:cubicBezTo>
                  <a:cubicBezTo>
                    <a:pt x="126" y="32"/>
                    <a:pt x="126" y="32"/>
                    <a:pt x="126" y="32"/>
                  </a:cubicBezTo>
                  <a:cubicBezTo>
                    <a:pt x="126" y="33"/>
                    <a:pt x="126" y="34"/>
                    <a:pt x="126" y="35"/>
                  </a:cubicBezTo>
                  <a:cubicBezTo>
                    <a:pt x="126" y="37"/>
                    <a:pt x="125" y="38"/>
                    <a:pt x="124" y="39"/>
                  </a:cubicBezTo>
                  <a:cubicBezTo>
                    <a:pt x="122" y="40"/>
                    <a:pt x="121" y="40"/>
                    <a:pt x="119" y="39"/>
                  </a:cubicBezTo>
                  <a:cubicBezTo>
                    <a:pt x="76" y="26"/>
                    <a:pt x="76" y="26"/>
                    <a:pt x="76" y="26"/>
                  </a:cubicBezTo>
                  <a:cubicBezTo>
                    <a:pt x="74" y="26"/>
                    <a:pt x="72" y="27"/>
                    <a:pt x="71" y="29"/>
                  </a:cubicBezTo>
                  <a:cubicBezTo>
                    <a:pt x="71" y="31"/>
                    <a:pt x="72" y="33"/>
                    <a:pt x="74" y="34"/>
                  </a:cubicBezTo>
                  <a:cubicBezTo>
                    <a:pt x="117" y="46"/>
                    <a:pt x="117" y="46"/>
                    <a:pt x="117" y="46"/>
                  </a:cubicBezTo>
                  <a:cubicBezTo>
                    <a:pt x="118" y="47"/>
                    <a:pt x="120" y="47"/>
                    <a:pt x="121" y="47"/>
                  </a:cubicBezTo>
                  <a:cubicBezTo>
                    <a:pt x="123" y="47"/>
                    <a:pt x="126" y="46"/>
                    <a:pt x="128" y="45"/>
                  </a:cubicBezTo>
                  <a:cubicBezTo>
                    <a:pt x="130" y="43"/>
                    <a:pt x="132" y="41"/>
                    <a:pt x="133" y="38"/>
                  </a:cubicBezTo>
                  <a:cubicBezTo>
                    <a:pt x="134" y="36"/>
                    <a:pt x="134" y="34"/>
                    <a:pt x="134" y="32"/>
                  </a:cubicBezTo>
                  <a:cubicBezTo>
                    <a:pt x="163" y="19"/>
                    <a:pt x="163" y="19"/>
                    <a:pt x="163" y="19"/>
                  </a:cubicBezTo>
                  <a:cubicBezTo>
                    <a:pt x="165" y="18"/>
                    <a:pt x="167" y="18"/>
                    <a:pt x="169" y="19"/>
                  </a:cubicBezTo>
                  <a:cubicBezTo>
                    <a:pt x="170" y="20"/>
                    <a:pt x="171" y="23"/>
                    <a:pt x="171" y="25"/>
                  </a:cubicBezTo>
                  <a:cubicBezTo>
                    <a:pt x="171" y="27"/>
                    <a:pt x="170" y="28"/>
                    <a:pt x="168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>
                <a:latin typeface="Lato" panose="020F0502020204030203" pitchFamily="34" charset="0"/>
              </a:endParaRPr>
            </a:p>
          </p:txBody>
        </p:sp>
        <p:sp>
          <p:nvSpPr>
            <p:cNvPr id="110" name="Freeform 49">
              <a:extLst>
                <a:ext uri="{FF2B5EF4-FFF2-40B4-BE49-F238E27FC236}">
                  <a16:creationId xmlns:a16="http://schemas.microsoft.com/office/drawing/2014/main" id="{ADF02C24-8264-CBC8-9E1C-ACB0DE33EC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68063" y="6710363"/>
              <a:ext cx="549275" cy="85725"/>
            </a:xfrm>
            <a:custGeom>
              <a:avLst/>
              <a:gdLst>
                <a:gd name="T0" fmla="*/ 22 w 146"/>
                <a:gd name="T1" fmla="*/ 2 h 23"/>
                <a:gd name="T2" fmla="*/ 16 w 146"/>
                <a:gd name="T3" fmla="*/ 2 h 23"/>
                <a:gd name="T4" fmla="*/ 1 w 146"/>
                <a:gd name="T5" fmla="*/ 17 h 23"/>
                <a:gd name="T6" fmla="*/ 0 w 146"/>
                <a:gd name="T7" fmla="*/ 21 h 23"/>
                <a:gd name="T8" fmla="*/ 4 w 146"/>
                <a:gd name="T9" fmla="*/ 23 h 23"/>
                <a:gd name="T10" fmla="*/ 142 w 146"/>
                <a:gd name="T11" fmla="*/ 23 h 23"/>
                <a:gd name="T12" fmla="*/ 146 w 146"/>
                <a:gd name="T13" fmla="*/ 21 h 23"/>
                <a:gd name="T14" fmla="*/ 145 w 146"/>
                <a:gd name="T15" fmla="*/ 17 h 23"/>
                <a:gd name="T16" fmla="*/ 130 w 146"/>
                <a:gd name="T17" fmla="*/ 2 h 23"/>
                <a:gd name="T18" fmla="*/ 124 w 146"/>
                <a:gd name="T19" fmla="*/ 2 h 23"/>
                <a:gd name="T20" fmla="*/ 124 w 146"/>
                <a:gd name="T21" fmla="*/ 7 h 23"/>
                <a:gd name="T22" fmla="*/ 133 w 146"/>
                <a:gd name="T23" fmla="*/ 16 h 23"/>
                <a:gd name="T24" fmla="*/ 13 w 146"/>
                <a:gd name="T25" fmla="*/ 16 h 23"/>
                <a:gd name="T26" fmla="*/ 22 w 146"/>
                <a:gd name="T27" fmla="*/ 7 h 23"/>
                <a:gd name="T28" fmla="*/ 22 w 146"/>
                <a:gd name="T29" fmla="*/ 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46" h="23">
                  <a:moveTo>
                    <a:pt x="22" y="2"/>
                  </a:moveTo>
                  <a:cubicBezTo>
                    <a:pt x="20" y="1"/>
                    <a:pt x="18" y="0"/>
                    <a:pt x="16" y="2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0" y="18"/>
                    <a:pt x="0" y="19"/>
                    <a:pt x="0" y="21"/>
                  </a:cubicBezTo>
                  <a:cubicBezTo>
                    <a:pt x="1" y="22"/>
                    <a:pt x="2" y="23"/>
                    <a:pt x="4" y="23"/>
                  </a:cubicBezTo>
                  <a:cubicBezTo>
                    <a:pt x="142" y="23"/>
                    <a:pt x="142" y="23"/>
                    <a:pt x="142" y="23"/>
                  </a:cubicBezTo>
                  <a:cubicBezTo>
                    <a:pt x="144" y="23"/>
                    <a:pt x="145" y="22"/>
                    <a:pt x="146" y="21"/>
                  </a:cubicBezTo>
                  <a:cubicBezTo>
                    <a:pt x="146" y="19"/>
                    <a:pt x="146" y="18"/>
                    <a:pt x="145" y="17"/>
                  </a:cubicBezTo>
                  <a:cubicBezTo>
                    <a:pt x="130" y="2"/>
                    <a:pt x="130" y="2"/>
                    <a:pt x="130" y="2"/>
                  </a:cubicBezTo>
                  <a:cubicBezTo>
                    <a:pt x="128" y="0"/>
                    <a:pt x="126" y="0"/>
                    <a:pt x="124" y="2"/>
                  </a:cubicBezTo>
                  <a:cubicBezTo>
                    <a:pt x="123" y="3"/>
                    <a:pt x="123" y="6"/>
                    <a:pt x="124" y="7"/>
                  </a:cubicBezTo>
                  <a:cubicBezTo>
                    <a:pt x="133" y="16"/>
                    <a:pt x="133" y="16"/>
                    <a:pt x="133" y="16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3" y="6"/>
                    <a:pt x="23" y="3"/>
                    <a:pt x="22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>
                <a:latin typeface="Lato" panose="020F0502020204030203" pitchFamily="34" charset="0"/>
              </a:endParaRPr>
            </a:p>
          </p:txBody>
        </p:sp>
        <p:sp>
          <p:nvSpPr>
            <p:cNvPr id="111" name="Freeform 50">
              <a:extLst>
                <a:ext uri="{FF2B5EF4-FFF2-40B4-BE49-F238E27FC236}">
                  <a16:creationId xmlns:a16="http://schemas.microsoft.com/office/drawing/2014/main" id="{7F156572-C52B-2D8D-5F23-FE3E3DB0C3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68063" y="6823075"/>
              <a:ext cx="549275" cy="85725"/>
            </a:xfrm>
            <a:custGeom>
              <a:avLst/>
              <a:gdLst>
                <a:gd name="T0" fmla="*/ 4 w 146"/>
                <a:gd name="T1" fmla="*/ 23 h 23"/>
                <a:gd name="T2" fmla="*/ 142 w 146"/>
                <a:gd name="T3" fmla="*/ 23 h 23"/>
                <a:gd name="T4" fmla="*/ 146 w 146"/>
                <a:gd name="T5" fmla="*/ 21 h 23"/>
                <a:gd name="T6" fmla="*/ 145 w 146"/>
                <a:gd name="T7" fmla="*/ 17 h 23"/>
                <a:gd name="T8" fmla="*/ 130 w 146"/>
                <a:gd name="T9" fmla="*/ 2 h 23"/>
                <a:gd name="T10" fmla="*/ 124 w 146"/>
                <a:gd name="T11" fmla="*/ 2 h 23"/>
                <a:gd name="T12" fmla="*/ 124 w 146"/>
                <a:gd name="T13" fmla="*/ 7 h 23"/>
                <a:gd name="T14" fmla="*/ 133 w 146"/>
                <a:gd name="T15" fmla="*/ 16 h 23"/>
                <a:gd name="T16" fmla="*/ 13 w 146"/>
                <a:gd name="T17" fmla="*/ 16 h 23"/>
                <a:gd name="T18" fmla="*/ 22 w 146"/>
                <a:gd name="T19" fmla="*/ 7 h 23"/>
                <a:gd name="T20" fmla="*/ 22 w 146"/>
                <a:gd name="T21" fmla="*/ 2 h 23"/>
                <a:gd name="T22" fmla="*/ 16 w 146"/>
                <a:gd name="T23" fmla="*/ 2 h 23"/>
                <a:gd name="T24" fmla="*/ 1 w 146"/>
                <a:gd name="T25" fmla="*/ 17 h 23"/>
                <a:gd name="T26" fmla="*/ 0 w 146"/>
                <a:gd name="T27" fmla="*/ 21 h 23"/>
                <a:gd name="T28" fmla="*/ 4 w 146"/>
                <a:gd name="T29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46" h="23">
                  <a:moveTo>
                    <a:pt x="4" y="23"/>
                  </a:moveTo>
                  <a:cubicBezTo>
                    <a:pt x="142" y="23"/>
                    <a:pt x="142" y="23"/>
                    <a:pt x="142" y="23"/>
                  </a:cubicBezTo>
                  <a:cubicBezTo>
                    <a:pt x="144" y="23"/>
                    <a:pt x="145" y="22"/>
                    <a:pt x="146" y="21"/>
                  </a:cubicBezTo>
                  <a:cubicBezTo>
                    <a:pt x="146" y="19"/>
                    <a:pt x="146" y="18"/>
                    <a:pt x="145" y="17"/>
                  </a:cubicBezTo>
                  <a:cubicBezTo>
                    <a:pt x="130" y="2"/>
                    <a:pt x="130" y="2"/>
                    <a:pt x="130" y="2"/>
                  </a:cubicBezTo>
                  <a:cubicBezTo>
                    <a:pt x="128" y="0"/>
                    <a:pt x="126" y="0"/>
                    <a:pt x="124" y="2"/>
                  </a:cubicBezTo>
                  <a:cubicBezTo>
                    <a:pt x="123" y="3"/>
                    <a:pt x="123" y="6"/>
                    <a:pt x="124" y="7"/>
                  </a:cubicBezTo>
                  <a:cubicBezTo>
                    <a:pt x="133" y="16"/>
                    <a:pt x="133" y="16"/>
                    <a:pt x="133" y="16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3" y="6"/>
                    <a:pt x="23" y="3"/>
                    <a:pt x="22" y="2"/>
                  </a:cubicBezTo>
                  <a:cubicBezTo>
                    <a:pt x="20" y="0"/>
                    <a:pt x="18" y="0"/>
                    <a:pt x="16" y="2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0" y="18"/>
                    <a:pt x="0" y="19"/>
                    <a:pt x="0" y="21"/>
                  </a:cubicBezTo>
                  <a:cubicBezTo>
                    <a:pt x="1" y="22"/>
                    <a:pt x="2" y="23"/>
                    <a:pt x="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45720" tIns="22860" rIns="45720" bIns="2286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>
                <a:latin typeface="Lato" panose="020F0502020204030203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85D1DD71-C780-593C-3B23-DD5C8CB4E5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F88319-BDCC-7396-CEE7-6439C7161F85}"/>
              </a:ext>
            </a:extLst>
          </p:cNvPr>
          <p:cNvSpPr>
            <a:spLocks noGrp="1"/>
          </p:cNvSpPr>
          <p:nvPr/>
        </p:nvSpPr>
        <p:spPr>
          <a:xfrm>
            <a:off x="685800" y="1157107"/>
            <a:ext cx="971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dirty="0">
                <a:solidFill>
                  <a:schemeClr val="bg2">
                    <a:lumMod val="25000"/>
                  </a:schemeClr>
                </a:solidFill>
                <a:latin typeface="Calibri"/>
                <a:ea typeface="Calibri"/>
                <a:cs typeface="Calibri"/>
              </a:rPr>
              <a:t>List of all main features</a:t>
            </a:r>
          </a:p>
        </p:txBody>
      </p:sp>
    </p:spTree>
    <p:extLst>
      <p:ext uri="{BB962C8B-B14F-4D97-AF65-F5344CB8AC3E}">
        <p14:creationId xmlns:p14="http://schemas.microsoft.com/office/powerpoint/2010/main" val="114860938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B64D364-65D5-4791-9627-0F912CE0F564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US"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The foundational layers of AMIDS Compass</a:t>
            </a:r>
            <a:endParaRPr sz="2700" b="1" dirty="0">
              <a:solidFill>
                <a:srgbClr val="1020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E33D30-CB9A-40AF-97B9-BEA619FF351B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Connecting 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interface, local services, approved page data, model routing, persistence, scraping, and review workflows.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2FBF8D-21DB-4F26-9421-154CD6210B5B}"/>
              </a:ext>
            </a:extLst>
          </p:cNvPr>
          <p:cNvSpPr>
            <a:spLocks noGrp="1"/>
          </p:cNvSpPr>
          <p:nvPr/>
        </p:nvSpPr>
        <p:spPr>
          <a:xfrm>
            <a:off x="952500" y="1943100"/>
            <a:ext cx="4762500" cy="13144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8F9FDD-C0E7-44C3-8FBE-5735DBB78E86}"/>
              </a:ext>
            </a:extLst>
          </p:cNvPr>
          <p:cNvSpPr>
            <a:spLocks noGrp="1"/>
          </p:cNvSpPr>
          <p:nvPr/>
        </p:nvSpPr>
        <p:spPr>
          <a:xfrm>
            <a:off x="952500" y="1943100"/>
            <a:ext cx="66675" cy="129540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7E375F-689C-45F9-B4D1-00F862058287}"/>
              </a:ext>
            </a:extLst>
          </p:cNvPr>
          <p:cNvSpPr>
            <a:spLocks noGrp="1"/>
          </p:cNvSpPr>
          <p:nvPr/>
        </p:nvSpPr>
        <p:spPr>
          <a:xfrm>
            <a:off x="1181100" y="2152650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React control panel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2C6400-A8B1-4293-B2EF-C00FAE01F8CD}"/>
              </a:ext>
            </a:extLst>
          </p:cNvPr>
          <p:cNvSpPr>
            <a:spLocks noGrp="1"/>
          </p:cNvSpPr>
          <p:nvPr/>
        </p:nvSpPr>
        <p:spPr>
          <a:xfrm>
            <a:off x="1181100" y="2533650"/>
            <a:ext cx="430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Assistant, pins, grouped page buttons, role essentials, page workspace, dark mode.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4C0C0EA-E788-47A1-BB9C-323BDC8E09BB}"/>
              </a:ext>
            </a:extLst>
          </p:cNvPr>
          <p:cNvSpPr>
            <a:spLocks noGrp="1"/>
          </p:cNvSpPr>
          <p:nvPr/>
        </p:nvSpPr>
        <p:spPr>
          <a:xfrm>
            <a:off x="6248400" y="1943100"/>
            <a:ext cx="4762500" cy="12954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5071B-215A-4A88-8AF0-703B1ECEB6DC}"/>
              </a:ext>
            </a:extLst>
          </p:cNvPr>
          <p:cNvSpPr>
            <a:spLocks noGrp="1"/>
          </p:cNvSpPr>
          <p:nvPr/>
        </p:nvSpPr>
        <p:spPr>
          <a:xfrm>
            <a:off x="6248400" y="1943100"/>
            <a:ext cx="66675" cy="129540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164B7A-2C05-4F95-973B-BB2F862A30C7}"/>
              </a:ext>
            </a:extLst>
          </p:cNvPr>
          <p:cNvSpPr>
            <a:spLocks noGrp="1"/>
          </p:cNvSpPr>
          <p:nvPr/>
        </p:nvSpPr>
        <p:spPr>
          <a:xfrm>
            <a:off x="6477000" y="21526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Node gateway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26249E-8DCF-471A-8D03-B35D7CABEA4E}"/>
              </a:ext>
            </a:extLst>
          </p:cNvPr>
          <p:cNvSpPr>
            <a:spLocks noGrp="1"/>
          </p:cNvSpPr>
          <p:nvPr/>
        </p:nvSpPr>
        <p:spPr>
          <a:xfrm>
            <a:off x="6477000" y="2533650"/>
            <a:ext cx="4305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Authentication surface, route validation, event recording, assistant orchestration.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A03707A-3AA1-4158-87D2-635CA6E9C3A4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4762500" cy="1276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49D7D2-2711-43A2-95CC-54BF22A632A7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66675" cy="127635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F21BD1-F661-4344-9239-0033A2B2F797}"/>
              </a:ext>
            </a:extLst>
          </p:cNvPr>
          <p:cNvSpPr>
            <a:spLocks noGrp="1"/>
          </p:cNvSpPr>
          <p:nvPr/>
        </p:nvSpPr>
        <p:spPr>
          <a:xfrm>
            <a:off x="1181100" y="3676650"/>
            <a:ext cx="4305300" cy="35454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US"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Local </a:t>
            </a:r>
            <a:r>
              <a:rPr sz="1650" b="1" dirty="0" err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PyTorch</a:t>
            </a: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 ranker</a:t>
            </a:r>
            <a:r>
              <a:rPr lang="en-US"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 AI</a:t>
            </a: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 API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7AE423-5295-472A-9C58-72FC0FFDF3F3}"/>
              </a:ext>
            </a:extLst>
          </p:cNvPr>
          <p:cNvSpPr>
            <a:spLocks noGrp="1"/>
          </p:cNvSpPr>
          <p:nvPr/>
        </p:nvSpPr>
        <p:spPr>
          <a:xfrm>
            <a:off x="1181100" y="4057650"/>
            <a:ext cx="4305300" cy="3309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Lexical model, semantic encoder, scope handling, arbitration, diagnostics.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2743482-7635-4741-8B14-899616C01C50}"/>
              </a:ext>
            </a:extLst>
          </p:cNvPr>
          <p:cNvSpPr>
            <a:spLocks noGrp="1"/>
          </p:cNvSpPr>
          <p:nvPr/>
        </p:nvSpPr>
        <p:spPr>
          <a:xfrm>
            <a:off x="6248400" y="3516842"/>
            <a:ext cx="4762500" cy="122660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F13A0A-BD45-4951-B57D-B73ABB68E505}"/>
              </a:ext>
            </a:extLst>
          </p:cNvPr>
          <p:cNvSpPr>
            <a:spLocks noGrp="1"/>
          </p:cNvSpPr>
          <p:nvPr/>
        </p:nvSpPr>
        <p:spPr>
          <a:xfrm>
            <a:off x="6235336" y="3532082"/>
            <a:ext cx="66675" cy="1226608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4F74D2-A341-4E60-8990-3A9C989E1E24}"/>
              </a:ext>
            </a:extLst>
          </p:cNvPr>
          <p:cNvSpPr>
            <a:spLocks noGrp="1"/>
          </p:cNvSpPr>
          <p:nvPr/>
        </p:nvSpPr>
        <p:spPr>
          <a:xfrm>
            <a:off x="6477000" y="3726392"/>
            <a:ext cx="4305300" cy="3407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PostgreSQL foundation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695D8-0327-49CF-8CA5-59C4A7D42900}"/>
              </a:ext>
            </a:extLst>
          </p:cNvPr>
          <p:cNvSpPr>
            <a:spLocks noGrp="1"/>
          </p:cNvSpPr>
          <p:nvPr/>
        </p:nvSpPr>
        <p:spPr>
          <a:xfrm>
            <a:off x="6477000" y="4107391"/>
            <a:ext cx="4305300" cy="31800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Users, sessions, profiles, route events, pinned pages, preferences.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B55053A-0FE2-4C34-9560-FD3B77BE9E8D}"/>
              </a:ext>
            </a:extLst>
          </p:cNvPr>
          <p:cNvSpPr>
            <a:spLocks noGrp="1"/>
          </p:cNvSpPr>
          <p:nvPr/>
        </p:nvSpPr>
        <p:spPr>
          <a:xfrm>
            <a:off x="952500" y="4914899"/>
            <a:ext cx="4762500" cy="1285875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E924337-1F9A-4B1E-A0E7-A54C70F56F57}"/>
              </a:ext>
            </a:extLst>
          </p:cNvPr>
          <p:cNvSpPr>
            <a:spLocks noGrp="1"/>
          </p:cNvSpPr>
          <p:nvPr/>
        </p:nvSpPr>
        <p:spPr>
          <a:xfrm>
            <a:off x="952500" y="4914899"/>
            <a:ext cx="66675" cy="1285875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119C6E-F235-488E-8348-DD7EF9ABD41C}"/>
              </a:ext>
            </a:extLst>
          </p:cNvPr>
          <p:cNvSpPr>
            <a:spLocks noGrp="1"/>
          </p:cNvSpPr>
          <p:nvPr/>
        </p:nvSpPr>
        <p:spPr>
          <a:xfrm>
            <a:off x="1181100" y="5124450"/>
            <a:ext cx="4305300" cy="3571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Scraper worker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75F047-F5C4-496F-949B-35A84CCA1F19}"/>
              </a:ext>
            </a:extLst>
          </p:cNvPr>
          <p:cNvSpPr>
            <a:spLocks noGrp="1"/>
          </p:cNvSpPr>
          <p:nvPr/>
        </p:nvSpPr>
        <p:spPr>
          <a:xfrm>
            <a:off x="1181100" y="5505449"/>
            <a:ext cx="43053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Certificate-profile/CDP workflow, flight option CSVs, OCR, runtime keyword sources.</a:t>
            </a:r>
          </a:p>
        </p:txBody>
      </p:sp>
      <p:sp>
        <p:nvSpPr>
          <p:cNvPr id="29" name="Text Placeholder 81">
            <a:extLst>
              <a:ext uri="{FF2B5EF4-FFF2-40B4-BE49-F238E27FC236}">
                <a16:creationId xmlns:a16="http://schemas.microsoft.com/office/drawing/2014/main" id="{E3DC5DF3-0731-3ECC-1713-1DF0403EEE2D}"/>
              </a:ext>
            </a:extLst>
          </p:cNvPr>
          <p:cNvSpPr txBox="1">
            <a:spLocks/>
          </p:cNvSpPr>
          <p:nvPr/>
        </p:nvSpPr>
        <p:spPr>
          <a:xfrm>
            <a:off x="685800" y="356738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THE ARCHITECTURE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3C9114C-B81E-D2A1-4823-C10B723924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32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7FE852C-4E61-480E-A969-59A02F9EE6BC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US"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Local-first </a:t>
            </a:r>
            <a:r>
              <a:rPr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orchestration</a:t>
            </a:r>
            <a:r>
              <a:rPr lang="en-US"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: The Architecture</a:t>
            </a:r>
            <a:endParaRPr sz="2700" b="1" dirty="0">
              <a:solidFill>
                <a:srgbClr val="1020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385F4B-BBF0-47D8-9BA7-F7122E340B74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React handles the user experience; local services validate, resolve, rank, record, and scrape.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42FF6D-3B46-40A6-95E3-E1CEA13F10C9}"/>
              </a:ext>
            </a:extLst>
          </p:cNvPr>
          <p:cNvSpPr>
            <a:spLocks noGrp="1"/>
          </p:cNvSpPr>
          <p:nvPr/>
        </p:nvSpPr>
        <p:spPr>
          <a:xfrm>
            <a:off x="666750" y="2266950"/>
            <a:ext cx="17716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643C68-01D6-4447-8B34-E0896DD50D94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React UI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F7FD0E-1FD1-4FF9-9B75-8480BC0F0681}"/>
              </a:ext>
            </a:extLst>
          </p:cNvPr>
          <p:cNvSpPr>
            <a:spLocks noGrp="1"/>
          </p:cNvSpPr>
          <p:nvPr/>
        </p:nvSpPr>
        <p:spPr>
          <a:xfrm>
            <a:off x="838200" y="293370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 dirty="0">
                <a:latin typeface="Calibri"/>
                <a:ea typeface="Calibri"/>
                <a:cs typeface="Calibri"/>
              </a:rPr>
              <a:t>Ask, pin, review,</a:t>
            </a:r>
          </a:p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 dirty="0">
                <a:latin typeface="Calibri"/>
                <a:ea typeface="Calibri"/>
                <a:cs typeface="Calibri"/>
              </a:rPr>
              <a:t>open page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72B6D8-47F7-4E6C-A208-5C7645865889}"/>
              </a:ext>
            </a:extLst>
          </p:cNvPr>
          <p:cNvSpPr>
            <a:spLocks noGrp="1"/>
          </p:cNvSpPr>
          <p:nvPr/>
        </p:nvSpPr>
        <p:spPr>
          <a:xfrm>
            <a:off x="2552700" y="281940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0AAC397-E260-4993-AD76-13E7F0346EA3}"/>
              </a:ext>
            </a:extLst>
          </p:cNvPr>
          <p:cNvSpPr>
            <a:spLocks noGrp="1"/>
          </p:cNvSpPr>
          <p:nvPr/>
        </p:nvSpPr>
        <p:spPr>
          <a:xfrm>
            <a:off x="2933700" y="2266950"/>
            <a:ext cx="17716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3DE026-4D22-4713-A5EA-1C92B8200C65}"/>
              </a:ext>
            </a:extLst>
          </p:cNvPr>
          <p:cNvSpPr>
            <a:spLocks noGrp="1"/>
          </p:cNvSpPr>
          <p:nvPr/>
        </p:nvSpPr>
        <p:spPr>
          <a:xfrm>
            <a:off x="3105150" y="25146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Node gateway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4A05E8-8E87-413B-9D4A-44E470317A83}"/>
              </a:ext>
            </a:extLst>
          </p:cNvPr>
          <p:cNvSpPr>
            <a:spLocks noGrp="1"/>
          </p:cNvSpPr>
          <p:nvPr/>
        </p:nvSpPr>
        <p:spPr>
          <a:xfrm>
            <a:off x="3051266" y="2933700"/>
            <a:ext cx="1543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 dirty="0">
                <a:latin typeface="Calibri"/>
                <a:ea typeface="Calibri"/>
                <a:cs typeface="Calibri"/>
              </a:rPr>
              <a:t>Auth, validation,</a:t>
            </a:r>
          </a:p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US" sz="1200" dirty="0">
                <a:latin typeface="Calibri"/>
                <a:ea typeface="Calibri"/>
                <a:cs typeface="Calibri"/>
              </a:rPr>
              <a:t>page opening</a:t>
            </a:r>
            <a:r>
              <a:rPr sz="1200" dirty="0">
                <a:latin typeface="Calibri"/>
                <a:ea typeface="Calibri"/>
                <a:cs typeface="Calibri"/>
              </a:rPr>
              <a:t> events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F1F5A2-13D4-472B-A048-7A2E9592412A}"/>
              </a:ext>
            </a:extLst>
          </p:cNvPr>
          <p:cNvSpPr>
            <a:spLocks noGrp="1"/>
          </p:cNvSpPr>
          <p:nvPr/>
        </p:nvSpPr>
        <p:spPr>
          <a:xfrm>
            <a:off x="4819650" y="281940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84052A-441F-495F-B0F5-81DDEA19EDC0}"/>
              </a:ext>
            </a:extLst>
          </p:cNvPr>
          <p:cNvSpPr>
            <a:spLocks noGrp="1"/>
          </p:cNvSpPr>
          <p:nvPr/>
        </p:nvSpPr>
        <p:spPr>
          <a:xfrm>
            <a:off x="5200650" y="2266950"/>
            <a:ext cx="17716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054793-D9A8-45EC-B150-CDA743B401D7}"/>
              </a:ext>
            </a:extLst>
          </p:cNvPr>
          <p:cNvSpPr>
            <a:spLocks noGrp="1"/>
          </p:cNvSpPr>
          <p:nvPr/>
        </p:nvSpPr>
        <p:spPr>
          <a:xfrm>
            <a:off x="5372100" y="25146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Ranker API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4B6BD2-1320-41C8-BA85-5ECE3622DF0F}"/>
              </a:ext>
            </a:extLst>
          </p:cNvPr>
          <p:cNvSpPr>
            <a:spLocks noGrp="1"/>
          </p:cNvSpPr>
          <p:nvPr/>
        </p:nvSpPr>
        <p:spPr>
          <a:xfrm>
            <a:off x="5372100" y="293370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Lexical + semantic</a:t>
            </a:r>
          </a:p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page matching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293FC8-D3F7-4FC3-9A1B-2B1A7ECB1FDF}"/>
              </a:ext>
            </a:extLst>
          </p:cNvPr>
          <p:cNvSpPr>
            <a:spLocks noGrp="1"/>
          </p:cNvSpPr>
          <p:nvPr/>
        </p:nvSpPr>
        <p:spPr>
          <a:xfrm>
            <a:off x="7086600" y="281940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A84C5E-CA3D-4A52-BD12-826A503A708B}"/>
              </a:ext>
            </a:extLst>
          </p:cNvPr>
          <p:cNvSpPr>
            <a:spLocks noGrp="1"/>
          </p:cNvSpPr>
          <p:nvPr/>
        </p:nvSpPr>
        <p:spPr>
          <a:xfrm>
            <a:off x="7467600" y="2266950"/>
            <a:ext cx="17716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ED14CC-E5F2-4310-B9D5-6A48ED2057D2}"/>
              </a:ext>
            </a:extLst>
          </p:cNvPr>
          <p:cNvSpPr>
            <a:spLocks noGrp="1"/>
          </p:cNvSpPr>
          <p:nvPr/>
        </p:nvSpPr>
        <p:spPr>
          <a:xfrm>
            <a:off x="7639050" y="25146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Resolver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119490-83F2-4ACA-B9A2-49FEDE5BF8A4}"/>
              </a:ext>
            </a:extLst>
          </p:cNvPr>
          <p:cNvSpPr>
            <a:spLocks noGrp="1"/>
          </p:cNvSpPr>
          <p:nvPr/>
        </p:nvSpPr>
        <p:spPr>
          <a:xfrm>
            <a:off x="7639050" y="293370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Static paths +</a:t>
            </a:r>
          </a:p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dynamic templates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72490D-118A-442A-B17E-B319E3E0AD80}"/>
              </a:ext>
            </a:extLst>
          </p:cNvPr>
          <p:cNvSpPr>
            <a:spLocks noGrp="1"/>
          </p:cNvSpPr>
          <p:nvPr/>
        </p:nvSpPr>
        <p:spPr>
          <a:xfrm>
            <a:off x="9353550" y="2819400"/>
            <a:ext cx="304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7404B8A-9430-427B-8668-BEDEBD263A95}"/>
              </a:ext>
            </a:extLst>
          </p:cNvPr>
          <p:cNvSpPr>
            <a:spLocks noGrp="1"/>
          </p:cNvSpPr>
          <p:nvPr/>
        </p:nvSpPr>
        <p:spPr>
          <a:xfrm>
            <a:off x="9734550" y="2266950"/>
            <a:ext cx="17716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8D32A8-8DD1-4BCB-8306-4B9A3AA48C77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AMIDS pages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B82A64-3E66-48CE-9D86-B75E437B71DA}"/>
              </a:ext>
            </a:extLst>
          </p:cNvPr>
          <p:cNvSpPr>
            <a:spLocks noGrp="1"/>
          </p:cNvSpPr>
          <p:nvPr/>
        </p:nvSpPr>
        <p:spPr>
          <a:xfrm>
            <a:off x="9906000" y="293370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Embedded or</a:t>
            </a:r>
          </a:p>
          <a:p>
            <a:pPr algn="ctr">
              <a:defRPr sz="12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external opening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3BA63BD-D925-43BD-9F16-7385CDC25DDD}"/>
              </a:ext>
            </a:extLst>
          </p:cNvPr>
          <p:cNvSpPr>
            <a:spLocks noGrp="1"/>
          </p:cNvSpPr>
          <p:nvPr/>
        </p:nvSpPr>
        <p:spPr>
          <a:xfrm>
            <a:off x="1333500" y="4533899"/>
            <a:ext cx="9525000" cy="1381117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CDA100-10FC-4BCA-AD05-2ED2E80D1313}"/>
              </a:ext>
            </a:extLst>
          </p:cNvPr>
          <p:cNvSpPr>
            <a:spLocks noGrp="1"/>
          </p:cNvSpPr>
          <p:nvPr/>
        </p:nvSpPr>
        <p:spPr>
          <a:xfrm>
            <a:off x="1333500" y="4533900"/>
            <a:ext cx="66675" cy="1381116"/>
          </a:xfrm>
          <a:prstGeom prst="rect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16424A-C93C-44C1-BCD2-FEC1FE955A87}"/>
              </a:ext>
            </a:extLst>
          </p:cNvPr>
          <p:cNvSpPr>
            <a:spLocks noGrp="1"/>
          </p:cNvSpPr>
          <p:nvPr/>
        </p:nvSpPr>
        <p:spPr>
          <a:xfrm>
            <a:off x="1562100" y="4743450"/>
            <a:ext cx="906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Supporting services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2D8BD6-2B03-4616-AD0C-A0612324D20C}"/>
              </a:ext>
            </a:extLst>
          </p:cNvPr>
          <p:cNvSpPr>
            <a:spLocks noGrp="1"/>
          </p:cNvSpPr>
          <p:nvPr/>
        </p:nvSpPr>
        <p:spPr>
          <a:xfrm>
            <a:off x="1562100" y="5124450"/>
            <a:ext cx="9067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PostgreSQL stores profiles and evidenc</a:t>
            </a:r>
            <a:r>
              <a:rPr lang="en-US"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e, t</a:t>
            </a: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he scraper worker adds live data sources</a:t>
            </a:r>
            <a:r>
              <a:rPr lang="en-US"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and the</a:t>
            </a: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dirty="0" err="1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Ollama</a:t>
            </a:r>
            <a:r>
              <a:rPr lang="en-US"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local API</a:t>
            </a: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remains optional for generation</a:t>
            </a:r>
            <a:r>
              <a:rPr lang="en-US"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experimentation</a:t>
            </a:r>
            <a:r>
              <a:rPr lang="en-US"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and potential fallback.</a:t>
            </a:r>
            <a:endParaRPr sz="1350" dirty="0">
              <a:solidFill>
                <a:srgbClr val="52647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Text Placeholder 81">
            <a:extLst>
              <a:ext uri="{FF2B5EF4-FFF2-40B4-BE49-F238E27FC236}">
                <a16:creationId xmlns:a16="http://schemas.microsoft.com/office/drawing/2014/main" id="{A147FCD8-2D7E-16D1-A37C-F53F1E95B6E9}"/>
              </a:ext>
            </a:extLst>
          </p:cNvPr>
          <p:cNvSpPr txBox="1">
            <a:spLocks/>
          </p:cNvSpPr>
          <p:nvPr/>
        </p:nvSpPr>
        <p:spPr>
          <a:xfrm>
            <a:off x="666750" y="351724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THE ARCHITECTURE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831A85-67A6-BF11-F88B-6693C80E31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891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1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FD5B0-E2C5-AEE5-0EC7-1A7951D8F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3282B6-2CC4-3E11-4E50-FF48ECE921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955129-73D1-7972-6670-404C4615BDDC}"/>
              </a:ext>
            </a:extLst>
          </p:cNvPr>
          <p:cNvSpPr>
            <a:spLocks noGrp="1"/>
          </p:cNvSpPr>
          <p:nvPr/>
        </p:nvSpPr>
        <p:spPr>
          <a:xfrm>
            <a:off x="800100" y="10287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CFE3F4"/>
                </a:solidFill>
                <a:latin typeface="Calibri"/>
                <a:ea typeface="Calibri"/>
                <a:cs typeface="Calibri"/>
              </a:defRPr>
            </a:pPr>
            <a:r>
              <a:rPr lang="en-HK" sz="1500" b="1" dirty="0">
                <a:solidFill>
                  <a:srgbClr val="CFE3F4"/>
                </a:solidFill>
                <a:latin typeface="Calibri"/>
                <a:ea typeface="Calibri"/>
                <a:cs typeface="Calibri"/>
              </a:rPr>
              <a:t>Section 02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A878A-989A-320D-291A-7769F6392709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n-HK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Controlled Page Foundation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6F18C0-EA82-A063-D16C-23C8510D10E5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sz="18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How the route registry and dynamic resolver keep page opening approved, parameterized, and auditable.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6D36DA-F50C-21BB-F9B6-5EDC9D6CD908}"/>
              </a:ext>
            </a:extLst>
          </p:cNvPr>
          <p:cNvSpPr>
            <a:spLocks noGrp="1"/>
          </p:cNvSpPr>
          <p:nvPr/>
        </p:nvSpPr>
        <p:spPr>
          <a:xfrm>
            <a:off x="800100" y="4610100"/>
            <a:ext cx="4000500" cy="381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32BCA8-B141-B000-701E-28BA25349F0D}"/>
              </a:ext>
            </a:extLst>
          </p:cNvPr>
          <p:cNvSpPr>
            <a:spLocks noGrp="1"/>
          </p:cNvSpPr>
          <p:nvPr/>
        </p:nvSpPr>
        <p:spPr>
          <a:xfrm>
            <a:off x="819150" y="5886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AMIDS Compass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06BA29-D5A3-B8BA-5422-27E91DDBD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972550" y="781050"/>
            <a:ext cx="1695450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39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894A8-3B55-64C2-D982-6EA0C8E8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CC8BF2D-0DF8-D023-0CFC-518E314F7D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43480B-B950-1C04-5331-2A0D07921484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191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rPr lang="en-US" sz="3000" b="1" dirty="0">
                <a:solidFill>
                  <a:srgbClr val="111827"/>
                </a:solidFill>
              </a:rPr>
              <a:t>The Route</a:t>
            </a:r>
            <a:r>
              <a:rPr sz="3000" b="1" dirty="0">
                <a:solidFill>
                  <a:srgbClr val="111827"/>
                </a:solidFill>
              </a:rPr>
              <a:t> </a:t>
            </a:r>
            <a:r>
              <a:rPr lang="en-US" sz="3000" b="1" dirty="0">
                <a:solidFill>
                  <a:srgbClr val="111827"/>
                </a:solidFill>
              </a:rPr>
              <a:t>R</a:t>
            </a:r>
            <a:r>
              <a:rPr sz="3000" b="1" dirty="0">
                <a:solidFill>
                  <a:srgbClr val="111827"/>
                </a:solidFill>
              </a:rPr>
              <a:t>egistry </a:t>
            </a:r>
            <a:r>
              <a:rPr lang="en-US" sz="3000" b="1" dirty="0">
                <a:solidFill>
                  <a:srgbClr val="111827"/>
                </a:solidFill>
              </a:rPr>
              <a:t>became</a:t>
            </a:r>
            <a:r>
              <a:rPr sz="3000" b="1" dirty="0">
                <a:solidFill>
                  <a:srgbClr val="111827"/>
                </a:solidFill>
              </a:rPr>
              <a:t> the control point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3C39B2C-0B54-8612-853C-7CAB4BC2445B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810125" cy="4210050"/>
          </a:xfrm>
          <a:prstGeom prst="roundRect">
            <a:avLst>
              <a:gd name="adj" fmla="val 5455"/>
            </a:avLst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D5DAE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220FC37-CB1A-047D-83D4-43CB9F1ADAC2}"/>
              </a:ext>
            </a:extLst>
          </p:cNvPr>
          <p:cNvSpPr>
            <a:spLocks noGrp="1"/>
          </p:cNvSpPr>
          <p:nvPr/>
        </p:nvSpPr>
        <p:spPr>
          <a:xfrm>
            <a:off x="1181100" y="2038350"/>
            <a:ext cx="3600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827"/>
                </a:solidFill>
              </a:defRPr>
            </a:pPr>
            <a:r>
              <a:rPr sz="1650" b="1" dirty="0">
                <a:solidFill>
                  <a:srgbClr val="111827"/>
                </a:solidFill>
              </a:rPr>
              <a:t>Required page structure</a:t>
            </a:r>
            <a:r>
              <a:rPr lang="en-US" sz="1650" b="1" dirty="0">
                <a:solidFill>
                  <a:srgbClr val="111827"/>
                </a:solidFill>
              </a:rPr>
              <a:t> example:</a:t>
            </a:r>
            <a:endParaRPr sz="1650" b="1" dirty="0">
              <a:solidFill>
                <a:srgbClr val="11182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F0D764F-7EA3-F16D-A3D6-43FB96254115}"/>
              </a:ext>
            </a:extLst>
          </p:cNvPr>
          <p:cNvSpPr>
            <a:spLocks noGrp="1"/>
          </p:cNvSpPr>
          <p:nvPr/>
        </p:nvSpPr>
        <p:spPr>
          <a:xfrm>
            <a:off x="1181100" y="2514600"/>
            <a:ext cx="4048125" cy="32485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{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"</a:t>
            </a:r>
            <a:r>
              <a:rPr lang="en-US" sz="1200" b="1" dirty="0">
                <a:solidFill>
                  <a:srgbClr val="111827"/>
                </a:solidFill>
              </a:rPr>
              <a:t>id</a:t>
            </a:r>
            <a:r>
              <a:rPr lang="en-US" sz="1200" dirty="0">
                <a:solidFill>
                  <a:srgbClr val="111827"/>
                </a:solidFill>
              </a:rPr>
              <a:t>": "destination-weather-report-forecast",   </a:t>
            </a:r>
            <a:br>
              <a:rPr lang="en-US" sz="1200" dirty="0">
                <a:solidFill>
                  <a:srgbClr val="111827"/>
                </a:solidFill>
              </a:rPr>
            </a:br>
            <a:r>
              <a:rPr lang="en-US" sz="1200" dirty="0">
                <a:solidFill>
                  <a:srgbClr val="111827"/>
                </a:solidFill>
              </a:rPr>
              <a:t>"</a:t>
            </a:r>
            <a:r>
              <a:rPr lang="en-US" sz="1200" b="1" dirty="0">
                <a:solidFill>
                  <a:srgbClr val="111827"/>
                </a:solidFill>
              </a:rPr>
              <a:t>title</a:t>
            </a:r>
            <a:r>
              <a:rPr lang="en-US" sz="1200" dirty="0">
                <a:solidFill>
                  <a:srgbClr val="111827"/>
                </a:solidFill>
              </a:rPr>
              <a:t>": "Destination Weather Report &amp; Forecast",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"</a:t>
            </a:r>
            <a:r>
              <a:rPr lang="en-US" sz="1200" b="1" dirty="0">
                <a:solidFill>
                  <a:srgbClr val="111827"/>
                </a:solidFill>
              </a:rPr>
              <a:t>path</a:t>
            </a:r>
            <a:r>
              <a:rPr lang="en-US" sz="1200" dirty="0">
                <a:solidFill>
                  <a:srgbClr val="111827"/>
                </a:solidFill>
              </a:rPr>
              <a:t>": "https://aviation.weather.gov.hk/</a:t>
            </a:r>
            <a:r>
              <a:rPr lang="en-US" sz="1200" dirty="0" err="1">
                <a:solidFill>
                  <a:srgbClr val="111827"/>
                </a:solidFill>
              </a:rPr>
              <a:t>cgi</a:t>
            </a:r>
            <a:r>
              <a:rPr lang="en-US" sz="1200" dirty="0">
                <a:solidFill>
                  <a:srgbClr val="111827"/>
                </a:solidFill>
              </a:rPr>
              <a:t>-bin/</a:t>
            </a:r>
            <a:r>
              <a:rPr lang="en-US" sz="1200" dirty="0" err="1">
                <a:solidFill>
                  <a:srgbClr val="111827"/>
                </a:solidFill>
              </a:rPr>
              <a:t>metcond</a:t>
            </a:r>
            <a:r>
              <a:rPr lang="en-US" sz="1200" dirty="0">
                <a:solidFill>
                  <a:srgbClr val="111827"/>
                </a:solidFill>
              </a:rPr>
              <a:t>/...”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"</a:t>
            </a:r>
            <a:r>
              <a:rPr lang="en-US" sz="1200" b="1" dirty="0">
                <a:solidFill>
                  <a:srgbClr val="111827"/>
                </a:solidFill>
              </a:rPr>
              <a:t>description</a:t>
            </a:r>
            <a:r>
              <a:rPr lang="en-US" sz="1200" dirty="0">
                <a:solidFill>
                  <a:srgbClr val="111827"/>
                </a:solidFill>
              </a:rPr>
              <a:t>": "Weather reports and forecasts for destination aerodromes",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"</a:t>
            </a:r>
            <a:r>
              <a:rPr lang="en-US" sz="1200" b="1" dirty="0">
                <a:solidFill>
                  <a:srgbClr val="111827"/>
                </a:solidFill>
              </a:rPr>
              <a:t>keywords</a:t>
            </a:r>
            <a:r>
              <a:rPr lang="en-US" sz="1200" dirty="0">
                <a:solidFill>
                  <a:srgbClr val="111827"/>
                </a:solidFill>
              </a:rPr>
              <a:t>": [  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"</a:t>
            </a:r>
            <a:r>
              <a:rPr lang="en-US" sz="1200" dirty="0" err="1">
                <a:solidFill>
                  <a:srgbClr val="111827"/>
                </a:solidFill>
              </a:rPr>
              <a:t>topic:destination</a:t>
            </a:r>
            <a:r>
              <a:rPr lang="en-US" sz="1200" dirty="0">
                <a:solidFill>
                  <a:srgbClr val="111827"/>
                </a:solidFill>
              </a:rPr>
              <a:t> weather",  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  …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"</a:t>
            </a:r>
            <a:r>
              <a:rPr lang="en-US" sz="1200" dirty="0" err="1">
                <a:solidFill>
                  <a:srgbClr val="111827"/>
                </a:solidFill>
              </a:rPr>
              <a:t>purpose:bulletin-feed</a:t>
            </a:r>
            <a:r>
              <a:rPr lang="en-US" sz="1200" dirty="0">
                <a:solidFill>
                  <a:srgbClr val="111827"/>
                </a:solidFill>
              </a:rPr>
              <a:t>",  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"</a:t>
            </a:r>
            <a:r>
              <a:rPr lang="en-US" sz="1200" dirty="0" err="1">
                <a:solidFill>
                  <a:srgbClr val="111827"/>
                </a:solidFill>
              </a:rPr>
              <a:t>route:destination</a:t>
            </a:r>
            <a:r>
              <a:rPr lang="en-US" sz="1200" dirty="0">
                <a:solidFill>
                  <a:srgbClr val="111827"/>
                </a:solidFill>
              </a:rPr>
              <a:t> weather report forecast",  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"destination </a:t>
            </a:r>
            <a:r>
              <a:rPr lang="en-US" sz="1200" dirty="0" err="1">
                <a:solidFill>
                  <a:srgbClr val="111827"/>
                </a:solidFill>
              </a:rPr>
              <a:t>metar</a:t>
            </a:r>
            <a:r>
              <a:rPr lang="en-US" sz="1200" dirty="0">
                <a:solidFill>
                  <a:srgbClr val="111827"/>
                </a:solidFill>
              </a:rPr>
              <a:t>", 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 …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"destination </a:t>
            </a:r>
            <a:r>
              <a:rPr lang="en-US" sz="1200" dirty="0" err="1">
                <a:solidFill>
                  <a:srgbClr val="111827"/>
                </a:solidFill>
              </a:rPr>
              <a:t>speci</a:t>
            </a:r>
            <a:r>
              <a:rPr lang="en-US" sz="1200" dirty="0">
                <a:solidFill>
                  <a:srgbClr val="111827"/>
                </a:solidFill>
              </a:rPr>
              <a:t>",  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 "flight destination weather"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  ]  </a:t>
            </a:r>
          </a:p>
          <a:p>
            <a:pPr>
              <a:defRPr sz="1125" b="0">
                <a:solidFill>
                  <a:srgbClr val="111827"/>
                </a:solidFill>
              </a:defRPr>
            </a:pPr>
            <a:r>
              <a:rPr lang="en-US" sz="1200" dirty="0">
                <a:solidFill>
                  <a:srgbClr val="111827"/>
                </a:solidFill>
              </a:rPr>
              <a:t>},</a:t>
            </a:r>
            <a:endParaRPr sz="1200" b="0" dirty="0">
              <a:solidFill>
                <a:srgbClr val="11182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C9B9FB-476B-1574-7C90-50724F05F127}"/>
              </a:ext>
            </a:extLst>
          </p:cNvPr>
          <p:cNvSpPr>
            <a:spLocks noGrp="1"/>
          </p:cNvSpPr>
          <p:nvPr/>
        </p:nvSpPr>
        <p:spPr>
          <a:xfrm>
            <a:off x="5867400" y="1856831"/>
            <a:ext cx="514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75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Keyword convention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8988CFD-2A6B-165E-7135-444481FEFBA6}"/>
              </a:ext>
            </a:extLst>
          </p:cNvPr>
          <p:cNvSpPr>
            <a:spLocks noGrp="1"/>
          </p:cNvSpPr>
          <p:nvPr/>
        </p:nvSpPr>
        <p:spPr>
          <a:xfrm>
            <a:off x="5943600" y="2504531"/>
            <a:ext cx="76200" cy="76200"/>
          </a:xfrm>
          <a:prstGeom prst="ellipse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7DC5931-743A-BC08-A5A7-465A0D2F095E}"/>
              </a:ext>
            </a:extLst>
          </p:cNvPr>
          <p:cNvSpPr>
            <a:spLocks noGrp="1"/>
          </p:cNvSpPr>
          <p:nvPr/>
        </p:nvSpPr>
        <p:spPr>
          <a:xfrm>
            <a:off x="6172200" y="2390231"/>
            <a:ext cx="590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topic: shared concepts for grouping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8E1956-4367-2DCB-401F-384ABCF647DA}"/>
              </a:ext>
            </a:extLst>
          </p:cNvPr>
          <p:cNvSpPr>
            <a:spLocks noGrp="1"/>
          </p:cNvSpPr>
          <p:nvPr/>
        </p:nvSpPr>
        <p:spPr>
          <a:xfrm>
            <a:off x="5943600" y="2980781"/>
            <a:ext cx="76200" cy="76200"/>
          </a:xfrm>
          <a:prstGeom prst="ellipse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26E795-06ED-FC54-3758-7BA626B9C860}"/>
              </a:ext>
            </a:extLst>
          </p:cNvPr>
          <p:cNvSpPr>
            <a:spLocks noGrp="1"/>
          </p:cNvSpPr>
          <p:nvPr/>
        </p:nvSpPr>
        <p:spPr>
          <a:xfrm>
            <a:off x="6172200" y="2866481"/>
            <a:ext cx="590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purpose: how information is presented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B200E92-CAD8-0B0C-0795-6E0A66AFA19F}"/>
              </a:ext>
            </a:extLst>
          </p:cNvPr>
          <p:cNvSpPr>
            <a:spLocks noGrp="1"/>
          </p:cNvSpPr>
          <p:nvPr/>
        </p:nvSpPr>
        <p:spPr>
          <a:xfrm>
            <a:off x="5943600" y="3457031"/>
            <a:ext cx="76200" cy="76200"/>
          </a:xfrm>
          <a:prstGeom prst="ellipse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37F90-AC22-4CEB-B47A-1188EFA1E313}"/>
              </a:ext>
            </a:extLst>
          </p:cNvPr>
          <p:cNvSpPr>
            <a:spLocks noGrp="1"/>
          </p:cNvSpPr>
          <p:nvPr/>
        </p:nvSpPr>
        <p:spPr>
          <a:xfrm>
            <a:off x="6172200" y="3342731"/>
            <a:ext cx="590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route: page name and close aliases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6BF9432-7323-526E-C46D-5B424F9C91AB}"/>
              </a:ext>
            </a:extLst>
          </p:cNvPr>
          <p:cNvSpPr>
            <a:spLocks noGrp="1"/>
          </p:cNvSpPr>
          <p:nvPr/>
        </p:nvSpPr>
        <p:spPr>
          <a:xfrm>
            <a:off x="5943600" y="3933281"/>
            <a:ext cx="76200" cy="76200"/>
          </a:xfrm>
          <a:prstGeom prst="ellipse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821489D-DDB1-0CF5-7840-24D21FB3F150}"/>
              </a:ext>
            </a:extLst>
          </p:cNvPr>
          <p:cNvSpPr>
            <a:spLocks noGrp="1"/>
          </p:cNvSpPr>
          <p:nvPr/>
        </p:nvSpPr>
        <p:spPr>
          <a:xfrm>
            <a:off x="6172200" y="3818981"/>
            <a:ext cx="590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plain keywords: operational phrases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447A1C2-C928-08FE-3114-A7D675FC971A}"/>
              </a:ext>
            </a:extLst>
          </p:cNvPr>
          <p:cNvSpPr>
            <a:spLocks noGrp="1"/>
          </p:cNvSpPr>
          <p:nvPr/>
        </p:nvSpPr>
        <p:spPr>
          <a:xfrm>
            <a:off x="5943600" y="4409531"/>
            <a:ext cx="76200" cy="76200"/>
          </a:xfrm>
          <a:prstGeom prst="ellipse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214A245-DBD1-3EBC-3265-8ED5AD2BF16C}"/>
              </a:ext>
            </a:extLst>
          </p:cNvPr>
          <p:cNvSpPr>
            <a:spLocks noGrp="1"/>
          </p:cNvSpPr>
          <p:nvPr/>
        </p:nvSpPr>
        <p:spPr>
          <a:xfrm>
            <a:off x="6172200" y="4295231"/>
            <a:ext cx="590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runtime keywords: terms scraped from live pages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33B293-B9CF-414D-785F-0C44CEBB5654}"/>
              </a:ext>
            </a:extLst>
          </p:cNvPr>
          <p:cNvSpPr>
            <a:spLocks noGrp="1"/>
          </p:cNvSpPr>
          <p:nvPr/>
        </p:nvSpPr>
        <p:spPr>
          <a:xfrm>
            <a:off x="5943600" y="5057231"/>
            <a:ext cx="590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This keeps AI behavior </a:t>
            </a:r>
            <a:r>
              <a:rPr lang="en-US" sz="1650" b="1" dirty="0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controlled</a:t>
            </a:r>
            <a:r>
              <a:rPr sz="1650" b="1" dirty="0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: the model can suggest IDs, but the app opens only approved registry paths.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63B1C5-65EE-FFF2-F3F1-C109F6E9F3B4}"/>
              </a:ext>
            </a:extLst>
          </p:cNvPr>
          <p:cNvSpPr>
            <a:spLocks noGrp="1"/>
          </p:cNvSpPr>
          <p:nvPr/>
        </p:nvSpPr>
        <p:spPr>
          <a:xfrm>
            <a:off x="685800" y="118110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Every model or UI decision must resolve to approved page IDs and authoritative paths.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Internally, route = AMIDS page</a:t>
            </a:r>
            <a:endParaRPr sz="1500" dirty="0">
              <a:solidFill>
                <a:srgbClr val="52647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Text Placeholder 81">
            <a:extLst>
              <a:ext uri="{FF2B5EF4-FFF2-40B4-BE49-F238E27FC236}">
                <a16:creationId xmlns:a16="http://schemas.microsoft.com/office/drawing/2014/main" id="{8F1673CB-C6D5-06CC-5E63-5F9DA5AD4CEB}"/>
              </a:ext>
            </a:extLst>
          </p:cNvPr>
          <p:cNvSpPr txBox="1">
            <a:spLocks/>
          </p:cNvSpPr>
          <p:nvPr/>
        </p:nvSpPr>
        <p:spPr>
          <a:xfrm>
            <a:off x="666750" y="351724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THE REGISTRY</a:t>
            </a:r>
          </a:p>
        </p:txBody>
      </p:sp>
    </p:spTree>
    <p:extLst>
      <p:ext uri="{BB962C8B-B14F-4D97-AF65-F5344CB8AC3E}">
        <p14:creationId xmlns:p14="http://schemas.microsoft.com/office/powerpoint/2010/main" val="35325288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5BEC0A-6D6F-47CA-8D7C-CD7B64160309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Dynamic URLs were separated from route selection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6D78A7-C449-406A-9B66-1DE26CF101EF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The route decides the page; the resolver decides the page state only when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dynamic keywords 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are present or safely inferred.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83672E0-97B3-4439-A94E-61ECC728CF02}"/>
              </a:ext>
            </a:extLst>
          </p:cNvPr>
          <p:cNvSpPr>
            <a:spLocks noGrp="1"/>
          </p:cNvSpPr>
          <p:nvPr/>
        </p:nvSpPr>
        <p:spPr>
          <a:xfrm>
            <a:off x="914400" y="21526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0082DD-A368-4B26-9961-7736E9799B40}"/>
              </a:ext>
            </a:extLst>
          </p:cNvPr>
          <p:cNvSpPr>
            <a:spLocks noGrp="1"/>
          </p:cNvSpPr>
          <p:nvPr/>
        </p:nvSpPr>
        <p:spPr>
          <a:xfrm>
            <a:off x="914400" y="22193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934FE3-53E1-4DF8-827A-9C64A018A14D}"/>
              </a:ext>
            </a:extLst>
          </p:cNvPr>
          <p:cNvSpPr>
            <a:spLocks noGrp="1"/>
          </p:cNvSpPr>
          <p:nvPr/>
        </p:nvSpPr>
        <p:spPr>
          <a:xfrm>
            <a:off x="1466850" y="2133600"/>
            <a:ext cx="421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Select approved page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4F68A0-57A5-4EFC-AF6E-46DC4C8E5C03}"/>
              </a:ext>
            </a:extLst>
          </p:cNvPr>
          <p:cNvSpPr>
            <a:spLocks noGrp="1"/>
          </p:cNvSpPr>
          <p:nvPr/>
        </p:nvSpPr>
        <p:spPr>
          <a:xfrm>
            <a:off x="1466850" y="2495550"/>
            <a:ext cx="4210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The</a:t>
            </a:r>
            <a:r>
              <a:rPr lang="en-US" sz="13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selected</a:t>
            </a:r>
            <a:r>
              <a:rPr sz="13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route ID comes from the registry, button, user memory, or model result.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FEE546B-326B-4E13-8F45-5F65509C85E3}"/>
              </a:ext>
            </a:extLst>
          </p:cNvPr>
          <p:cNvSpPr>
            <a:spLocks noGrp="1"/>
          </p:cNvSpPr>
          <p:nvPr/>
        </p:nvSpPr>
        <p:spPr>
          <a:xfrm>
            <a:off x="914400" y="32575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437EA7-B569-45BB-B642-58F9B92C6653}"/>
              </a:ext>
            </a:extLst>
          </p:cNvPr>
          <p:cNvSpPr>
            <a:spLocks noGrp="1"/>
          </p:cNvSpPr>
          <p:nvPr/>
        </p:nvSpPr>
        <p:spPr>
          <a:xfrm>
            <a:off x="914400" y="33242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288B05-D38F-4B54-A5B1-1FBFE522A940}"/>
              </a:ext>
            </a:extLst>
          </p:cNvPr>
          <p:cNvSpPr>
            <a:spLocks noGrp="1"/>
          </p:cNvSpPr>
          <p:nvPr/>
        </p:nvSpPr>
        <p:spPr>
          <a:xfrm>
            <a:off x="1466850" y="3238500"/>
            <a:ext cx="421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Extract or infer parameters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EED27-1671-44F9-8C05-488B97BE0447}"/>
              </a:ext>
            </a:extLst>
          </p:cNvPr>
          <p:cNvSpPr>
            <a:spLocks noGrp="1"/>
          </p:cNvSpPr>
          <p:nvPr/>
        </p:nvSpPr>
        <p:spPr>
          <a:xfrm>
            <a:off x="1466850" y="3600450"/>
            <a:ext cx="4210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00" dirty="0">
                <a:latin typeface="Calibri"/>
                <a:ea typeface="Calibri"/>
                <a:cs typeface="Calibri"/>
              </a:rPr>
              <a:t>Runway, area, airline, aerodrome, route code, chart type, and flight package fields are resolved.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3D203F-DBE9-414C-B529-3C69AEB5419D}"/>
              </a:ext>
            </a:extLst>
          </p:cNvPr>
          <p:cNvSpPr>
            <a:spLocks noGrp="1"/>
          </p:cNvSpPr>
          <p:nvPr/>
        </p:nvSpPr>
        <p:spPr>
          <a:xfrm>
            <a:off x="914400" y="43624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112DE4-FFCE-4E57-BBC3-6AD6F626A690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07CCEF-E189-4B0F-98F8-5D446BEBF2AC}"/>
              </a:ext>
            </a:extLst>
          </p:cNvPr>
          <p:cNvSpPr>
            <a:spLocks noGrp="1"/>
          </p:cNvSpPr>
          <p:nvPr/>
        </p:nvSpPr>
        <p:spPr>
          <a:xfrm>
            <a:off x="1466850" y="4343400"/>
            <a:ext cx="421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Clarify only when needed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0A8448-3EF4-4A74-80AC-CCD2EBE99954}"/>
              </a:ext>
            </a:extLst>
          </p:cNvPr>
          <p:cNvSpPr>
            <a:spLocks noGrp="1"/>
          </p:cNvSpPr>
          <p:nvPr/>
        </p:nvSpPr>
        <p:spPr>
          <a:xfrm>
            <a:off x="1466850" y="4705350"/>
            <a:ext cx="4210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00" dirty="0">
                <a:latin typeface="Calibri"/>
                <a:ea typeface="Calibri"/>
                <a:cs typeface="Calibri"/>
              </a:rPr>
              <a:t>High-risk identity parameters ask the user; safe display settings use defaults or profile values.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F7F5542-68CF-40A6-9869-E5029275476A}"/>
              </a:ext>
            </a:extLst>
          </p:cNvPr>
          <p:cNvSpPr>
            <a:spLocks noGrp="1"/>
          </p:cNvSpPr>
          <p:nvPr/>
        </p:nvSpPr>
        <p:spPr>
          <a:xfrm>
            <a:off x="6667500" y="2076450"/>
            <a:ext cx="4000500" cy="3162300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6D8481-1008-4032-890D-1790A424131A}"/>
              </a:ext>
            </a:extLst>
          </p:cNvPr>
          <p:cNvSpPr>
            <a:spLocks noGrp="1"/>
          </p:cNvSpPr>
          <p:nvPr/>
        </p:nvSpPr>
        <p:spPr>
          <a:xfrm>
            <a:off x="6667500" y="2076450"/>
            <a:ext cx="66675" cy="3162300"/>
          </a:xfrm>
          <a:prstGeom prst="rect">
            <a:avLst/>
          </a:prstGeom>
          <a:solidFill>
            <a:srgbClr val="A66400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B35873-409C-4524-9CA6-FCDBB235190A}"/>
              </a:ext>
            </a:extLst>
          </p:cNvPr>
          <p:cNvSpPr>
            <a:spLocks noGrp="1"/>
          </p:cNvSpPr>
          <p:nvPr/>
        </p:nvSpPr>
        <p:spPr>
          <a:xfrm>
            <a:off x="6896100" y="2286000"/>
            <a:ext cx="3543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Examples now handled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14C688-A41D-4B64-BD22-AE8CDA40C4D1}"/>
              </a:ext>
            </a:extLst>
          </p:cNvPr>
          <p:cNvSpPr>
            <a:spLocks noGrp="1"/>
          </p:cNvSpPr>
          <p:nvPr/>
        </p:nvSpPr>
        <p:spPr>
          <a:xfrm>
            <a:off x="6896100" y="2667000"/>
            <a:ext cx="3543300" cy="2400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Runway reports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Satellite areas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Radar animation/overlay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Landing minima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Flight packages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Forecast wind/temp charts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1A56CB-9A0F-3816-130A-01F97BEDBB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81">
            <a:extLst>
              <a:ext uri="{FF2B5EF4-FFF2-40B4-BE49-F238E27FC236}">
                <a16:creationId xmlns:a16="http://schemas.microsoft.com/office/drawing/2014/main" id="{33742664-3C82-737D-A760-EF62C9CE152F}"/>
              </a:ext>
            </a:extLst>
          </p:cNvPr>
          <p:cNvSpPr txBox="1">
            <a:spLocks/>
          </p:cNvSpPr>
          <p:nvPr/>
        </p:nvSpPr>
        <p:spPr>
          <a:xfrm>
            <a:off x="666750" y="351724"/>
            <a:ext cx="7394446" cy="2490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0" kern="1200" spc="1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DYNAMIC PAGES HANDLING</a:t>
            </a:r>
          </a:p>
        </p:txBody>
      </p:sp>
    </p:spTree>
    <p:extLst>
      <p:ext uri="{BB962C8B-B14F-4D97-AF65-F5344CB8AC3E}">
        <p14:creationId xmlns:p14="http://schemas.microsoft.com/office/powerpoint/2010/main" val="1438877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1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62C981-29D0-F6D0-A48F-F109CF8FF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01522D-6ABC-6A6E-508F-E371E542B0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90F0C0-C423-FBC2-7698-EF1DABD6193B}"/>
              </a:ext>
            </a:extLst>
          </p:cNvPr>
          <p:cNvSpPr>
            <a:spLocks noGrp="1"/>
          </p:cNvSpPr>
          <p:nvPr/>
        </p:nvSpPr>
        <p:spPr>
          <a:xfrm>
            <a:off x="800100" y="10287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CFE3F4"/>
                </a:solidFill>
                <a:latin typeface="Calibri"/>
                <a:ea typeface="Calibri"/>
                <a:cs typeface="Calibri"/>
              </a:defRPr>
            </a:pPr>
            <a:r>
              <a:rPr lang="en-HK" sz="1500" b="1" dirty="0">
                <a:solidFill>
                  <a:srgbClr val="CFE3F4"/>
                </a:solidFill>
                <a:latin typeface="Calibri"/>
                <a:ea typeface="Calibri"/>
                <a:cs typeface="Calibri"/>
              </a:rPr>
              <a:t>Section 03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73CF6B-8D03-1AD6-DBD7-E98DF20C1722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n-HK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Development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C6C40F-AB8B-659B-4FCC-B003BF213096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n-US" sz="1800" dirty="0">
                <a:solidFill>
                  <a:schemeClr val="bg1"/>
                </a:solidFill>
                <a:latin typeface="Calibri" panose="020F0502020204030204" pitchFamily="34" charset="0"/>
                <a:ea typeface="Lato" panose="020F0502020204030203" pitchFamily="34" charset="0"/>
                <a:cs typeface="Calibri" panose="020F0502020204030204" pitchFamily="34" charset="0"/>
              </a:rPr>
              <a:t>The core technology: </a:t>
            </a:r>
            <a:r>
              <a:rPr lang="en-HK" sz="18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lexical ranking, semantic matching, arbitration, and the data pipeline around them.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450FBB-81A1-0C4D-55AB-7C1EBB96792B}"/>
              </a:ext>
            </a:extLst>
          </p:cNvPr>
          <p:cNvSpPr>
            <a:spLocks noGrp="1"/>
          </p:cNvSpPr>
          <p:nvPr/>
        </p:nvSpPr>
        <p:spPr>
          <a:xfrm>
            <a:off x="800100" y="4610100"/>
            <a:ext cx="4000500" cy="381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F4BB6B-E29A-1F9B-A0F5-2A0B77F39665}"/>
              </a:ext>
            </a:extLst>
          </p:cNvPr>
          <p:cNvSpPr>
            <a:spLocks noGrp="1"/>
          </p:cNvSpPr>
          <p:nvPr/>
        </p:nvSpPr>
        <p:spPr>
          <a:xfrm>
            <a:off x="819150" y="5886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AMIDS Compass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4A5748-A76A-8E4A-C054-3273EC6E2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972550" y="781050"/>
            <a:ext cx="1695450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061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4702DF-9996-4C36-9963-9EE6DA1507B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MODEL FOCUS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AC011A-0035-4683-BD19-C9441D68C50B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Most effort went into the local navigation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E6FEE3-2550-427C-BC94-B26834AC913A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The project shifted from simply calling an LLM to 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making 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fast, controlled page decisions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locally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611AED4-E8B7-4664-9006-522BF65D2086}"/>
              </a:ext>
            </a:extLst>
          </p:cNvPr>
          <p:cNvSpPr>
            <a:spLocks noGrp="1"/>
          </p:cNvSpPr>
          <p:nvPr/>
        </p:nvSpPr>
        <p:spPr>
          <a:xfrm>
            <a:off x="952500" y="1924050"/>
            <a:ext cx="2667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38373F-BE28-4E16-8695-BDBF191E914F}"/>
              </a:ext>
            </a:extLst>
          </p:cNvPr>
          <p:cNvSpPr>
            <a:spLocks noGrp="1"/>
          </p:cNvSpPr>
          <p:nvPr/>
        </p:nvSpPr>
        <p:spPr>
          <a:xfrm>
            <a:off x="1162050" y="20574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3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Early</a:t>
            </a:r>
            <a:r>
              <a:rPr lang="en-US" sz="13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350" b="1" dirty="0" err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Ollama</a:t>
            </a:r>
            <a:r>
              <a:rPr sz="13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 LLM routing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288A01-2065-4835-B220-1606E850A841}"/>
              </a:ext>
            </a:extLst>
          </p:cNvPr>
          <p:cNvSpPr>
            <a:spLocks noGrp="1"/>
          </p:cNvSpPr>
          <p:nvPr/>
        </p:nvSpPr>
        <p:spPr>
          <a:xfrm>
            <a:off x="4095750" y="2009775"/>
            <a:ext cx="657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Good semantic flexibility, but slow and inconsistent on local hardware.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7B4654F-16A1-4F1C-81C7-8EC2150B5A10}"/>
              </a:ext>
            </a:extLst>
          </p:cNvPr>
          <p:cNvSpPr>
            <a:spLocks noGrp="1"/>
          </p:cNvSpPr>
          <p:nvPr/>
        </p:nvSpPr>
        <p:spPr>
          <a:xfrm>
            <a:off x="952500" y="2609850"/>
            <a:ext cx="2667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664239-D7F2-4A9F-9680-81086AA842A2}"/>
              </a:ext>
            </a:extLst>
          </p:cNvPr>
          <p:cNvSpPr>
            <a:spLocks noGrp="1"/>
          </p:cNvSpPr>
          <p:nvPr/>
        </p:nvSpPr>
        <p:spPr>
          <a:xfrm>
            <a:off x="1162050" y="27432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Deterministic shortcuts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397484-4B4F-42E0-995B-AB8D4D208946}"/>
              </a:ext>
            </a:extLst>
          </p:cNvPr>
          <p:cNvSpPr>
            <a:spLocks noGrp="1"/>
          </p:cNvSpPr>
          <p:nvPr/>
        </p:nvSpPr>
        <p:spPr>
          <a:xfrm>
            <a:off x="4095750" y="2695575"/>
            <a:ext cx="657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425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Fast, but risked hard-coding too much of the intended AI behavior.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61FD9D-EBCC-4DD4-BD37-B432CF64CDFF}"/>
              </a:ext>
            </a:extLst>
          </p:cNvPr>
          <p:cNvSpPr>
            <a:spLocks noGrp="1"/>
          </p:cNvSpPr>
          <p:nvPr/>
        </p:nvSpPr>
        <p:spPr>
          <a:xfrm>
            <a:off x="952500" y="3295650"/>
            <a:ext cx="2667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D60C35-F032-4306-B671-DB7CF3F23203}"/>
              </a:ext>
            </a:extLst>
          </p:cNvPr>
          <p:cNvSpPr>
            <a:spLocks noGrp="1"/>
          </p:cNvSpPr>
          <p:nvPr/>
        </p:nvSpPr>
        <p:spPr>
          <a:xfrm>
            <a:off x="1162050" y="34290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PyTorch lexical ranker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D2E97B-3607-4A8F-B64A-BB24C7465615}"/>
              </a:ext>
            </a:extLst>
          </p:cNvPr>
          <p:cNvSpPr>
            <a:spLocks noGrp="1"/>
          </p:cNvSpPr>
          <p:nvPr/>
        </p:nvSpPr>
        <p:spPr>
          <a:xfrm>
            <a:off x="4095750" y="3381375"/>
            <a:ext cx="657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Instant local inference, but sensitive to training data quality and wording coverage.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363DDBA-0248-46C8-B42F-2C2115D34DBD}"/>
              </a:ext>
            </a:extLst>
          </p:cNvPr>
          <p:cNvSpPr>
            <a:spLocks noGrp="1"/>
          </p:cNvSpPr>
          <p:nvPr/>
        </p:nvSpPr>
        <p:spPr>
          <a:xfrm>
            <a:off x="952500" y="3981450"/>
            <a:ext cx="26670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D00E66-0808-4267-8FB0-67F05444F0A8}"/>
              </a:ext>
            </a:extLst>
          </p:cNvPr>
          <p:cNvSpPr>
            <a:spLocks noGrp="1"/>
          </p:cNvSpPr>
          <p:nvPr/>
        </p:nvSpPr>
        <p:spPr>
          <a:xfrm>
            <a:off x="1162050" y="41148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Semantic encoder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C0B539-19B4-4133-9444-239AA4F90F4D}"/>
              </a:ext>
            </a:extLst>
          </p:cNvPr>
          <p:cNvSpPr>
            <a:spLocks noGrp="1"/>
          </p:cNvSpPr>
          <p:nvPr/>
        </p:nvSpPr>
        <p:spPr>
          <a:xfrm>
            <a:off x="4095750" y="4067175"/>
            <a:ext cx="657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425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Better zero/few-training baseline for meaning, but needs careful scope and arbitration logic.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1933C58-591B-4D5D-96F9-15F29723E94D}"/>
              </a:ext>
            </a:extLst>
          </p:cNvPr>
          <p:cNvSpPr>
            <a:spLocks noGrp="1"/>
          </p:cNvSpPr>
          <p:nvPr/>
        </p:nvSpPr>
        <p:spPr>
          <a:xfrm>
            <a:off x="952500" y="4667250"/>
            <a:ext cx="2667000" cy="495300"/>
          </a:xfrm>
          <a:prstGeom prst="roundRect">
            <a:avLst>
              <a:gd name="adj" fmla="val 15385"/>
            </a:avLst>
          </a:prstGeom>
          <a:solidFill>
            <a:srgbClr val="0B315D"/>
          </a:solidFill>
          <a:ln w="9525">
            <a:solidFill>
              <a:srgbClr val="0B31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0C7FCD-82A1-401E-871D-A80B4C6F2F42}"/>
              </a:ext>
            </a:extLst>
          </p:cNvPr>
          <p:cNvSpPr>
            <a:spLocks noGrp="1"/>
          </p:cNvSpPr>
          <p:nvPr/>
        </p:nvSpPr>
        <p:spPr>
          <a:xfrm>
            <a:off x="1162050" y="4800600"/>
            <a:ext cx="2247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Current direction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E991AA-A5CE-4F96-B175-924FC3DD2848}"/>
              </a:ext>
            </a:extLst>
          </p:cNvPr>
          <p:cNvSpPr>
            <a:spLocks noGrp="1"/>
          </p:cNvSpPr>
          <p:nvPr/>
        </p:nvSpPr>
        <p:spPr>
          <a:xfrm>
            <a:off x="4095750" y="4752975"/>
            <a:ext cx="657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Use semantic + lexical evidence as inputs to a controlled decision layer.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86895D-8941-9EAA-D871-023B79839B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976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0" y="443285"/>
            <a:ext cx="8200000" cy="59714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C36EAC8-F1CD-3D15-1E23-13ECFB5074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2857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333" y="467095"/>
            <a:ext cx="8133333" cy="592380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39FF81-6E45-CB22-2CE9-981D08EEE4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4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0" y="443285"/>
            <a:ext cx="8200000" cy="59714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38C93F3-15B4-919F-5018-8891BDFF6A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35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475D8F-8CA8-4DAD-8666-A8AD526DBA1C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LEXICAL RANKER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0DBF43-A044-435D-A0A6-A1FCAAD66A93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The first custom model learned query-page matching locally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7878CF-A841-46D2-994C-39D7ABE27C76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It was designed to be fast, trainable, auditable, and independent from cloud services.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D49EF96-0490-464D-9722-519EB9C6F047}"/>
              </a:ext>
            </a:extLst>
          </p:cNvPr>
          <p:cNvSpPr>
            <a:spLocks noGrp="1"/>
          </p:cNvSpPr>
          <p:nvPr/>
        </p:nvSpPr>
        <p:spPr>
          <a:xfrm>
            <a:off x="819150" y="2000250"/>
            <a:ext cx="3381375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ACDA6C-EED1-4D39-8D62-7FE398D960D2}"/>
              </a:ext>
            </a:extLst>
          </p:cNvPr>
          <p:cNvSpPr>
            <a:spLocks noGrp="1"/>
          </p:cNvSpPr>
          <p:nvPr/>
        </p:nvSpPr>
        <p:spPr>
          <a:xfrm>
            <a:off x="819150" y="2000250"/>
            <a:ext cx="66675" cy="180975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C62693-AA28-4339-A11E-63178DAA36C7}"/>
              </a:ext>
            </a:extLst>
          </p:cNvPr>
          <p:cNvSpPr>
            <a:spLocks noGrp="1"/>
          </p:cNvSpPr>
          <p:nvPr/>
        </p:nvSpPr>
        <p:spPr>
          <a:xfrm>
            <a:off x="1047750" y="2209800"/>
            <a:ext cx="29241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Input 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C5D2CA-169B-4BD3-8891-543BBD342F2E}"/>
              </a:ext>
            </a:extLst>
          </p:cNvPr>
          <p:cNvSpPr>
            <a:spLocks noGrp="1"/>
          </p:cNvSpPr>
          <p:nvPr/>
        </p:nvSpPr>
        <p:spPr>
          <a:xfrm>
            <a:off x="1047750" y="2590800"/>
            <a:ext cx="292417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Queries and pages are normalized into word unigrams, bigrams, and 3-/4-character features, then BLAKE2-hashed into fixed vectors.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A474358-1FEB-476C-A9CE-2A71B5FBD15D}"/>
              </a:ext>
            </a:extLst>
          </p:cNvPr>
          <p:cNvSpPr>
            <a:spLocks noGrp="1"/>
          </p:cNvSpPr>
          <p:nvPr/>
        </p:nvSpPr>
        <p:spPr>
          <a:xfrm>
            <a:off x="4400550" y="2000250"/>
            <a:ext cx="3381375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83E9D8-508C-4DE9-B931-726F36A810B4}"/>
              </a:ext>
            </a:extLst>
          </p:cNvPr>
          <p:cNvSpPr>
            <a:spLocks noGrp="1"/>
          </p:cNvSpPr>
          <p:nvPr/>
        </p:nvSpPr>
        <p:spPr>
          <a:xfrm>
            <a:off x="4400550" y="2000250"/>
            <a:ext cx="66675" cy="180975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100170-969B-4B8D-A25E-D5EFD6BC7E05}"/>
              </a:ext>
            </a:extLst>
          </p:cNvPr>
          <p:cNvSpPr>
            <a:spLocks noGrp="1"/>
          </p:cNvSpPr>
          <p:nvPr/>
        </p:nvSpPr>
        <p:spPr>
          <a:xfrm>
            <a:off x="4629150" y="2209800"/>
            <a:ext cx="29241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Model architecture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EEBE0-A425-45A3-9AA4-B6E831EFC975}"/>
              </a:ext>
            </a:extLst>
          </p:cNvPr>
          <p:cNvSpPr>
            <a:spLocks noGrp="1"/>
          </p:cNvSpPr>
          <p:nvPr/>
        </p:nvSpPr>
        <p:spPr>
          <a:xfrm>
            <a:off x="4629150" y="2590800"/>
            <a:ext cx="292417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Separate query and page projections compare [query, page, absolute difference, feature product], then score relevance.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F7C0353-644B-47AE-B0C3-0895419E8917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81375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9F16FC-34D3-4EC1-BB29-1FC311256144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66675" cy="1809750"/>
          </a:xfrm>
          <a:prstGeom prst="rect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2069E4-3584-4A84-AFBB-EAE02D2ACCCD}"/>
              </a:ext>
            </a:extLst>
          </p:cNvPr>
          <p:cNvSpPr>
            <a:spLocks noGrp="1"/>
          </p:cNvSpPr>
          <p:nvPr/>
        </p:nvSpPr>
        <p:spPr>
          <a:xfrm>
            <a:off x="8210550" y="2209800"/>
            <a:ext cx="29241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Scope head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A417B5-1224-4C2D-9C07-C4ABADA93442}"/>
              </a:ext>
            </a:extLst>
          </p:cNvPr>
          <p:cNvSpPr>
            <a:spLocks noGrp="1"/>
          </p:cNvSpPr>
          <p:nvPr/>
        </p:nvSpPr>
        <p:spPr>
          <a:xfrm>
            <a:off x="8210550" y="2590800"/>
            <a:ext cx="292417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 query-only branch predicts single versus multiple-page intent, later separated from role context to reduce leakage.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F91B1E-AE6C-400D-A34C-32C201F244E8}"/>
              </a:ext>
            </a:extLst>
          </p:cNvPr>
          <p:cNvSpPr>
            <a:spLocks noGrp="1"/>
          </p:cNvSpPr>
          <p:nvPr/>
        </p:nvSpPr>
        <p:spPr>
          <a:xfrm>
            <a:off x="1162050" y="44577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Important learning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CB735B-BB47-43AA-9011-E69E4645EB94}"/>
              </a:ext>
            </a:extLst>
          </p:cNvPr>
          <p:cNvSpPr>
            <a:spLocks noGrp="1"/>
          </p:cNvSpPr>
          <p:nvPr/>
        </p:nvSpPr>
        <p:spPr>
          <a:xfrm>
            <a:off x="3714750" y="4400550"/>
            <a:ext cx="6667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The model became very fast, but overfitting showed that dataset diversity and held-out realism matter more than simply increasing epoch count.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D3EFCC-DF4A-79BE-7D43-EDD19C16FD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67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3E29B7-5603-486A-AA37-1B44A146F00C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SEMANTIC ENCODER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BC076A-D156-4013-BFAE-F4F7B769A494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Semantic matching became the practical low-training baseline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6BDC7A-3447-469E-A3EF-82F409DFD5B7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 prepared local MiniLM sentence encoder compares user wording with page metadata and keywords.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6B0E69A-F878-4DC8-A64D-C9AB7FAC3095}"/>
              </a:ext>
            </a:extLst>
          </p:cNvPr>
          <p:cNvSpPr>
            <a:spLocks noGrp="1"/>
          </p:cNvSpPr>
          <p:nvPr/>
        </p:nvSpPr>
        <p:spPr>
          <a:xfrm>
            <a:off x="914400" y="20383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D875E8-CCB7-48EA-85EC-54723E7FBFC0}"/>
              </a:ext>
            </a:extLst>
          </p:cNvPr>
          <p:cNvSpPr>
            <a:spLocks noGrp="1"/>
          </p:cNvSpPr>
          <p:nvPr/>
        </p:nvSpPr>
        <p:spPr>
          <a:xfrm>
            <a:off x="914400" y="21050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1C27A9-317A-41D0-B879-7020630E954E}"/>
              </a:ext>
            </a:extLst>
          </p:cNvPr>
          <p:cNvSpPr>
            <a:spLocks noGrp="1"/>
          </p:cNvSpPr>
          <p:nvPr/>
        </p:nvSpPr>
        <p:spPr>
          <a:xfrm>
            <a:off x="1466850" y="2019300"/>
            <a:ext cx="4591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Encode the query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403BA0-B676-4165-8211-978B942F7451}"/>
              </a:ext>
            </a:extLst>
          </p:cNvPr>
          <p:cNvSpPr>
            <a:spLocks noGrp="1"/>
          </p:cNvSpPr>
          <p:nvPr/>
        </p:nvSpPr>
        <p:spPr>
          <a:xfrm>
            <a:off x="1466850" y="238125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Preprocessing expands common aviation shorthand and typo-prone terms before embedding.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2FB4E2-8456-45B8-84AF-AE96D9369E23}"/>
              </a:ext>
            </a:extLst>
          </p:cNvPr>
          <p:cNvSpPr>
            <a:spLocks noGrp="1"/>
          </p:cNvSpPr>
          <p:nvPr/>
        </p:nvSpPr>
        <p:spPr>
          <a:xfrm>
            <a:off x="914400" y="312420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F89350-3455-4C37-8DDF-2637D9DE1FC0}"/>
              </a:ext>
            </a:extLst>
          </p:cNvPr>
          <p:cNvSpPr>
            <a:spLocks noGrp="1"/>
          </p:cNvSpPr>
          <p:nvPr/>
        </p:nvSpPr>
        <p:spPr>
          <a:xfrm>
            <a:off x="914400" y="319087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77D986-0027-4972-8F71-F4AEC7552054}"/>
              </a:ext>
            </a:extLst>
          </p:cNvPr>
          <p:cNvSpPr>
            <a:spLocks noGrp="1"/>
          </p:cNvSpPr>
          <p:nvPr/>
        </p:nvSpPr>
        <p:spPr>
          <a:xfrm>
            <a:off x="1466850" y="3105150"/>
            <a:ext cx="4591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Encode page metadata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A70BF9-CEB3-435D-9378-83B48EB47857}"/>
              </a:ext>
            </a:extLst>
          </p:cNvPr>
          <p:cNvSpPr>
            <a:spLocks noGrp="1"/>
          </p:cNvSpPr>
          <p:nvPr/>
        </p:nvSpPr>
        <p:spPr>
          <a:xfrm>
            <a:off x="1466850" y="346710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Titles, descriptions, keyword groups, and dynamic supported terms become comparable page text.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0A5AD9F-5749-4950-A8B1-19380796B704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A06289-0771-4ADD-AB89-5DAE0620DEB0}"/>
              </a:ext>
            </a:extLst>
          </p:cNvPr>
          <p:cNvSpPr>
            <a:spLocks noGrp="1"/>
          </p:cNvSpPr>
          <p:nvPr/>
        </p:nvSpPr>
        <p:spPr>
          <a:xfrm>
            <a:off x="914400" y="42767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223BE-CE1B-4EC7-B4D1-38F7BAC1A746}"/>
              </a:ext>
            </a:extLst>
          </p:cNvPr>
          <p:cNvSpPr>
            <a:spLocks noGrp="1"/>
          </p:cNvSpPr>
          <p:nvPr/>
        </p:nvSpPr>
        <p:spPr>
          <a:xfrm>
            <a:off x="1466850" y="4191000"/>
            <a:ext cx="4591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Compare cosine similarities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A47262-62DC-4E76-BB41-34F8D0AAD5CB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45910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Top score, margin, cluster shape, and explicit scope cues guide single vs multiple suggestions.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E237C9E-7B15-4D47-9CF8-68F17CC5BEC6}"/>
              </a:ext>
            </a:extLst>
          </p:cNvPr>
          <p:cNvSpPr>
            <a:spLocks noGrp="1"/>
          </p:cNvSpPr>
          <p:nvPr/>
        </p:nvSpPr>
        <p:spPr>
          <a:xfrm>
            <a:off x="7000875" y="2438400"/>
            <a:ext cx="3900488" cy="23431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77308F-9E9C-4D9D-9D3A-78768A962F23}"/>
              </a:ext>
            </a:extLst>
          </p:cNvPr>
          <p:cNvSpPr>
            <a:spLocks noGrp="1"/>
          </p:cNvSpPr>
          <p:nvPr/>
        </p:nvSpPr>
        <p:spPr>
          <a:xfrm>
            <a:off x="7000875" y="2438400"/>
            <a:ext cx="71851" cy="234315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C35EAD-5F4C-4FA2-82D8-7891FFABB5A8}"/>
              </a:ext>
            </a:extLst>
          </p:cNvPr>
          <p:cNvSpPr>
            <a:spLocks noGrp="1"/>
          </p:cNvSpPr>
          <p:nvPr/>
        </p:nvSpPr>
        <p:spPr>
          <a:xfrm>
            <a:off x="7229474" y="2647949"/>
            <a:ext cx="3407795" cy="36997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Why this mattered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E77DD8-CA06-4795-B7A6-95DF16B43708}"/>
              </a:ext>
            </a:extLst>
          </p:cNvPr>
          <p:cNvSpPr>
            <a:spLocks noGrp="1"/>
          </p:cNvSpPr>
          <p:nvPr/>
        </p:nvSpPr>
        <p:spPr>
          <a:xfrm>
            <a:off x="7229474" y="3028949"/>
            <a:ext cx="3407795" cy="13565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6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It gave a functioning route decider without waiting for enough expert training data to make the lexical model fully robust.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0E54BB-CF52-7BE8-0AAD-6450FF2398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530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554D6AD-5416-486F-9DED-0D5AC78A82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D52BF7-7D7A-4A5D-AC20-5940DFE46E09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 b="1">
                <a:solidFill>
                  <a:srgbClr val="0F4C81"/>
                </a:solidFill>
              </a:defRPr>
            </a:pPr>
            <a:r>
              <a:rPr sz="975" b="1">
                <a:solidFill>
                  <a:srgbClr val="0F4C81"/>
                </a:solidFill>
              </a:rPr>
              <a:t>DYNAMIC PAGES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5A9377-87EA-43A3-83C5-F2DB1F6E0E23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10191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Dynamic URLs are resolved without expanding the registry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68935F-A6EF-4561-A03D-65E58B14DA41}"/>
              </a:ext>
            </a:extLst>
          </p:cNvPr>
          <p:cNvSpPr>
            <a:spLocks noGrp="1"/>
          </p:cNvSpPr>
          <p:nvPr/>
        </p:nvSpPr>
        <p:spPr>
          <a:xfrm>
            <a:off x="685800" y="1181100"/>
            <a:ext cx="971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>
                <a:solidFill>
                  <a:srgbClr val="4B5563"/>
                </a:solidFill>
              </a:defRPr>
            </a:pPr>
            <a:r>
              <a:rPr sz="1650">
                <a:solidFill>
                  <a:srgbClr val="4B5563"/>
                </a:solidFill>
              </a:rPr>
              <a:t>One page can represent many valid parameter states.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024483-FB7D-473D-BBFA-D5091047B49F}"/>
              </a:ext>
            </a:extLst>
          </p:cNvPr>
          <p:cNvSpPr>
            <a:spLocks noGrp="1"/>
          </p:cNvSpPr>
          <p:nvPr/>
        </p:nvSpPr>
        <p:spPr>
          <a:xfrm>
            <a:off x="685800" y="6343650"/>
            <a:ext cx="10820400" cy="9525"/>
          </a:xfrm>
          <a:prstGeom prst="rect">
            <a:avLst/>
          </a:prstGeom>
          <a:solidFill>
            <a:srgbClr val="E5E7EB"/>
          </a:solidFill>
          <a:ln w="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5A630E-6C76-4F62-A631-D5CA3D6BB463}"/>
              </a:ext>
            </a:extLst>
          </p:cNvPr>
          <p:cNvSpPr>
            <a:spLocks noGrp="1"/>
          </p:cNvSpPr>
          <p:nvPr/>
        </p:nvSpPr>
        <p:spPr>
          <a:xfrm>
            <a:off x="781050" y="649605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825">
                <a:solidFill>
                  <a:srgbClr val="4B5563"/>
                </a:solidFill>
              </a:defRPr>
            </a:pPr>
            <a:r>
              <a:rPr lang="en-HK" sz="825" dirty="0">
                <a:solidFill>
                  <a:srgbClr val="4B5563"/>
                </a:solidFill>
              </a:rPr>
              <a:t>AMIDS Compass technical report</a:t>
            </a:r>
            <a:endParaRPr sz="825" dirty="0">
              <a:solidFill>
                <a:srgbClr val="4B5563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B71E6-AF44-4A40-9985-CFB10A86F861}"/>
              </a:ext>
            </a:extLst>
          </p:cNvPr>
          <p:cNvSpPr>
            <a:spLocks noGrp="1"/>
          </p:cNvSpPr>
          <p:nvPr/>
        </p:nvSpPr>
        <p:spPr>
          <a:xfrm>
            <a:off x="11096625" y="6496050"/>
            <a:ext cx="38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>
                <a:solidFill>
                  <a:srgbClr val="4B5563"/>
                </a:solidFill>
              </a:defRPr>
            </a:pPr>
            <a:r>
              <a:rPr sz="825">
                <a:solidFill>
                  <a:srgbClr val="4B5563"/>
                </a:solidFill>
              </a:rPr>
              <a:t>09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D7F662-3877-4432-8922-E1D6A60C82DE}"/>
              </a:ext>
            </a:extLst>
          </p:cNvPr>
          <p:cNvSpPr>
            <a:spLocks noGrp="1"/>
          </p:cNvSpPr>
          <p:nvPr/>
        </p:nvSpPr>
        <p:spPr>
          <a:xfrm>
            <a:off x="819150" y="1809750"/>
            <a:ext cx="5334000" cy="295275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81FC28-CE41-4CE2-99A9-96669BB39B23}"/>
              </a:ext>
            </a:extLst>
          </p:cNvPr>
          <p:cNvSpPr>
            <a:spLocks noGrp="1"/>
          </p:cNvSpPr>
          <p:nvPr/>
        </p:nvSpPr>
        <p:spPr>
          <a:xfrm>
            <a:off x="819150" y="1809750"/>
            <a:ext cx="5334000" cy="55245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D7CAD4-989F-42A4-BCCA-CAF370C036CB}"/>
              </a:ext>
            </a:extLst>
          </p:cNvPr>
          <p:cNvSpPr>
            <a:spLocks noGrp="1"/>
          </p:cNvSpPr>
          <p:nvPr/>
        </p:nvSpPr>
        <p:spPr>
          <a:xfrm>
            <a:off x="1066800" y="19431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Family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5A875B-7DDC-4C33-837F-D6B768EB291B}"/>
              </a:ext>
            </a:extLst>
          </p:cNvPr>
          <p:cNvSpPr>
            <a:spLocks noGrp="1"/>
          </p:cNvSpPr>
          <p:nvPr/>
        </p:nvSpPr>
        <p:spPr>
          <a:xfrm>
            <a:off x="2952750" y="19431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84D4BE-FE09-451F-9F93-EBA0A2904FF4}"/>
              </a:ext>
            </a:extLst>
          </p:cNvPr>
          <p:cNvSpPr>
            <a:spLocks noGrp="1"/>
          </p:cNvSpPr>
          <p:nvPr/>
        </p:nvSpPr>
        <p:spPr>
          <a:xfrm>
            <a:off x="819150" y="2362200"/>
            <a:ext cx="5334000" cy="600075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330D73-9575-4F5B-9B7C-946F9285B0A7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0F4C81"/>
                </a:solidFill>
              </a:defRPr>
            </a:pPr>
            <a:r>
              <a:rPr sz="1500" b="1">
                <a:solidFill>
                  <a:srgbClr val="0F4C81"/>
                </a:solidFill>
              </a:rPr>
              <a:t>Flight packages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04299A4-B1F8-4C97-AFB1-C2FA6DBAB0F8}"/>
              </a:ext>
            </a:extLst>
          </p:cNvPr>
          <p:cNvSpPr>
            <a:spLocks noGrp="1"/>
          </p:cNvSpPr>
          <p:nvPr/>
        </p:nvSpPr>
        <p:spPr>
          <a:xfrm>
            <a:off x="2952750" y="2428875"/>
            <a:ext cx="28575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1F2937"/>
                </a:solidFill>
              </a:defRPr>
            </a:pPr>
            <a:r>
              <a:rPr sz="1350" dirty="0">
                <a:solidFill>
                  <a:srgbClr val="1F2937"/>
                </a:solidFill>
              </a:rPr>
              <a:t>Flight number, destination, or route code.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4A9108-9E04-4744-A50C-8E55125B9F6E}"/>
              </a:ext>
            </a:extLst>
          </p:cNvPr>
          <p:cNvSpPr>
            <a:spLocks noGrp="1"/>
          </p:cNvSpPr>
          <p:nvPr/>
        </p:nvSpPr>
        <p:spPr>
          <a:xfrm>
            <a:off x="819150" y="2962275"/>
            <a:ext cx="5334000" cy="600075"/>
          </a:xfrm>
          <a:prstGeom prst="rect">
            <a:avLst/>
          </a:prstGeom>
          <a:solidFill>
            <a:srgbClr val="F3F6F9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33F702-BC92-4CB3-A9BE-0097CEB99A20}"/>
              </a:ext>
            </a:extLst>
          </p:cNvPr>
          <p:cNvSpPr>
            <a:spLocks noGrp="1"/>
          </p:cNvSpPr>
          <p:nvPr/>
        </p:nvSpPr>
        <p:spPr>
          <a:xfrm>
            <a:off x="1066800" y="31146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0F4C81"/>
                </a:solidFill>
              </a:defRPr>
            </a:pPr>
            <a:r>
              <a:rPr sz="1500" b="1">
                <a:solidFill>
                  <a:srgbClr val="0F4C81"/>
                </a:solidFill>
              </a:rPr>
              <a:t>Radar pages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F4A63F-D145-4A5C-8D61-8337B76D81C9}"/>
              </a:ext>
            </a:extLst>
          </p:cNvPr>
          <p:cNvSpPr>
            <a:spLocks noGrp="1"/>
          </p:cNvSpPr>
          <p:nvPr/>
        </p:nvSpPr>
        <p:spPr>
          <a:xfrm>
            <a:off x="2952750" y="3114675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1F2937"/>
                </a:solidFill>
              </a:defRPr>
            </a:pPr>
            <a:r>
              <a:rPr sz="1350" dirty="0">
                <a:solidFill>
                  <a:srgbClr val="1F2937"/>
                </a:solidFill>
              </a:rPr>
              <a:t>Range, animation, and overlay.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537B57-9F9E-4ABF-AFC1-3CF49F67B59E}"/>
              </a:ext>
            </a:extLst>
          </p:cNvPr>
          <p:cNvSpPr>
            <a:spLocks noGrp="1"/>
          </p:cNvSpPr>
          <p:nvPr/>
        </p:nvSpPr>
        <p:spPr>
          <a:xfrm>
            <a:off x="819150" y="3562350"/>
            <a:ext cx="5334000" cy="600075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2C8C56-2FCE-4D7E-955F-4A81F8DCE294}"/>
              </a:ext>
            </a:extLst>
          </p:cNvPr>
          <p:cNvSpPr>
            <a:spLocks noGrp="1"/>
          </p:cNvSpPr>
          <p:nvPr/>
        </p:nvSpPr>
        <p:spPr>
          <a:xfrm>
            <a:off x="1066800" y="37147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0F4C81"/>
                </a:solidFill>
              </a:defRPr>
            </a:pPr>
            <a:r>
              <a:rPr sz="1500" b="1">
                <a:solidFill>
                  <a:srgbClr val="0F4C81"/>
                </a:solidFill>
              </a:rPr>
              <a:t>Satellite pages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EC8DD9-CF39-4F83-8F7D-F18E893E6186}"/>
              </a:ext>
            </a:extLst>
          </p:cNvPr>
          <p:cNvSpPr>
            <a:spLocks noGrp="1"/>
          </p:cNvSpPr>
          <p:nvPr/>
        </p:nvSpPr>
        <p:spPr>
          <a:xfrm>
            <a:off x="2952750" y="3705224"/>
            <a:ext cx="28575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1F2937"/>
                </a:solidFill>
              </a:defRPr>
            </a:pPr>
            <a:r>
              <a:rPr sz="1350" dirty="0">
                <a:solidFill>
                  <a:srgbClr val="1F2937"/>
                </a:solidFill>
              </a:rPr>
              <a:t>Region, view type, and TC overlays.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409C1B-0058-43D8-837B-435D93A22BA0}"/>
              </a:ext>
            </a:extLst>
          </p:cNvPr>
          <p:cNvSpPr>
            <a:spLocks noGrp="1"/>
          </p:cNvSpPr>
          <p:nvPr/>
        </p:nvSpPr>
        <p:spPr>
          <a:xfrm>
            <a:off x="819150" y="4162425"/>
            <a:ext cx="5334000" cy="600075"/>
          </a:xfrm>
          <a:prstGeom prst="rect">
            <a:avLst/>
          </a:prstGeom>
          <a:solidFill>
            <a:srgbClr val="F3F6F9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6E3998-CECD-493C-B2D2-949931830AE9}"/>
              </a:ext>
            </a:extLst>
          </p:cNvPr>
          <p:cNvSpPr>
            <a:spLocks noGrp="1"/>
          </p:cNvSpPr>
          <p:nvPr/>
        </p:nvSpPr>
        <p:spPr>
          <a:xfrm>
            <a:off x="1066800" y="431482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0F4C81"/>
                </a:solidFill>
              </a:defRPr>
            </a:pPr>
            <a:r>
              <a:rPr sz="1500" b="1">
                <a:solidFill>
                  <a:srgbClr val="0F4C81"/>
                </a:solidFill>
              </a:rPr>
              <a:t>Reports &amp; charts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816361-E1BA-4FEB-A140-0A4A94B6370E}"/>
              </a:ext>
            </a:extLst>
          </p:cNvPr>
          <p:cNvSpPr>
            <a:spLocks noGrp="1"/>
          </p:cNvSpPr>
          <p:nvPr/>
        </p:nvSpPr>
        <p:spPr>
          <a:xfrm>
            <a:off x="2952750" y="4200525"/>
            <a:ext cx="2857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1F2937"/>
                </a:solidFill>
              </a:defRPr>
            </a:pPr>
            <a:r>
              <a:rPr sz="1350" dirty="0">
                <a:solidFill>
                  <a:srgbClr val="1F2937"/>
                </a:solidFill>
              </a:rPr>
              <a:t>OPMET, minima, SIGWX, wind/temp, volcanic ash.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5CA4-90F1-4491-8FF7-6531D3677A6D}"/>
              </a:ext>
            </a:extLst>
          </p:cNvPr>
          <p:cNvSpPr>
            <a:spLocks noGrp="1"/>
          </p:cNvSpPr>
          <p:nvPr/>
        </p:nvSpPr>
        <p:spPr>
          <a:xfrm>
            <a:off x="6705600" y="1809750"/>
            <a:ext cx="4095750" cy="2857500"/>
          </a:xfrm>
          <a:prstGeom prst="roundRect">
            <a:avLst>
              <a:gd name="adj" fmla="val 4000"/>
            </a:avLst>
          </a:prstGeom>
          <a:solidFill>
            <a:srgbClr val="F2F7FB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170B82-B547-4CC9-9DA2-2EE339675139}"/>
              </a:ext>
            </a:extLst>
          </p:cNvPr>
          <p:cNvSpPr>
            <a:spLocks noGrp="1"/>
          </p:cNvSpPr>
          <p:nvPr/>
        </p:nvSpPr>
        <p:spPr>
          <a:xfrm>
            <a:off x="6953250" y="2038350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0F4C81"/>
                </a:solidFill>
              </a:defRPr>
            </a:pPr>
            <a:r>
              <a:rPr sz="1800" b="1">
                <a:solidFill>
                  <a:srgbClr val="0F4C81"/>
                </a:solidFill>
              </a:rPr>
              <a:t>Resolution rules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AC4F14-8E66-4607-A1EA-577C08BBC609}"/>
              </a:ext>
            </a:extLst>
          </p:cNvPr>
          <p:cNvSpPr>
            <a:spLocks noGrp="1"/>
          </p:cNvSpPr>
          <p:nvPr/>
        </p:nvSpPr>
        <p:spPr>
          <a:xfrm>
            <a:off x="6953250" y="2495550"/>
            <a:ext cx="360045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70787E9-8ADA-4A94-9C6C-B50089673302}"/>
              </a:ext>
            </a:extLst>
          </p:cNvPr>
          <p:cNvSpPr>
            <a:spLocks noGrp="1"/>
          </p:cNvSpPr>
          <p:nvPr/>
        </p:nvSpPr>
        <p:spPr>
          <a:xfrm>
            <a:off x="7048500" y="2733675"/>
            <a:ext cx="66675" cy="66675"/>
          </a:xfrm>
          <a:prstGeom prst="ellipse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BD679C-64AD-4B07-9462-8622B4BFA868}"/>
              </a:ext>
            </a:extLst>
          </p:cNvPr>
          <p:cNvSpPr>
            <a:spLocks noGrp="1"/>
          </p:cNvSpPr>
          <p:nvPr/>
        </p:nvSpPr>
        <p:spPr>
          <a:xfrm>
            <a:off x="7277100" y="2543175"/>
            <a:ext cx="3009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sz="1425" dirty="0">
                <a:solidFill>
                  <a:srgbClr val="1F2937"/>
                </a:solidFill>
              </a:rPr>
              <a:t>Use static path unless dynamic intent is detected.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6DF5F82-C902-4C2C-B4B3-CCCF57201312}"/>
              </a:ext>
            </a:extLst>
          </p:cNvPr>
          <p:cNvSpPr>
            <a:spLocks noGrp="1"/>
          </p:cNvSpPr>
          <p:nvPr/>
        </p:nvSpPr>
        <p:spPr>
          <a:xfrm>
            <a:off x="7048500" y="3190875"/>
            <a:ext cx="66675" cy="66675"/>
          </a:xfrm>
          <a:prstGeom prst="ellipse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F9DF5C-C98B-42CE-A754-607767213181}"/>
              </a:ext>
            </a:extLst>
          </p:cNvPr>
          <p:cNvSpPr>
            <a:spLocks noGrp="1"/>
          </p:cNvSpPr>
          <p:nvPr/>
        </p:nvSpPr>
        <p:spPr>
          <a:xfrm>
            <a:off x="7252607" y="3009900"/>
            <a:ext cx="3009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sz="1425" dirty="0">
                <a:solidFill>
                  <a:srgbClr val="1F2937"/>
                </a:solidFill>
              </a:rPr>
              <a:t>Ask only for crucial identity parameters.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5510E9C-D40C-4C9B-AE75-7EC1E0852CD8}"/>
              </a:ext>
            </a:extLst>
          </p:cNvPr>
          <p:cNvSpPr>
            <a:spLocks noGrp="1"/>
          </p:cNvSpPr>
          <p:nvPr/>
        </p:nvSpPr>
        <p:spPr>
          <a:xfrm>
            <a:off x="7048500" y="3648075"/>
            <a:ext cx="66675" cy="66675"/>
          </a:xfrm>
          <a:prstGeom prst="ellipse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75B5B1A-CA57-4E3A-803E-D249EFCCE52B}"/>
              </a:ext>
            </a:extLst>
          </p:cNvPr>
          <p:cNvSpPr>
            <a:spLocks noGrp="1"/>
          </p:cNvSpPr>
          <p:nvPr/>
        </p:nvSpPr>
        <p:spPr>
          <a:xfrm>
            <a:off x="7210425" y="3577590"/>
            <a:ext cx="3009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sz="1425" dirty="0">
                <a:solidFill>
                  <a:srgbClr val="1F2937"/>
                </a:solidFill>
              </a:rPr>
              <a:t>Default low-risk display settings.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0C4CC56-2998-4952-B008-680F20D169FC}"/>
              </a:ext>
            </a:extLst>
          </p:cNvPr>
          <p:cNvSpPr>
            <a:spLocks noGrp="1"/>
          </p:cNvSpPr>
          <p:nvPr/>
        </p:nvSpPr>
        <p:spPr>
          <a:xfrm>
            <a:off x="7048500" y="4105275"/>
            <a:ext cx="66675" cy="66675"/>
          </a:xfrm>
          <a:prstGeom prst="ellipse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FFA384-9DAA-477D-9DA2-503CA0CD13F7}"/>
              </a:ext>
            </a:extLst>
          </p:cNvPr>
          <p:cNvSpPr>
            <a:spLocks noGrp="1"/>
          </p:cNvSpPr>
          <p:nvPr/>
        </p:nvSpPr>
        <p:spPr>
          <a:xfrm>
            <a:off x="7210425" y="3981450"/>
            <a:ext cx="3009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F2937"/>
                </a:solidFill>
              </a:defRPr>
            </a:pPr>
            <a:r>
              <a:rPr sz="1425" dirty="0">
                <a:solidFill>
                  <a:srgbClr val="1F2937"/>
                </a:solidFill>
              </a:rPr>
              <a:t>Group related dynamic page families.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E8A96FD-47D2-4CF1-9663-8B22738D164A}"/>
              </a:ext>
            </a:extLst>
          </p:cNvPr>
          <p:cNvSpPr>
            <a:spLocks noGrp="1"/>
          </p:cNvSpPr>
          <p:nvPr/>
        </p:nvSpPr>
        <p:spPr>
          <a:xfrm>
            <a:off x="6838950" y="5191125"/>
            <a:ext cx="400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Result: flexible links without an unmanageable registry.</a:t>
            </a:r>
          </a:p>
        </p:txBody>
      </p:sp>
    </p:spTree>
    <p:extLst>
      <p:ext uri="{BB962C8B-B14F-4D97-AF65-F5344CB8AC3E}">
        <p14:creationId xmlns:p14="http://schemas.microsoft.com/office/powerpoint/2010/main" val="814063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EC7DF0D-D17C-4739-8ADB-399762463FCE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ARBITRATION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E7AA73-5C31-40DF-8013-3E97DF9DA8B0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The decision layer became as important as the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2CF12F-BB79-4AB8-BFF6-55ACC301F129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Raw lexical scores and semantic similarities are not directly comparable, so the app now separates evidence from confidence-to-act.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B3DB39-2FFD-40F8-8220-8F40B6D5A9E8}"/>
              </a:ext>
            </a:extLst>
          </p:cNvPr>
          <p:cNvSpPr>
            <a:spLocks noGrp="1"/>
          </p:cNvSpPr>
          <p:nvPr/>
        </p:nvSpPr>
        <p:spPr>
          <a:xfrm>
            <a:off x="685800" y="6305550"/>
            <a:ext cx="10820400" cy="9525"/>
          </a:xfrm>
          <a:prstGeom prst="rect">
            <a:avLst/>
          </a:prstGeom>
          <a:solidFill>
            <a:srgbClr val="D8E4E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C0CE8A-D1FC-4C16-9100-230D763D9922}"/>
              </a:ext>
            </a:extLst>
          </p:cNvPr>
          <p:cNvSpPr>
            <a:spLocks noGrp="1"/>
          </p:cNvSpPr>
          <p:nvPr/>
        </p:nvSpPr>
        <p:spPr>
          <a:xfrm>
            <a:off x="74295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AMIDS Compass technical report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365BF7-F20C-4098-81D2-3CCF88490E7A}"/>
              </a:ext>
            </a:extLst>
          </p:cNvPr>
          <p:cNvSpPr>
            <a:spLocks noGrp="1"/>
          </p:cNvSpPr>
          <p:nvPr/>
        </p:nvSpPr>
        <p:spPr>
          <a:xfrm>
            <a:off x="11049000" y="64198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BA3BC37-F034-4CBF-B4C1-BB9D33D1C479}"/>
              </a:ext>
            </a:extLst>
          </p:cNvPr>
          <p:cNvSpPr>
            <a:spLocks noGrp="1"/>
          </p:cNvSpPr>
          <p:nvPr/>
        </p:nvSpPr>
        <p:spPr>
          <a:xfrm>
            <a:off x="876300" y="2019300"/>
            <a:ext cx="314325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DBAD41-FE01-4F4C-B41F-8B1C81FD9DD5}"/>
              </a:ext>
            </a:extLst>
          </p:cNvPr>
          <p:cNvSpPr>
            <a:spLocks noGrp="1"/>
          </p:cNvSpPr>
          <p:nvPr/>
        </p:nvSpPr>
        <p:spPr>
          <a:xfrm>
            <a:off x="876300" y="2019300"/>
            <a:ext cx="66675" cy="167640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4B76FB-C3CA-4E82-930E-772BE9E82884}"/>
              </a:ext>
            </a:extLst>
          </p:cNvPr>
          <p:cNvSpPr>
            <a:spLocks noGrp="1"/>
          </p:cNvSpPr>
          <p:nvPr/>
        </p:nvSpPr>
        <p:spPr>
          <a:xfrm>
            <a:off x="1104900" y="222885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Lexical evidence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CE331F-3353-4AAB-96DB-17751A60E199}"/>
              </a:ext>
            </a:extLst>
          </p:cNvPr>
          <p:cNvSpPr>
            <a:spLocks noGrp="1"/>
          </p:cNvSpPr>
          <p:nvPr/>
        </p:nvSpPr>
        <p:spPr>
          <a:xfrm>
            <a:off x="1104900" y="260985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Strong when trained wording matches page metadata; risky when it becomes overconfident on narrow patterns.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358B7A8-FC08-4A57-9471-BE9F2026A439}"/>
              </a:ext>
            </a:extLst>
          </p:cNvPr>
          <p:cNvSpPr>
            <a:spLocks noGrp="1"/>
          </p:cNvSpPr>
          <p:nvPr/>
        </p:nvSpPr>
        <p:spPr>
          <a:xfrm>
            <a:off x="4524375" y="2019300"/>
            <a:ext cx="314325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1DC440-8F7A-43DA-AEF2-81100F587488}"/>
              </a:ext>
            </a:extLst>
          </p:cNvPr>
          <p:cNvSpPr>
            <a:spLocks noGrp="1"/>
          </p:cNvSpPr>
          <p:nvPr/>
        </p:nvSpPr>
        <p:spPr>
          <a:xfrm>
            <a:off x="4524375" y="2019300"/>
            <a:ext cx="66675" cy="1676400"/>
          </a:xfrm>
          <a:prstGeom prst="rect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AC5D3E-7FC2-40FF-BD5F-5A0F2AE1B0C1}"/>
              </a:ext>
            </a:extLst>
          </p:cNvPr>
          <p:cNvSpPr>
            <a:spLocks noGrp="1"/>
          </p:cNvSpPr>
          <p:nvPr/>
        </p:nvSpPr>
        <p:spPr>
          <a:xfrm>
            <a:off x="4752975" y="222885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Semantic evidence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712BFB-AB64-4520-88C9-2227213342D6}"/>
              </a:ext>
            </a:extLst>
          </p:cNvPr>
          <p:cNvSpPr>
            <a:spLocks noGrp="1"/>
          </p:cNvSpPr>
          <p:nvPr/>
        </p:nvSpPr>
        <p:spPr>
          <a:xfrm>
            <a:off x="4752975" y="260985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Useful for meaning and synonyms; weaker when many related pages cluster close together.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D4EB2D7-670D-43A2-914F-D3B558ABAE94}"/>
              </a:ext>
            </a:extLst>
          </p:cNvPr>
          <p:cNvSpPr>
            <a:spLocks noGrp="1"/>
          </p:cNvSpPr>
          <p:nvPr/>
        </p:nvSpPr>
        <p:spPr>
          <a:xfrm>
            <a:off x="8172450" y="2019300"/>
            <a:ext cx="314325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CED957-867C-42CF-AC4C-52E06A087453}"/>
              </a:ext>
            </a:extLst>
          </p:cNvPr>
          <p:cNvSpPr>
            <a:spLocks noGrp="1"/>
          </p:cNvSpPr>
          <p:nvPr/>
        </p:nvSpPr>
        <p:spPr>
          <a:xfrm>
            <a:off x="8172450" y="2019300"/>
            <a:ext cx="66675" cy="16764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1A8A2E-88EC-4A06-B532-2E7A2C0A4EC2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Arbitrated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9723DF-CD32-432A-8128-41D192C98668}"/>
              </a:ext>
            </a:extLst>
          </p:cNvPr>
          <p:cNvSpPr>
            <a:spLocks noGrp="1"/>
          </p:cNvSpPr>
          <p:nvPr/>
        </p:nvSpPr>
        <p:spPr>
          <a:xfrm>
            <a:off x="8401050" y="2609850"/>
            <a:ext cx="2686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Open when evidence is clear; suggest/clarify when models disagree, scope is unclear, or dynamic info is missing.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8F06F2-FEE9-4A19-A2C9-3ED2F1DF2282}"/>
              </a:ext>
            </a:extLst>
          </p:cNvPr>
          <p:cNvSpPr>
            <a:spLocks noGrp="1"/>
          </p:cNvSpPr>
          <p:nvPr/>
        </p:nvSpPr>
        <p:spPr>
          <a:xfrm>
            <a:off x="1123950" y="4476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lang="en-US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Final</a:t>
            </a:r>
            <a:r>
              <a:rPr sz="18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 design choice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B85C54-4C67-4C61-9238-FF66B48DEF42}"/>
              </a:ext>
            </a:extLst>
          </p:cNvPr>
          <p:cNvSpPr>
            <a:spLocks noGrp="1"/>
          </p:cNvSpPr>
          <p:nvPr/>
        </p:nvSpPr>
        <p:spPr>
          <a:xfrm>
            <a:off x="3714750" y="4400550"/>
            <a:ext cx="7048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Use model outputs as evidence sources. The final product decision can still be clarification, grouped suggestions, dynamic-param prompts, or personalized shortcut opening.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DF48CA9-DF8F-4AFC-C17C-E91A06A73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578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AD45C2-9852-45EF-9306-CDA53F37E551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TRAINING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749A8A-5044-49BA-9FD0-28CE23563D97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The model pipeline became a product in its own right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EB5184-2F3C-4675-AAD9-4E311CDB1ABC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 large part of the work is generating, validating, reviewing, evaluating, and promoting data safely.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It is repeatable!</a:t>
            </a:r>
            <a:endParaRPr sz="1500" dirty="0">
              <a:solidFill>
                <a:srgbClr val="526475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63D13B-0DFE-431A-89B6-0D9392B35131}"/>
              </a:ext>
            </a:extLst>
          </p:cNvPr>
          <p:cNvSpPr>
            <a:spLocks noGrp="1"/>
          </p:cNvSpPr>
          <p:nvPr/>
        </p:nvSpPr>
        <p:spPr>
          <a:xfrm>
            <a:off x="685800" y="6305550"/>
            <a:ext cx="10820400" cy="9525"/>
          </a:xfrm>
          <a:prstGeom prst="rect">
            <a:avLst/>
          </a:prstGeom>
          <a:solidFill>
            <a:srgbClr val="D8E4E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C1827A-67DD-4FF3-ADEC-D365C85195A8}"/>
              </a:ext>
            </a:extLst>
          </p:cNvPr>
          <p:cNvSpPr>
            <a:spLocks noGrp="1"/>
          </p:cNvSpPr>
          <p:nvPr/>
        </p:nvSpPr>
        <p:spPr>
          <a:xfrm>
            <a:off x="742950" y="64198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AMIDS Compass technical report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8D0396-6BFA-4AC7-BE6F-7B5A953F2A9C}"/>
              </a:ext>
            </a:extLst>
          </p:cNvPr>
          <p:cNvSpPr>
            <a:spLocks noGrp="1"/>
          </p:cNvSpPr>
          <p:nvPr/>
        </p:nvSpPr>
        <p:spPr>
          <a:xfrm>
            <a:off x="11049000" y="641985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177A6C-68F9-42DF-826F-8BE8721F2179}"/>
              </a:ext>
            </a:extLst>
          </p:cNvPr>
          <p:cNvSpPr>
            <a:spLocks noGrp="1"/>
          </p:cNvSpPr>
          <p:nvPr/>
        </p:nvSpPr>
        <p:spPr>
          <a:xfrm>
            <a:off x="895350" y="19240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38E43C-D953-4942-A60A-E9268230A8CC}"/>
              </a:ext>
            </a:extLst>
          </p:cNvPr>
          <p:cNvSpPr>
            <a:spLocks noGrp="1"/>
          </p:cNvSpPr>
          <p:nvPr/>
        </p:nvSpPr>
        <p:spPr>
          <a:xfrm>
            <a:off x="895350" y="19907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83BA47-6D9F-461D-A0AB-F8ABCD6C7ECD}"/>
              </a:ext>
            </a:extLst>
          </p:cNvPr>
          <p:cNvSpPr>
            <a:spLocks noGrp="1"/>
          </p:cNvSpPr>
          <p:nvPr/>
        </p:nvSpPr>
        <p:spPr>
          <a:xfrm>
            <a:off x="1447800" y="1905000"/>
            <a:ext cx="3924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Registry export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3B8DD-F7CC-4CB8-8DD7-3E5DEFF008C6}"/>
              </a:ext>
            </a:extLst>
          </p:cNvPr>
          <p:cNvSpPr>
            <a:spLocks noGrp="1"/>
          </p:cNvSpPr>
          <p:nvPr/>
        </p:nvSpPr>
        <p:spPr>
          <a:xfrm>
            <a:off x="1447800" y="2266950"/>
            <a:ext cx="3924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Freeze approved page metadata.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B3D786A-8289-4B8F-936B-ED106D05EB47}"/>
              </a:ext>
            </a:extLst>
          </p:cNvPr>
          <p:cNvSpPr>
            <a:spLocks noGrp="1"/>
          </p:cNvSpPr>
          <p:nvPr/>
        </p:nvSpPr>
        <p:spPr>
          <a:xfrm>
            <a:off x="895350" y="29908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21CDF8-5B48-4661-9E7D-85BD30E6E4C3}"/>
              </a:ext>
            </a:extLst>
          </p:cNvPr>
          <p:cNvSpPr>
            <a:spLocks noGrp="1"/>
          </p:cNvSpPr>
          <p:nvPr/>
        </p:nvSpPr>
        <p:spPr>
          <a:xfrm>
            <a:off x="895350" y="30575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8336FF-7F75-480C-B9AA-4799F49F6797}"/>
              </a:ext>
            </a:extLst>
          </p:cNvPr>
          <p:cNvSpPr>
            <a:spLocks noGrp="1"/>
          </p:cNvSpPr>
          <p:nvPr/>
        </p:nvSpPr>
        <p:spPr>
          <a:xfrm>
            <a:off x="1447800" y="2971800"/>
            <a:ext cx="3924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Generated 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8E6C4F-1AEE-4D5C-BECC-AB418AB84D92}"/>
              </a:ext>
            </a:extLst>
          </p:cNvPr>
          <p:cNvSpPr>
            <a:spLocks noGrp="1"/>
          </p:cNvSpPr>
          <p:nvPr/>
        </p:nvSpPr>
        <p:spPr>
          <a:xfrm>
            <a:off x="1447800" y="3333750"/>
            <a:ext cx="3924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Balanced template variants, typos, scopes.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2AB0E0B-13AE-4089-9A79-678C86C2B9BC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FFA637-E121-44B8-9E67-DB265A8A0FB1}"/>
              </a:ext>
            </a:extLst>
          </p:cNvPr>
          <p:cNvSpPr>
            <a:spLocks noGrp="1"/>
          </p:cNvSpPr>
          <p:nvPr/>
        </p:nvSpPr>
        <p:spPr>
          <a:xfrm>
            <a:off x="895350" y="41243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83C4E6-044E-4136-8EF5-78691C07066A}"/>
              </a:ext>
            </a:extLst>
          </p:cNvPr>
          <p:cNvSpPr>
            <a:spLocks noGrp="1"/>
          </p:cNvSpPr>
          <p:nvPr/>
        </p:nvSpPr>
        <p:spPr>
          <a:xfrm>
            <a:off x="1447800" y="4038600"/>
            <a:ext cx="3924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Synthetic expert seeds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C48238-496B-461E-869D-142026D2E9D6}"/>
              </a:ext>
            </a:extLst>
          </p:cNvPr>
          <p:cNvSpPr>
            <a:spLocks noGrp="1"/>
          </p:cNvSpPr>
          <p:nvPr/>
        </p:nvSpPr>
        <p:spPr>
          <a:xfrm>
            <a:off x="1447800" y="4400550"/>
            <a:ext cx="3924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LLM-written queries with fixed labels.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5302D1A-3FF1-4FBA-9040-2D86FD9BE573}"/>
              </a:ext>
            </a:extLst>
          </p:cNvPr>
          <p:cNvSpPr>
            <a:spLocks noGrp="1"/>
          </p:cNvSpPr>
          <p:nvPr/>
        </p:nvSpPr>
        <p:spPr>
          <a:xfrm>
            <a:off x="6610350" y="19240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E21D9F-ECA7-4FD1-A666-D08AAED1D225}"/>
              </a:ext>
            </a:extLst>
          </p:cNvPr>
          <p:cNvSpPr>
            <a:spLocks noGrp="1"/>
          </p:cNvSpPr>
          <p:nvPr/>
        </p:nvSpPr>
        <p:spPr>
          <a:xfrm>
            <a:off x="6610350" y="19907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2BFAF7-1B4C-45F2-AD91-4F0B470E8D63}"/>
              </a:ext>
            </a:extLst>
          </p:cNvPr>
          <p:cNvSpPr>
            <a:spLocks noGrp="1"/>
          </p:cNvSpPr>
          <p:nvPr/>
        </p:nvSpPr>
        <p:spPr>
          <a:xfrm>
            <a:off x="7162800" y="1905000"/>
            <a:ext cx="3924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Hard examples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8C62DE-5C20-4FED-B9EB-B153B0C43E44}"/>
              </a:ext>
            </a:extLst>
          </p:cNvPr>
          <p:cNvSpPr>
            <a:spLocks noGrp="1"/>
          </p:cNvSpPr>
          <p:nvPr/>
        </p:nvSpPr>
        <p:spPr>
          <a:xfrm>
            <a:off x="7162800" y="2266950"/>
            <a:ext cx="3924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Failure cases routed to review.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10A8379-1706-430C-BEE9-1C022A15972C}"/>
              </a:ext>
            </a:extLst>
          </p:cNvPr>
          <p:cNvSpPr>
            <a:spLocks noGrp="1"/>
          </p:cNvSpPr>
          <p:nvPr/>
        </p:nvSpPr>
        <p:spPr>
          <a:xfrm>
            <a:off x="6610350" y="29908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2B2D019-E1CE-46E4-AB7A-2572322FDD9B}"/>
              </a:ext>
            </a:extLst>
          </p:cNvPr>
          <p:cNvSpPr>
            <a:spLocks noGrp="1"/>
          </p:cNvSpPr>
          <p:nvPr/>
        </p:nvSpPr>
        <p:spPr>
          <a:xfrm>
            <a:off x="6610350" y="30575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B362CB7-0D6A-46EB-BF1C-8B830DB8BEFF}"/>
              </a:ext>
            </a:extLst>
          </p:cNvPr>
          <p:cNvSpPr>
            <a:spLocks noGrp="1"/>
          </p:cNvSpPr>
          <p:nvPr/>
        </p:nvSpPr>
        <p:spPr>
          <a:xfrm>
            <a:off x="7162800" y="2971800"/>
            <a:ext cx="3924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Held-out tests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8B78860-96B3-4F72-B63B-71238EF0966C}"/>
              </a:ext>
            </a:extLst>
          </p:cNvPr>
          <p:cNvSpPr>
            <a:spLocks noGrp="1"/>
          </p:cNvSpPr>
          <p:nvPr/>
        </p:nvSpPr>
        <p:spPr>
          <a:xfrm>
            <a:off x="7162800" y="3333750"/>
            <a:ext cx="3924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Frozen evaluation data, not training data.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C97269E-DF17-4754-8DDE-404A6DC6F2D1}"/>
              </a:ext>
            </a:extLst>
          </p:cNvPr>
          <p:cNvSpPr>
            <a:spLocks noGrp="1"/>
          </p:cNvSpPr>
          <p:nvPr/>
        </p:nvSpPr>
        <p:spPr>
          <a:xfrm>
            <a:off x="6610350" y="4057650"/>
            <a:ext cx="400050" cy="400050"/>
          </a:xfrm>
          <a:prstGeom prst="ellipse">
            <a:avLst/>
          </a:prstGeom>
          <a:solidFill>
            <a:srgbClr val="0B315D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D03CC4-9621-4687-B203-A419556495FF}"/>
              </a:ext>
            </a:extLst>
          </p:cNvPr>
          <p:cNvSpPr>
            <a:spLocks noGrp="1"/>
          </p:cNvSpPr>
          <p:nvPr/>
        </p:nvSpPr>
        <p:spPr>
          <a:xfrm>
            <a:off x="6610350" y="4124325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7A50B4-9722-409E-AC1F-BC546BA26D41}"/>
              </a:ext>
            </a:extLst>
          </p:cNvPr>
          <p:cNvSpPr>
            <a:spLocks noGrp="1"/>
          </p:cNvSpPr>
          <p:nvPr/>
        </p:nvSpPr>
        <p:spPr>
          <a:xfrm>
            <a:off x="7162800" y="4038600"/>
            <a:ext cx="3924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Promotion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FF6274-1399-4CBF-82AC-9913BA3A076A}"/>
              </a:ext>
            </a:extLst>
          </p:cNvPr>
          <p:cNvSpPr>
            <a:spLocks noGrp="1"/>
          </p:cNvSpPr>
          <p:nvPr/>
        </p:nvSpPr>
        <p:spPr>
          <a:xfrm>
            <a:off x="7162800" y="4400550"/>
            <a:ext cx="3924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Compare, approve, roll back.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2E8240-07FF-4956-8983-111FB3938DE9}"/>
              </a:ext>
            </a:extLst>
          </p:cNvPr>
          <p:cNvSpPr>
            <a:spLocks noGrp="1"/>
          </p:cNvSpPr>
          <p:nvPr/>
        </p:nvSpPr>
        <p:spPr>
          <a:xfrm>
            <a:off x="1428750" y="541020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1650" b="1" dirty="0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Key lesson: more examples only help when they add genuinely different wording and trustworthy labels.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908327-66E4-FD0A-DAA2-1ABB21AFF1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345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1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8E1F3-980C-7A8E-FF36-5516E9D7E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843CD3-BC33-9DF5-962C-41C44AE124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68FBF1-0A2E-C084-4DCC-D6A08FA81C39}"/>
              </a:ext>
            </a:extLst>
          </p:cNvPr>
          <p:cNvSpPr>
            <a:spLocks noGrp="1"/>
          </p:cNvSpPr>
          <p:nvPr/>
        </p:nvSpPr>
        <p:spPr>
          <a:xfrm>
            <a:off x="800100" y="10287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CFE3F4"/>
                </a:solidFill>
                <a:latin typeface="Calibri"/>
                <a:ea typeface="Calibri"/>
                <a:cs typeface="Calibri"/>
              </a:defRPr>
            </a:pPr>
            <a:r>
              <a:rPr lang="en-HK" sz="1500" b="1" dirty="0">
                <a:solidFill>
                  <a:srgbClr val="CFE3F4"/>
                </a:solidFill>
                <a:latin typeface="Calibri"/>
                <a:ea typeface="Calibri"/>
                <a:cs typeface="Calibri"/>
              </a:rPr>
              <a:t>Section 04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719DF4-C6FB-69C4-2D46-67459715DAC8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n-HK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Personalization &amp; Runtime Context</a:t>
            </a:r>
          </a:p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endParaRPr lang="en-HK" sz="36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318A4B-89E8-391E-5EB3-49339EE909B6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sz="18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How the app adapts through profiles, route memory, similar-user signals and scraped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C885C7-0E94-90F9-3F78-CCF95AC82EE2}"/>
              </a:ext>
            </a:extLst>
          </p:cNvPr>
          <p:cNvSpPr>
            <a:spLocks noGrp="1"/>
          </p:cNvSpPr>
          <p:nvPr/>
        </p:nvSpPr>
        <p:spPr>
          <a:xfrm>
            <a:off x="800100" y="4610100"/>
            <a:ext cx="4000500" cy="381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618C67-E519-5573-F2B5-73F6B79657CA}"/>
              </a:ext>
            </a:extLst>
          </p:cNvPr>
          <p:cNvSpPr>
            <a:spLocks noGrp="1"/>
          </p:cNvSpPr>
          <p:nvPr/>
        </p:nvSpPr>
        <p:spPr>
          <a:xfrm>
            <a:off x="819150" y="5886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AMIDS Compass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D12677-C545-173E-1390-DDB7A0260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972550" y="781050"/>
            <a:ext cx="1695450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1813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56A0DF-BBD7-452F-A4FC-66202CFC7076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PERSONALIZATION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6202A-DEA6-4A7B-914F-A73135674C59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Personalization is bounded, not blind model retraining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54F6D7-BAFA-4870-9312-6E362791789D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The app improves individual workflow speed without pretending the global model has become more certain.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43D868-CA13-4685-A130-BEAB8AEF5EF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2385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1BE8A9-48F8-4157-9509-524C9B5003D9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66675" cy="203835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1886C1-7443-498E-BFC5-B35D204E8BD1}"/>
              </a:ext>
            </a:extLst>
          </p:cNvPr>
          <p:cNvSpPr>
            <a:spLocks noGrp="1"/>
          </p:cNvSpPr>
          <p:nvPr/>
        </p:nvSpPr>
        <p:spPr>
          <a:xfrm>
            <a:off x="1066800" y="2286000"/>
            <a:ext cx="2781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Profile-to-param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46197B-DDF6-44E3-9B58-68D68345607F}"/>
              </a:ext>
            </a:extLst>
          </p:cNvPr>
          <p:cNvSpPr>
            <a:spLocks noGrp="1"/>
          </p:cNvSpPr>
          <p:nvPr/>
        </p:nvSpPr>
        <p:spPr>
          <a:xfrm>
            <a:off x="1066800" y="2667000"/>
            <a:ext cx="27813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Explicit query values outrank recent/session values, which outrank profile values, safe defaults, and clarification.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D65805D-8089-4C44-A661-5AC38B2AB34A}"/>
              </a:ext>
            </a:extLst>
          </p:cNvPr>
          <p:cNvSpPr>
            <a:spLocks noGrp="1"/>
          </p:cNvSpPr>
          <p:nvPr/>
        </p:nvSpPr>
        <p:spPr>
          <a:xfrm>
            <a:off x="4476750" y="2076450"/>
            <a:ext cx="32385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A67FD-3903-4DDF-8247-C52CCDC9F11B}"/>
              </a:ext>
            </a:extLst>
          </p:cNvPr>
          <p:cNvSpPr>
            <a:spLocks noGrp="1"/>
          </p:cNvSpPr>
          <p:nvPr/>
        </p:nvSpPr>
        <p:spPr>
          <a:xfrm>
            <a:off x="4476750" y="2076450"/>
            <a:ext cx="66675" cy="2038350"/>
          </a:xfrm>
          <a:prstGeom prst="rect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41285E-E257-42A4-AB8C-B9EF53CEEBD6}"/>
              </a:ext>
            </a:extLst>
          </p:cNvPr>
          <p:cNvSpPr>
            <a:spLocks noGrp="1"/>
          </p:cNvSpPr>
          <p:nvPr/>
        </p:nvSpPr>
        <p:spPr>
          <a:xfrm>
            <a:off x="4705350" y="2286000"/>
            <a:ext cx="2781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Personal route memory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C8AE6FB-0D79-4CDC-9B9D-E01FE4A8F49E}"/>
              </a:ext>
            </a:extLst>
          </p:cNvPr>
          <p:cNvSpPr>
            <a:spLocks noGrp="1"/>
          </p:cNvSpPr>
          <p:nvPr/>
        </p:nvSpPr>
        <p:spPr>
          <a:xfrm>
            <a:off x="4705350" y="2667000"/>
            <a:ext cx="27813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If a user repeatedly chooses the same page for similar wording, the app can bypass clarification for that user.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5D8BFEB-6FDD-4966-BB4D-21B97ED56184}"/>
              </a:ext>
            </a:extLst>
          </p:cNvPr>
          <p:cNvSpPr>
            <a:spLocks noGrp="1"/>
          </p:cNvSpPr>
          <p:nvPr/>
        </p:nvSpPr>
        <p:spPr>
          <a:xfrm>
            <a:off x="8115300" y="2076450"/>
            <a:ext cx="32385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D9C5A0-44F4-41A9-B353-960FA6EF2C38}"/>
              </a:ext>
            </a:extLst>
          </p:cNvPr>
          <p:cNvSpPr>
            <a:spLocks noGrp="1"/>
          </p:cNvSpPr>
          <p:nvPr/>
        </p:nvSpPr>
        <p:spPr>
          <a:xfrm>
            <a:off x="8115300" y="2076450"/>
            <a:ext cx="66675" cy="2038350"/>
          </a:xfrm>
          <a:prstGeom prst="rect">
            <a:avLst/>
          </a:prstGeom>
          <a:solidFill>
            <a:srgbClr val="A66400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9D5B9F-C56A-48D0-BE68-E050911E0D8A}"/>
              </a:ext>
            </a:extLst>
          </p:cNvPr>
          <p:cNvSpPr>
            <a:spLocks noGrp="1"/>
          </p:cNvSpPr>
          <p:nvPr/>
        </p:nvSpPr>
        <p:spPr>
          <a:xfrm>
            <a:off x="8343900" y="2286000"/>
            <a:ext cx="2781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Similar-user signal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1FDFB5A-E7DE-4150-B797-8092AFB97E02}"/>
              </a:ext>
            </a:extLst>
          </p:cNvPr>
          <p:cNvSpPr>
            <a:spLocks noGrp="1"/>
          </p:cNvSpPr>
          <p:nvPr/>
        </p:nvSpPr>
        <p:spPr>
          <a:xfrm>
            <a:off x="8343900" y="2667000"/>
            <a:ext cx="27813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Backend route events can surface pages used by users with overlapping behavior, while remaining explainable to admins.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26641B-6C27-4E54-A91A-E4C30D0E22F2}"/>
              </a:ext>
            </a:extLst>
          </p:cNvPr>
          <p:cNvSpPr>
            <a:spLocks noGrp="1"/>
          </p:cNvSpPr>
          <p:nvPr/>
        </p:nvSpPr>
        <p:spPr>
          <a:xfrm>
            <a:off x="1428750" y="48958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Safety boundary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3A798B-18D1-4435-B47D-FB70997F7167}"/>
              </a:ext>
            </a:extLst>
          </p:cNvPr>
          <p:cNvSpPr>
            <a:spLocks noGrp="1"/>
          </p:cNvSpPr>
          <p:nvPr/>
        </p:nvSpPr>
        <p:spPr>
          <a:xfrm>
            <a:off x="3638550" y="4838700"/>
            <a:ext cx="7143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Personalization creates shortcuts and suggestions; it does not silently rewrite approved URLs or inflate model confidence globally.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746CDE-6125-161F-7D52-F08BD00769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2806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61F0BC-7F08-4705-81A6-BA47EE95F4CB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 dirty="0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SCRAPING AND RUNTIME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67BF5-F4A1-4708-A313-9CCA4EFC1B5C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The scraper turns changing page content into usable context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12081E-AD88-46E9-AEA9-07BA3CB8C5F8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This matters most for dynamic information that cannot be fully represented by a static registry.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66DDDFA-8084-4381-BC05-DC1C8BB5182A}"/>
              </a:ext>
            </a:extLst>
          </p:cNvPr>
          <p:cNvSpPr>
            <a:spLocks noGrp="1"/>
          </p:cNvSpPr>
          <p:nvPr/>
        </p:nvSpPr>
        <p:spPr>
          <a:xfrm>
            <a:off x="876300" y="2000250"/>
            <a:ext cx="3143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FE6E6E-BA9B-494A-B679-B29A660FBAA1}"/>
              </a:ext>
            </a:extLst>
          </p:cNvPr>
          <p:cNvSpPr>
            <a:spLocks noGrp="1"/>
          </p:cNvSpPr>
          <p:nvPr/>
        </p:nvSpPr>
        <p:spPr>
          <a:xfrm>
            <a:off x="876300" y="2000250"/>
            <a:ext cx="66675" cy="200025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404A4-9BFE-4295-9AA9-03525532A4A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Flight package lookup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FEF1A2-9582-4D43-93D4-24DD47B18A6D}"/>
              </a:ext>
            </a:extLst>
          </p:cNvPr>
          <p:cNvSpPr>
            <a:spLocks noGrp="1"/>
          </p:cNvSpPr>
          <p:nvPr/>
        </p:nvSpPr>
        <p:spPr>
          <a:xfrm>
            <a:off x="1104900" y="2590800"/>
            <a:ext cx="26860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Scraped flight options allow users to type a flight number and let the app fill matching IATA and departure time.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A4CFEEC-E539-430B-849C-1A73D4862ABB}"/>
              </a:ext>
            </a:extLst>
          </p:cNvPr>
          <p:cNvSpPr>
            <a:spLocks noGrp="1"/>
          </p:cNvSpPr>
          <p:nvPr/>
        </p:nvSpPr>
        <p:spPr>
          <a:xfrm>
            <a:off x="4524375" y="2000250"/>
            <a:ext cx="3143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C86A90-D68A-4A26-A617-98444353778C}"/>
              </a:ext>
            </a:extLst>
          </p:cNvPr>
          <p:cNvSpPr>
            <a:spLocks noGrp="1"/>
          </p:cNvSpPr>
          <p:nvPr/>
        </p:nvSpPr>
        <p:spPr>
          <a:xfrm>
            <a:off x="4524375" y="2000250"/>
            <a:ext cx="66675" cy="200025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8D8CF2-CFBB-4D7B-962E-9DE67624653F}"/>
              </a:ext>
            </a:extLst>
          </p:cNvPr>
          <p:cNvSpPr>
            <a:spLocks noGrp="1"/>
          </p:cNvSpPr>
          <p:nvPr/>
        </p:nvSpPr>
        <p:spPr>
          <a:xfrm>
            <a:off x="4752975" y="220980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Certificate-protected pages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2915FD-CA3C-475C-9BF0-2801BCB3A309}"/>
              </a:ext>
            </a:extLst>
          </p:cNvPr>
          <p:cNvSpPr>
            <a:spLocks noGrp="1"/>
          </p:cNvSpPr>
          <p:nvPr/>
        </p:nvSpPr>
        <p:spPr>
          <a:xfrm>
            <a:off x="4752975" y="2590800"/>
            <a:ext cx="26860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The workable path was Playwright-bundled Chromium with manual login and CDP attach to reuse the authenticated browser session.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0756EA5-80BB-448E-B83E-0E359CB0EA56}"/>
              </a:ext>
            </a:extLst>
          </p:cNvPr>
          <p:cNvSpPr>
            <a:spLocks noGrp="1"/>
          </p:cNvSpPr>
          <p:nvPr/>
        </p:nvSpPr>
        <p:spPr>
          <a:xfrm>
            <a:off x="8172450" y="2000250"/>
            <a:ext cx="3143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D73206-575D-4A4F-A84F-F382C299EF2E}"/>
              </a:ext>
            </a:extLst>
          </p:cNvPr>
          <p:cNvSpPr>
            <a:spLocks noGrp="1"/>
          </p:cNvSpPr>
          <p:nvPr/>
        </p:nvSpPr>
        <p:spPr>
          <a:xfrm>
            <a:off x="8172450" y="2000250"/>
            <a:ext cx="66675" cy="2000250"/>
          </a:xfrm>
          <a:prstGeom prst="rect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D1542-CB67-4C46-97C5-9C728280DFEF}"/>
              </a:ext>
            </a:extLst>
          </p:cNvPr>
          <p:cNvSpPr>
            <a:spLocks noGrp="1"/>
          </p:cNvSpPr>
          <p:nvPr/>
        </p:nvSpPr>
        <p:spPr>
          <a:xfrm>
            <a:off x="8401050" y="220980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Runtime keywords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19B5FE-1E72-44A9-A1AA-CCB565E213AE}"/>
              </a:ext>
            </a:extLst>
          </p:cNvPr>
          <p:cNvSpPr>
            <a:spLocks noGrp="1"/>
          </p:cNvSpPr>
          <p:nvPr/>
        </p:nvSpPr>
        <p:spPr>
          <a:xfrm>
            <a:off x="8401050" y="2590800"/>
            <a:ext cx="26860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Scraped terms such as tropical cyclone names can temporarily improve page matching and grouping.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7B9C9D-6EE9-4AE7-88FF-62342B1F2B50}"/>
              </a:ext>
            </a:extLst>
          </p:cNvPr>
          <p:cNvSpPr>
            <a:spLocks noGrp="1"/>
          </p:cNvSpPr>
          <p:nvPr/>
        </p:nvSpPr>
        <p:spPr>
          <a:xfrm>
            <a:off x="1390650" y="4876800"/>
            <a:ext cx="9429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This expands Compass from static navigation into context-aware navigation, while keeping the scraper output separate from the approved route registry.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D15D85-0AB5-D458-DF77-62E0ECC160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55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162C8E-B4B9-4DD9-BCAA-893BA20B7ED6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90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GOVERNANCE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6DA7E2-2D92-41DA-9FAF-4D5D9B34F3CB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9906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Admins see the </a:t>
            </a:r>
            <a:r>
              <a:rPr lang="en-US"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decision processes</a:t>
            </a:r>
            <a:r>
              <a:rPr sz="2700" b="1" dirty="0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; normal users do not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8A7B1B-9B2C-481B-93DA-9EDD02C442B8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9810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O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perational simplicity 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for users, detailed diagnostics for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 developer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/admi</a:t>
            </a:r>
            <a:r>
              <a:rPr lang="en-US"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ns</a:t>
            </a:r>
            <a:r>
              <a:rPr sz="1500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B6F3F8-FE13-4998-A16C-030CCBF3B230}"/>
              </a:ext>
            </a:extLst>
          </p:cNvPr>
          <p:cNvSpPr>
            <a:spLocks noGrp="1"/>
          </p:cNvSpPr>
          <p:nvPr/>
        </p:nvSpPr>
        <p:spPr>
          <a:xfrm>
            <a:off x="1238250" y="2038350"/>
            <a:ext cx="40957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711A2B-238D-4BCC-9276-D6CB8066DF21}"/>
              </a:ext>
            </a:extLst>
          </p:cNvPr>
          <p:cNvSpPr>
            <a:spLocks noGrp="1"/>
          </p:cNvSpPr>
          <p:nvPr/>
        </p:nvSpPr>
        <p:spPr>
          <a:xfrm>
            <a:off x="1238250" y="2038350"/>
            <a:ext cx="66675" cy="2857500"/>
          </a:xfrm>
          <a:prstGeom prst="rect">
            <a:avLst/>
          </a:prstGeom>
          <a:solidFill>
            <a:srgbClr val="0F5A9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D4B91-397D-422D-BDDA-C55FE7A6AC6F}"/>
              </a:ext>
            </a:extLst>
          </p:cNvPr>
          <p:cNvSpPr>
            <a:spLocks noGrp="1"/>
          </p:cNvSpPr>
          <p:nvPr/>
        </p:nvSpPr>
        <p:spPr>
          <a:xfrm>
            <a:off x="1466850" y="2247900"/>
            <a:ext cx="3638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Normal user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FA1119-6375-44AB-89A7-B3121A3641C2}"/>
              </a:ext>
            </a:extLst>
          </p:cNvPr>
          <p:cNvSpPr>
            <a:spLocks noGrp="1"/>
          </p:cNvSpPr>
          <p:nvPr/>
        </p:nvSpPr>
        <p:spPr>
          <a:xfrm>
            <a:off x="1466850" y="2628900"/>
            <a:ext cx="363855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Ask questions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Open suggested pages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Use pinned/grouped controls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Fill dynamic details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No scores or diagnostics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05E89AC-01B6-4CF6-B3B2-CE47B7F03852}"/>
              </a:ext>
            </a:extLst>
          </p:cNvPr>
          <p:cNvSpPr>
            <a:spLocks noGrp="1"/>
          </p:cNvSpPr>
          <p:nvPr/>
        </p:nvSpPr>
        <p:spPr>
          <a:xfrm>
            <a:off x="6858000" y="2038350"/>
            <a:ext cx="4095750" cy="2857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4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E7F194-F0C2-40A3-B260-BE2FE1A00BE6}"/>
              </a:ext>
            </a:extLst>
          </p:cNvPr>
          <p:cNvSpPr>
            <a:spLocks noGrp="1"/>
          </p:cNvSpPr>
          <p:nvPr/>
        </p:nvSpPr>
        <p:spPr>
          <a:xfrm>
            <a:off x="6858000" y="2038350"/>
            <a:ext cx="66675" cy="28575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30B843-1F1A-4A58-9C5D-52E447D232BD}"/>
              </a:ext>
            </a:extLst>
          </p:cNvPr>
          <p:cNvSpPr>
            <a:spLocks noGrp="1"/>
          </p:cNvSpPr>
          <p:nvPr/>
        </p:nvSpPr>
        <p:spPr>
          <a:xfrm>
            <a:off x="7086600" y="2247900"/>
            <a:ext cx="3638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Admin/developer view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BED54-C93C-4E5C-B8AA-69D28CFABA4C}"/>
              </a:ext>
            </a:extLst>
          </p:cNvPr>
          <p:cNvSpPr>
            <a:spLocks noGrp="1"/>
          </p:cNvSpPr>
          <p:nvPr/>
        </p:nvSpPr>
        <p:spPr>
          <a:xfrm>
            <a:off x="7086600" y="2628900"/>
            <a:ext cx="363855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Review interaction evidence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Inspect lexical/semantic ranking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Search and approve corrections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Check scraper status</a:t>
            </a:r>
          </a:p>
          <a:p>
            <a:pPr>
              <a:defRPr sz="1350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Tune thresholds and datasets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1AEEF6-EBF8-4EDD-835B-1E3E90FE3396}"/>
              </a:ext>
            </a:extLst>
          </p:cNvPr>
          <p:cNvSpPr>
            <a:spLocks noGrp="1"/>
          </p:cNvSpPr>
          <p:nvPr/>
        </p:nvSpPr>
        <p:spPr>
          <a:xfrm>
            <a:off x="1524000" y="5410200"/>
            <a:ext cx="9144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The improvement loop is visible to the people tuning the system, but hidden from people who only need the right page quickly.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16396E-8AD5-29B8-1AF6-3C5DEBCED5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74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1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D471DF-92C5-E6C6-660C-E7B89C197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20CC978-D401-6F4D-41DB-970866EDBD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791FC-EF4A-AE7F-A544-06175333B0BA}"/>
              </a:ext>
            </a:extLst>
          </p:cNvPr>
          <p:cNvSpPr>
            <a:spLocks noGrp="1"/>
          </p:cNvSpPr>
          <p:nvPr/>
        </p:nvSpPr>
        <p:spPr>
          <a:xfrm>
            <a:off x="800100" y="10287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CFE3F4"/>
                </a:solidFill>
                <a:latin typeface="Calibri"/>
                <a:ea typeface="Calibri"/>
                <a:cs typeface="Calibri"/>
              </a:defRPr>
            </a:pPr>
            <a:r>
              <a:rPr lang="en-HK" sz="1500" b="1" dirty="0">
                <a:solidFill>
                  <a:srgbClr val="CFE3F4"/>
                </a:solidFill>
                <a:latin typeface="Calibri"/>
                <a:ea typeface="Calibri"/>
                <a:cs typeface="Calibri"/>
              </a:rPr>
              <a:t>Section 05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31F813-24B9-409E-F7F4-E4DFFBCB858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7524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n-HK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Reflection</a:t>
            </a:r>
          </a:p>
          <a:p>
            <a:pPr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endParaRPr lang="en-HK" sz="36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432C51-EFF9-FA9D-1BDB-A2932F59D31E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lang="en-HK" sz="18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Problems this project resolves, what the future is, and what the work demonstrates.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74A154-46F7-DC9D-AB9C-50F4455D4BEF}"/>
              </a:ext>
            </a:extLst>
          </p:cNvPr>
          <p:cNvSpPr>
            <a:spLocks noGrp="1"/>
          </p:cNvSpPr>
          <p:nvPr/>
        </p:nvSpPr>
        <p:spPr>
          <a:xfrm>
            <a:off x="800100" y="4610100"/>
            <a:ext cx="4000500" cy="38100"/>
          </a:xfrm>
          <a:prstGeom prst="rect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8382F7-4026-A111-BBBF-AADED874C885}"/>
              </a:ext>
            </a:extLst>
          </p:cNvPr>
          <p:cNvSpPr>
            <a:spLocks noGrp="1"/>
          </p:cNvSpPr>
          <p:nvPr/>
        </p:nvSpPr>
        <p:spPr>
          <a:xfrm>
            <a:off x="819150" y="5886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AMIDS Compass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D38CA3-B8D0-BD8A-24C3-9AEBD9D87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972550" y="781050"/>
            <a:ext cx="1695450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90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63A44C-A18B-45AF-8AB1-077760F2F37E}"/>
              </a:ext>
            </a:extLst>
          </p:cNvPr>
          <p:cNvSpPr>
            <a:spLocks noGrp="1"/>
          </p:cNvSpPr>
          <p:nvPr/>
        </p:nvSpPr>
        <p:spPr>
          <a:xfrm>
            <a:off x="742950" y="590550"/>
            <a:ext cx="514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What this project resolved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46E9CD-1786-4B27-83ED-65711FFB2341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76200" cy="76200"/>
          </a:xfrm>
          <a:prstGeom prst="ellipse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6E8A18-80C0-4CD9-918A-B99C3C66B0F3}"/>
              </a:ext>
            </a:extLst>
          </p:cNvPr>
          <p:cNvSpPr>
            <a:spLocks noGrp="1"/>
          </p:cNvSpPr>
          <p:nvPr/>
        </p:nvSpPr>
        <p:spPr>
          <a:xfrm>
            <a:off x="1104900" y="1314450"/>
            <a:ext cx="50958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Approved-page navigation is now controlled by a registry.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3EAFB0-B890-45C0-8386-2D951176C79D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76200" cy="76200"/>
          </a:xfrm>
          <a:prstGeom prst="ellipse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92C5BC-FA25-4069-8B87-E5014E4ADFE5}"/>
              </a:ext>
            </a:extLst>
          </p:cNvPr>
          <p:cNvSpPr>
            <a:spLocks noGrp="1"/>
          </p:cNvSpPr>
          <p:nvPr/>
        </p:nvSpPr>
        <p:spPr>
          <a:xfrm>
            <a:off x="1104900" y="1828800"/>
            <a:ext cx="50958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Static, dynamic, and multi-page openings are working as one flow.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0AD8966-3488-48C3-8152-4059DF81545F}"/>
              </a:ext>
            </a:extLst>
          </p:cNvPr>
          <p:cNvSpPr>
            <a:spLocks noGrp="1"/>
          </p:cNvSpPr>
          <p:nvPr/>
        </p:nvSpPr>
        <p:spPr>
          <a:xfrm>
            <a:off x="876300" y="2457450"/>
            <a:ext cx="76200" cy="76200"/>
          </a:xfrm>
          <a:prstGeom prst="ellipse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1011A4-DF3C-4820-8B92-1410C34AD917}"/>
              </a:ext>
            </a:extLst>
          </p:cNvPr>
          <p:cNvSpPr>
            <a:spLocks noGrp="1"/>
          </p:cNvSpPr>
          <p:nvPr/>
        </p:nvSpPr>
        <p:spPr>
          <a:xfrm>
            <a:off x="1104900" y="2343150"/>
            <a:ext cx="50958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 local model pipeline and review loop now exist.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29AFB1-94A6-48C3-8D78-F785F99CA070}"/>
              </a:ext>
            </a:extLst>
          </p:cNvPr>
          <p:cNvSpPr>
            <a:spLocks noGrp="1"/>
          </p:cNvSpPr>
          <p:nvPr/>
        </p:nvSpPr>
        <p:spPr>
          <a:xfrm>
            <a:off x="876300" y="2971800"/>
            <a:ext cx="76200" cy="76200"/>
          </a:xfrm>
          <a:prstGeom prst="ellipse">
            <a:avLst/>
          </a:prstGeom>
          <a:solidFill>
            <a:srgbClr val="157A5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98E804-F56C-448F-94E5-2D9CA95DD292}"/>
              </a:ext>
            </a:extLst>
          </p:cNvPr>
          <p:cNvSpPr>
            <a:spLocks noGrp="1"/>
          </p:cNvSpPr>
          <p:nvPr/>
        </p:nvSpPr>
        <p:spPr>
          <a:xfrm>
            <a:off x="1104900" y="2857500"/>
            <a:ext cx="50958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Personalization is bounded through profiles, events, pins, and memory.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0A7413-BDFC-47FE-968D-9FBC2C51E76D}"/>
              </a:ext>
            </a:extLst>
          </p:cNvPr>
          <p:cNvSpPr>
            <a:spLocks noGrp="1"/>
          </p:cNvSpPr>
          <p:nvPr/>
        </p:nvSpPr>
        <p:spPr>
          <a:xfrm>
            <a:off x="6477000" y="590550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5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What remains open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B252ED2-105A-4D5B-8509-607A433487A0}"/>
              </a:ext>
            </a:extLst>
          </p:cNvPr>
          <p:cNvSpPr>
            <a:spLocks noGrp="1"/>
          </p:cNvSpPr>
          <p:nvPr/>
        </p:nvSpPr>
        <p:spPr>
          <a:xfrm>
            <a:off x="6610350" y="1428750"/>
            <a:ext cx="76200" cy="76200"/>
          </a:xfrm>
          <a:prstGeom prst="ellipse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FF306B-5DEE-4244-B23F-8F00F8B83A67}"/>
              </a:ext>
            </a:extLst>
          </p:cNvPr>
          <p:cNvSpPr>
            <a:spLocks noGrp="1"/>
          </p:cNvSpPr>
          <p:nvPr/>
        </p:nvSpPr>
        <p:spPr>
          <a:xfrm>
            <a:off x="6838950" y="1314450"/>
            <a:ext cx="476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Model reliability still depends heavily on metadata and data quality.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5D864BB-F5AD-45BF-8A94-04AC51AEC900}"/>
              </a:ext>
            </a:extLst>
          </p:cNvPr>
          <p:cNvSpPr>
            <a:spLocks noGrp="1"/>
          </p:cNvSpPr>
          <p:nvPr/>
        </p:nvSpPr>
        <p:spPr>
          <a:xfrm>
            <a:off x="6610350" y="1943100"/>
            <a:ext cx="76200" cy="76200"/>
          </a:xfrm>
          <a:prstGeom prst="ellipse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C8A090-115C-4E5B-80B8-885D77A3A8AF}"/>
              </a:ext>
            </a:extLst>
          </p:cNvPr>
          <p:cNvSpPr>
            <a:spLocks noGrp="1"/>
          </p:cNvSpPr>
          <p:nvPr/>
        </p:nvSpPr>
        <p:spPr>
          <a:xfrm>
            <a:off x="6838950" y="1828800"/>
            <a:ext cx="476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Dynamic parameter understanding is partly deterministic for now.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1035F13-56C4-43A4-8D65-0A24170B7349}"/>
              </a:ext>
            </a:extLst>
          </p:cNvPr>
          <p:cNvSpPr>
            <a:spLocks noGrp="1"/>
          </p:cNvSpPr>
          <p:nvPr/>
        </p:nvSpPr>
        <p:spPr>
          <a:xfrm>
            <a:off x="6610350" y="2457450"/>
            <a:ext cx="76200" cy="76200"/>
          </a:xfrm>
          <a:prstGeom prst="ellipse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FC1B91-88EB-44EE-ADAB-7103FCEFEFB5}"/>
              </a:ext>
            </a:extLst>
          </p:cNvPr>
          <p:cNvSpPr>
            <a:spLocks noGrp="1"/>
          </p:cNvSpPr>
          <p:nvPr/>
        </p:nvSpPr>
        <p:spPr>
          <a:xfrm>
            <a:off x="6838950" y="2343150"/>
            <a:ext cx="476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Certificate-protected scraping needs production governance.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6B9F2B4-2C10-411C-87A6-75158019C50F}"/>
              </a:ext>
            </a:extLst>
          </p:cNvPr>
          <p:cNvSpPr>
            <a:spLocks noGrp="1"/>
          </p:cNvSpPr>
          <p:nvPr/>
        </p:nvSpPr>
        <p:spPr>
          <a:xfrm>
            <a:off x="6610350" y="2971800"/>
            <a:ext cx="76200" cy="76200"/>
          </a:xfrm>
          <a:prstGeom prst="ellipse">
            <a:avLst/>
          </a:prstGeom>
          <a:solidFill>
            <a:srgbClr val="E33B2E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DFD642-504D-406D-BFA6-95EDB8C92E9C}"/>
              </a:ext>
            </a:extLst>
          </p:cNvPr>
          <p:cNvSpPr>
            <a:spLocks noGrp="1"/>
          </p:cNvSpPr>
          <p:nvPr/>
        </p:nvSpPr>
        <p:spPr>
          <a:xfrm>
            <a:off x="6838950" y="2857500"/>
            <a:ext cx="4762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Real expert review is still the main bottleneck for validation.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2E90A3C-C23E-4136-A7C2-DF0E5031392E}"/>
              </a:ext>
            </a:extLst>
          </p:cNvPr>
          <p:cNvSpPr>
            <a:spLocks noGrp="1"/>
          </p:cNvSpPr>
          <p:nvPr/>
        </p:nvSpPr>
        <p:spPr>
          <a:xfrm>
            <a:off x="1143000" y="4400550"/>
            <a:ext cx="9906000" cy="1009650"/>
          </a:xfrm>
          <a:prstGeom prst="roundRect">
            <a:avLst>
              <a:gd name="adj" fmla="val 11321"/>
            </a:avLst>
          </a:prstGeom>
          <a:solidFill>
            <a:srgbClr val="EAF3FB"/>
          </a:solidFill>
          <a:ln w="9525">
            <a:solidFill>
              <a:srgbClr val="EAF3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73DEFB-1E19-4CFD-9112-AC4D87A3D667}"/>
              </a:ext>
            </a:extLst>
          </p:cNvPr>
          <p:cNvSpPr>
            <a:spLocks noGrp="1"/>
          </p:cNvSpPr>
          <p:nvPr/>
        </p:nvSpPr>
        <p:spPr>
          <a:xfrm>
            <a:off x="1476375" y="46291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1">
                <a:solidFill>
                  <a:srgbClr val="0B315D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B315D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273B128-C496-42A0-8348-C5FFBA590CA3}"/>
              </a:ext>
            </a:extLst>
          </p:cNvPr>
          <p:cNvSpPr>
            <a:spLocks noGrp="1"/>
          </p:cNvSpPr>
          <p:nvPr/>
        </p:nvSpPr>
        <p:spPr>
          <a:xfrm>
            <a:off x="3476625" y="4572000"/>
            <a:ext cx="70961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AMIDS Compass shows that operational navigation can become faster and more personal without giving up control, auditability, or local deployment.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D05AF0-50F2-A77D-5B06-B7144D20A4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4290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173B5B8-750B-4785-B2F8-485AA6BEF9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F4C81"/>
          </a:solidFill>
          <a:ln w="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Google Shape;692;p38">
            <a:extLst>
              <a:ext uri="{FF2B5EF4-FFF2-40B4-BE49-F238E27FC236}">
                <a16:creationId xmlns:a16="http://schemas.microsoft.com/office/drawing/2014/main" id="{611B02C0-6CDC-36C0-7D04-13E13A6F346A}"/>
              </a:ext>
            </a:extLst>
          </p:cNvPr>
          <p:cNvSpPr txBox="1">
            <a:spLocks/>
          </p:cNvSpPr>
          <p:nvPr/>
        </p:nvSpPr>
        <p:spPr>
          <a:xfrm>
            <a:off x="719999" y="445025"/>
            <a:ext cx="5589361" cy="15265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buNone/>
              <a:defRPr sz="5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CN" kern="0" dirty="0">
                <a:latin typeface="+mn-lt"/>
                <a:cs typeface="Times New Roman" panose="02020603050405020304" pitchFamily="18" charset="0"/>
              </a:rPr>
              <a:t>Acknowledgement </a:t>
            </a:r>
            <a:br>
              <a:rPr lang="en-US" altLang="zh-CN" kern="0" dirty="0">
                <a:latin typeface="+mn-lt"/>
                <a:cs typeface="Times New Roman" panose="02020603050405020304" pitchFamily="18" charset="0"/>
              </a:rPr>
            </a:br>
            <a:br>
              <a:rPr lang="en-US" altLang="zh-CN" kern="0" dirty="0">
                <a:latin typeface="+mn-lt"/>
                <a:cs typeface="Times New Roman" panose="02020603050405020304" pitchFamily="18" charset="0"/>
              </a:rPr>
            </a:br>
            <a:br>
              <a:rPr lang="en-US" altLang="zh-CN" kern="0" dirty="0">
                <a:latin typeface="+mn-lt"/>
                <a:cs typeface="Times New Roman" panose="02020603050405020304" pitchFamily="18" charset="0"/>
              </a:rPr>
            </a:br>
            <a:br>
              <a:rPr lang="en-US" altLang="zh-CN" kern="0" dirty="0">
                <a:latin typeface="+mn-lt"/>
                <a:cs typeface="Times New Roman" panose="02020603050405020304" pitchFamily="18" charset="0"/>
              </a:rPr>
            </a:br>
            <a:endParaRPr lang="en-US" kern="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FDECA7-8401-4E29-9EEB-A7C5A8561E85}"/>
              </a:ext>
            </a:extLst>
          </p:cNvPr>
          <p:cNvSpPr/>
          <p:nvPr/>
        </p:nvSpPr>
        <p:spPr>
          <a:xfrm>
            <a:off x="3478301" y="2828835"/>
            <a:ext cx="594949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cs typeface="Times New Roman" panose="02020603050405020304" pitchFamily="18" charset="0"/>
              </a:rPr>
              <a:t>I would like to express my sincere gratitude to </a:t>
            </a:r>
            <a:r>
              <a:rPr lang="en-US" dirty="0">
                <a:cs typeface="Times New Roman" panose="02020603050405020304" pitchFamily="18" charset="0"/>
              </a:rPr>
              <a:t>the A1 Team for their continuous endeavor, guide and support throughout this project. It has been invaluable to me throughout this journey, thank you.</a:t>
            </a:r>
            <a:endParaRPr lang="en-US" sz="18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218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4400" y="781050"/>
            <a:ext cx="2743200" cy="27432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890F43E-52CB-413D-9AC2-82861133A951}"/>
              </a:ext>
            </a:extLst>
          </p:cNvPr>
          <p:cNvSpPr>
            <a:spLocks noGrp="1"/>
          </p:cNvSpPr>
          <p:nvPr/>
        </p:nvSpPr>
        <p:spPr>
          <a:xfrm>
            <a:off x="1809750" y="3790950"/>
            <a:ext cx="8572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4050" b="1">
                <a:solidFill>
                  <a:srgbClr val="1020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102033"/>
                </a:solidFill>
                <a:latin typeface="Calibri"/>
                <a:ea typeface="Calibri"/>
                <a:cs typeface="Calibri"/>
              </a:rPr>
              <a:t>Thank you for listening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EE5B0-AD5C-4C19-AE49-F3FF57435A64}"/>
              </a:ext>
            </a:extLst>
          </p:cNvPr>
          <p:cNvSpPr>
            <a:spLocks noGrp="1"/>
          </p:cNvSpPr>
          <p:nvPr/>
        </p:nvSpPr>
        <p:spPr>
          <a:xfrm>
            <a:off x="2762250" y="4705350"/>
            <a:ext cx="666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>
                <a:solidFill>
                  <a:srgbClr val="0F5A96"/>
                </a:solidFill>
                <a:latin typeface="Calibri"/>
                <a:ea typeface="Calibri"/>
                <a:cs typeface="Calibri"/>
              </a:defRPr>
            </a:pPr>
            <a:r>
              <a:rPr lang="en-US" sz="1950" dirty="0">
                <a:solidFill>
                  <a:srgbClr val="0F5A96"/>
                </a:solidFill>
                <a:latin typeface="Calibri"/>
                <a:ea typeface="Calibri"/>
                <a:cs typeface="Calibri"/>
              </a:rPr>
              <a:t>Ask me any questions!</a:t>
            </a:r>
            <a:endParaRPr sz="1950" dirty="0">
              <a:solidFill>
                <a:srgbClr val="0F5A96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25FA2E-01F9-42B6-95F6-B05976AE6500}"/>
              </a:ext>
            </a:extLst>
          </p:cNvPr>
          <p:cNvSpPr>
            <a:spLocks noGrp="1"/>
          </p:cNvSpPr>
          <p:nvPr/>
        </p:nvSpPr>
        <p:spPr>
          <a:xfrm>
            <a:off x="4286250" y="56578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526475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rgbClr val="526475"/>
                </a:solidFill>
                <a:latin typeface="Calibri"/>
                <a:ea typeface="Calibri"/>
                <a:cs typeface="Calibri"/>
              </a:rPr>
              <a:t>AMIDS Compass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F75082-C2BC-3EAC-76DD-8C99AEA1A25A}"/>
              </a:ext>
            </a:extLst>
          </p:cNvPr>
          <p:cNvSpPr>
            <a:spLocks noGrp="1"/>
          </p:cNvSpPr>
          <p:nvPr/>
        </p:nvSpPr>
        <p:spPr>
          <a:xfrm rot="5400000">
            <a:off x="6010275" y="-6010275"/>
            <a:ext cx="171450" cy="12192000"/>
          </a:xfrm>
          <a:prstGeom prst="rect">
            <a:avLst/>
          </a:prstGeom>
          <a:solidFill>
            <a:srgbClr val="0F4C81"/>
          </a:solidFill>
          <a:ln w="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B77929-3BA2-9BDA-3AD4-6FC57A27224E}"/>
              </a:ext>
            </a:extLst>
          </p:cNvPr>
          <p:cNvSpPr>
            <a:spLocks noGrp="1"/>
          </p:cNvSpPr>
          <p:nvPr/>
        </p:nvSpPr>
        <p:spPr>
          <a:xfrm rot="5400000">
            <a:off x="6010275" y="676275"/>
            <a:ext cx="171450" cy="12192000"/>
          </a:xfrm>
          <a:prstGeom prst="rect">
            <a:avLst/>
          </a:prstGeom>
          <a:solidFill>
            <a:srgbClr val="0F4C81"/>
          </a:solidFill>
          <a:ln w="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1610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3461</TotalTime>
  <Words>2350</Words>
  <Application>Microsoft Macintosh PowerPoint</Application>
  <DocSecurity>0</DocSecurity>
  <PresentationFormat>Widescreen</PresentationFormat>
  <Paragraphs>321</Paragraphs>
  <Slides>30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Arial</vt:lpstr>
      <vt:lpstr>Bebas Neue</vt:lpstr>
      <vt:lpstr>Bell MT</vt:lpstr>
      <vt:lpstr>Calibri</vt:lpstr>
      <vt:lpstr>Cambria</vt:lpstr>
      <vt:lpstr>Lato</vt:lpstr>
      <vt:lpstr>Times New Roman</vt:lpstr>
      <vt:lpstr>ChatGPT</vt:lpstr>
      <vt:lpstr>A1: Engaging AI in Aviation Meteorological Information Dissemination System  (AMIDS) for Enhanced User Experience </vt:lpstr>
      <vt:lpstr>Presentation 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KANG Daehee</cp:lastModifiedBy>
  <cp:revision>28</cp:revision>
  <dcterms:created xsi:type="dcterms:W3CDTF">2026-07-17T02:57:10Z</dcterms:created>
  <dcterms:modified xsi:type="dcterms:W3CDTF">2026-07-19T16:11:29Z</dcterms:modified>
</cp:coreProperties>
</file>