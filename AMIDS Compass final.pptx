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71" r:id="rId2"/>
    <p:sldId id="273" r:id="rId3"/>
    <p:sldId id="324" r:id="rId4"/>
    <p:sldId id="327" r:id="rId5"/>
    <p:sldId id="279" r:id="rId6"/>
    <p:sldId id="259" r:id="rId7"/>
    <p:sldId id="262" r:id="rId8"/>
    <p:sldId id="261" r:id="rId9"/>
    <p:sldId id="332" r:id="rId10"/>
    <p:sldId id="326" r:id="rId11"/>
    <p:sldId id="328" r:id="rId12"/>
    <p:sldId id="264" r:id="rId13"/>
    <p:sldId id="325" r:id="rId14"/>
    <p:sldId id="266" r:id="rId15"/>
    <p:sldId id="304" r:id="rId16"/>
    <p:sldId id="282" r:id="rId17"/>
    <p:sldId id="303" r:id="rId18"/>
    <p:sldId id="267" r:id="rId19"/>
    <p:sldId id="268" r:id="rId20"/>
    <p:sldId id="312" r:id="rId21"/>
    <p:sldId id="269" r:id="rId22"/>
    <p:sldId id="270" r:id="rId23"/>
    <p:sldId id="329" r:id="rId24"/>
    <p:sldId id="272" r:id="rId25"/>
    <p:sldId id="330" r:id="rId26"/>
    <p:sldId id="274" r:id="rId27"/>
    <p:sldId id="331" r:id="rId28"/>
    <p:sldId id="276" r:id="rId29"/>
    <p:sldId id="321" r:id="rId30"/>
    <p:sldId id="278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99"/>
    <a:srgbClr val="2A61AE"/>
    <a:srgbClr val="343384"/>
    <a:srgbClr val="2C1C60"/>
    <a:srgbClr val="04315F"/>
    <a:srgbClr val="273978"/>
    <a:srgbClr val="034381"/>
    <a:srgbClr val="C02D22"/>
    <a:srgbClr val="E73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7" autoAdjust="0"/>
    <p:restoredTop sz="94666"/>
  </p:normalViewPr>
  <p:slideViewPr>
    <p:cSldViewPr snapToGrid="0">
      <p:cViewPr>
        <p:scale>
          <a:sx n="107" d="100"/>
          <a:sy n="107" d="100"/>
        </p:scale>
        <p:origin x="14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10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2EA01-3FD5-9F44-BEA0-52D369D200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6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15628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5039-9E03-63B3-5259-D9F933C0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179D2-C234-6E66-23C7-45B0993FE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A3545-5AA9-EC29-AD51-B089A3FA3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01FF-7830-ED31-1B7D-44997D48BC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3618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4420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91AD-640B-4DB5-9C65-CC4B4E38C04F}" type="datetime1">
              <a:rPr lang="en-US" altLang="zh-TW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8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F055-30FB-43C8-AFF6-5BB4D56386D9}" type="datetime1">
              <a:rPr lang="en-US" altLang="zh-TW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0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1DCD-C44B-4A32-5A16-8AF2941BE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3200" y="540001"/>
            <a:ext cx="4500561" cy="3692365"/>
          </a:xfrm>
        </p:spPr>
        <p:txBody>
          <a:bodyPr>
            <a:normAutofit/>
          </a:bodyPr>
          <a:lstStyle/>
          <a:p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A1: Engaging AI in Aviation Meteorological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Information Dissemination System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  <a:t> (AMIDS) for Enhanced User Experience</a:t>
            </a:r>
            <a:br>
              <a:rPr lang="en-HK" sz="3000" b="1" dirty="0">
                <a:solidFill>
                  <a:schemeClr val="bg1"/>
                </a:solidFill>
                <a:latin typeface="Bell MT" panose="02020503060305020303" pitchFamily="18" charset="77"/>
              </a:rPr>
            </a:br>
            <a:endParaRPr lang="en-US" sz="3000" dirty="0">
              <a:solidFill>
                <a:schemeClr val="bg1"/>
              </a:solidFill>
              <a:latin typeface="Bell MT" panose="020205030603050203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9DB2C-B330-DBB2-3E23-4982A628C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32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Presenter: </a:t>
            </a:r>
            <a:r>
              <a:rPr lang="en-US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Daehee</a:t>
            </a: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KANG</a:t>
            </a:r>
          </a:p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Supervisor: Jennifer yip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BA01A-7247-0A11-4C5A-5B53BB36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30" r="10269" b="-1"/>
          <a:stretch>
            <a:fillRect/>
          </a:stretch>
        </p:blipFill>
        <p:spPr>
          <a:xfrm>
            <a:off x="20" y="-1"/>
            <a:ext cx="685798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65281C2-16A6-ACA0-DF01-3BA637DA749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-469530" y="-276349"/>
            <a:ext cx="7622730" cy="762273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7FFF71F8-6ED9-5F8B-E44A-CC133F525487}"/>
              </a:ext>
            </a:extLst>
          </p:cNvPr>
          <p:cNvSpPr/>
          <p:nvPr/>
        </p:nvSpPr>
        <p:spPr>
          <a:xfrm>
            <a:off x="0" y="0"/>
            <a:ext cx="6858000" cy="6858001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C5718EC6-8A02-78FB-EE17-FB3E77F7C798}"/>
              </a:ext>
            </a:extLst>
          </p:cNvPr>
          <p:cNvSpPr txBox="1">
            <a:spLocks/>
          </p:cNvSpPr>
          <p:nvPr/>
        </p:nvSpPr>
        <p:spPr>
          <a:xfrm>
            <a:off x="457899" y="408856"/>
            <a:ext cx="5760001" cy="43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AMIDS </a:t>
            </a:r>
            <a:b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COMPASS</a:t>
            </a:r>
            <a:br>
              <a:rPr lang="en-US" sz="6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HK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" r="56492"/>
          <a:stretch/>
        </p:blipFill>
        <p:spPr>
          <a:xfrm>
            <a:off x="7847385" y="4338"/>
            <a:ext cx="4344615" cy="6849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4738E-F194-6E45-E431-A6C93520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54" y="669878"/>
            <a:ext cx="6870412" cy="630268"/>
          </a:xfrm>
        </p:spPr>
        <p:txBody>
          <a:bodyPr/>
          <a:lstStyle/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Presentation Agenda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636D4EDC-B92B-C0A0-84F5-388B22D9F56E}"/>
              </a:ext>
            </a:extLst>
          </p:cNvPr>
          <p:cNvSpPr/>
          <p:nvPr/>
        </p:nvSpPr>
        <p:spPr>
          <a:xfrm>
            <a:off x="609269" y="1520944"/>
            <a:ext cx="6870411" cy="583001"/>
          </a:xfrm>
          <a:prstGeom prst="homePlate">
            <a:avLst/>
          </a:prstGeom>
          <a:solidFill>
            <a:srgbClr val="3A25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HK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Context and System Shape</a:t>
            </a:r>
          </a:p>
          <a:p>
            <a:pPr algn="ctr"/>
            <a:r>
              <a:rPr lang="en-HK" sz="12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Why AMIDS Compass exists, what it includes, and how the local-first architecture is organized.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F5A00CB-E498-FCAF-60E3-2393425391C7}"/>
              </a:ext>
            </a:extLst>
          </p:cNvPr>
          <p:cNvSpPr/>
          <p:nvPr/>
        </p:nvSpPr>
        <p:spPr>
          <a:xfrm>
            <a:off x="609269" y="3423472"/>
            <a:ext cx="6850135" cy="583095"/>
          </a:xfrm>
          <a:prstGeom prst="homePlate">
            <a:avLst/>
          </a:prstGeom>
          <a:solidFill>
            <a:srgbClr val="2739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3. Model Development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core technology: </a:t>
            </a: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lexical ranking, semantic matching, arbitration, and the data pipeline around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30BD-6713-D7C9-2058-C4B6D5AAF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9951CFE-79FE-DC1F-7696-815C1CDE1B9E}"/>
              </a:ext>
            </a:extLst>
          </p:cNvPr>
          <p:cNvSpPr txBox="1">
            <a:spLocks/>
          </p:cNvSpPr>
          <p:nvPr/>
        </p:nvSpPr>
        <p:spPr>
          <a:xfrm>
            <a:off x="598775" y="422216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30AA8A6E-FCBC-9CD3-55CE-BC0B76624F32}"/>
              </a:ext>
            </a:extLst>
          </p:cNvPr>
          <p:cNvSpPr/>
          <p:nvPr/>
        </p:nvSpPr>
        <p:spPr>
          <a:xfrm>
            <a:off x="609270" y="2440889"/>
            <a:ext cx="6850136" cy="583001"/>
          </a:xfrm>
          <a:prstGeom prst="homePlate">
            <a:avLst>
              <a:gd name="adj" fmla="val 51985"/>
            </a:avLst>
          </a:prstGeom>
          <a:solidFill>
            <a:srgbClr val="3433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2. Controlled Page Foundation</a:t>
            </a:r>
            <a:endParaRPr lang="en-HK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route registry and dynamic resolver keep page opening approved, parameterized, and auditable.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4BEB651-4E5F-78AA-B511-7F53095D7FF8}"/>
              </a:ext>
            </a:extLst>
          </p:cNvPr>
          <p:cNvSpPr/>
          <p:nvPr/>
        </p:nvSpPr>
        <p:spPr>
          <a:xfrm>
            <a:off x="598775" y="4357243"/>
            <a:ext cx="6850135" cy="583095"/>
          </a:xfrm>
          <a:prstGeom prst="homePlate">
            <a:avLst/>
          </a:prstGeom>
          <a:solidFill>
            <a:srgbClr val="2A61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4. Personalization &amp; Runtime Context</a:t>
            </a: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app adapts through profiles, route memory, similar-user signals and scraped data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ED6BD374-DB8C-749E-6461-484A5C7BA1F1}"/>
              </a:ext>
            </a:extLst>
          </p:cNvPr>
          <p:cNvSpPr/>
          <p:nvPr/>
        </p:nvSpPr>
        <p:spPr>
          <a:xfrm>
            <a:off x="570322" y="5291014"/>
            <a:ext cx="6850135" cy="583095"/>
          </a:xfrm>
          <a:prstGeom prst="homePlate">
            <a:avLst/>
          </a:prstGeom>
          <a:solidFill>
            <a:srgbClr val="008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Dynamic webpage handling</a:t>
            </a:r>
          </a:p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Problems this project resolves, what the future is, and what the work demonstrates.</a:t>
            </a:r>
          </a:p>
        </p:txBody>
      </p:sp>
    </p:spTree>
    <p:extLst>
      <p:ext uri="{BB962C8B-B14F-4D97-AF65-F5344CB8AC3E}">
        <p14:creationId xmlns:p14="http://schemas.microsoft.com/office/powerpoint/2010/main" val="398583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9061D1-054D-1FEC-8F03-75CBA698F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0AAD5-0761-1D39-019C-0FAED4407C40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A1DC-8543-5CDA-7234-ECCF91AC2F3C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 and System Shape</a:t>
            </a: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536CF2-C9B3-54A8-931F-FF078CAAE7F1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EAF3FB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Why AMIDS Compass exists, </a:t>
            </a:r>
            <a:r>
              <a:rPr lang="en-HK" sz="1800" dirty="0">
                <a:solidFill>
                  <a:srgbClr val="EAF3FB"/>
                </a:solidFill>
                <a:latin typeface="Calibri"/>
                <a:ea typeface="Calibri"/>
                <a:cs typeface="Calibri"/>
              </a:rPr>
              <a:t>what it includes, and how the local-first architecture is organized.</a:t>
            </a:r>
            <a:endParaRPr sz="1800" dirty="0">
              <a:solidFill>
                <a:srgbClr val="EAF3F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B8C65-D48E-0431-F92E-4B1355111774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9C963-DE7B-3548-E5C2-8FE7667A2D3D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37629D-5220-9674-B23F-D4BEC5D5F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5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B282-0582-B6B9-2FE9-0F0EEE52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5B1882-E69F-A20F-4CCF-4846AF2499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8"/>
          <a:stretch/>
        </p:blipFill>
        <p:spPr>
          <a:xfrm>
            <a:off x="-2355" y="0"/>
            <a:ext cx="1215907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B5042D-EEA8-3FA1-4660-DB2DF64905A5}"/>
              </a:ext>
            </a:extLst>
          </p:cNvPr>
          <p:cNvSpPr/>
          <p:nvPr/>
        </p:nvSpPr>
        <p:spPr>
          <a:xfrm>
            <a:off x="133349" y="0"/>
            <a:ext cx="12056295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  <p:sp>
        <p:nvSpPr>
          <p:cNvPr id="25" name="Title 4">
            <a:extLst>
              <a:ext uri="{FF2B5EF4-FFF2-40B4-BE49-F238E27FC236}">
                <a16:creationId xmlns:a16="http://schemas.microsoft.com/office/drawing/2014/main" id="{BD0C407F-EA40-2192-51E7-6AC87FAF13E5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AMIDS?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B18D0DB-95DC-D8D8-B11F-9A4A03889209}"/>
              </a:ext>
            </a:extLst>
          </p:cNvPr>
          <p:cNvSpPr txBox="1">
            <a:spLocks/>
          </p:cNvSpPr>
          <p:nvPr/>
        </p:nvSpPr>
        <p:spPr>
          <a:xfrm>
            <a:off x="605019" y="487468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INTRODUCTION TO AMIDS</a:t>
            </a:r>
          </a:p>
        </p:txBody>
      </p:sp>
      <p:sp>
        <p:nvSpPr>
          <p:cNvPr id="71" name="Title 13">
            <a:extLst>
              <a:ext uri="{FF2B5EF4-FFF2-40B4-BE49-F238E27FC236}">
                <a16:creationId xmlns:a16="http://schemas.microsoft.com/office/drawing/2014/main" id="{AF8627F2-574A-CA2A-E369-7D088E8A6F45}"/>
              </a:ext>
            </a:extLst>
          </p:cNvPr>
          <p:cNvSpPr txBox="1">
            <a:spLocks/>
          </p:cNvSpPr>
          <p:nvPr/>
        </p:nvSpPr>
        <p:spPr>
          <a:xfrm>
            <a:off x="2336615" y="1498443"/>
            <a:ext cx="7518769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AMIDS = Aviation Meteorological Information Dissemination System</a:t>
            </a:r>
          </a:p>
        </p:txBody>
      </p:sp>
      <p:sp>
        <p:nvSpPr>
          <p:cNvPr id="76" name="Title 13">
            <a:extLst>
              <a:ext uri="{FF2B5EF4-FFF2-40B4-BE49-F238E27FC236}">
                <a16:creationId xmlns:a16="http://schemas.microsoft.com/office/drawing/2014/main" id="{F2BAD293-64B3-901D-3F95-344A892A728F}"/>
              </a:ext>
            </a:extLst>
          </p:cNvPr>
          <p:cNvSpPr txBox="1">
            <a:spLocks/>
          </p:cNvSpPr>
          <p:nvPr/>
        </p:nvSpPr>
        <p:spPr>
          <a:xfrm>
            <a:off x="605019" y="2774321"/>
            <a:ext cx="11154859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Main Stakeholders: Registered Aviation Users In Hong Kong (Pilots, ATCs, Dispatchers, AMO / MRO) </a:t>
            </a:r>
          </a:p>
          <a:p>
            <a:pPr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D90215-6C8F-B21F-E840-FF4ADF8CB1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13">
            <a:extLst>
              <a:ext uri="{FF2B5EF4-FFF2-40B4-BE49-F238E27FC236}">
                <a16:creationId xmlns:a16="http://schemas.microsoft.com/office/drawing/2014/main" id="{C5C65913-6BEB-D555-4078-555C897EF627}"/>
              </a:ext>
            </a:extLst>
          </p:cNvPr>
          <p:cNvSpPr txBox="1">
            <a:spLocks/>
          </p:cNvSpPr>
          <p:nvPr/>
        </p:nvSpPr>
        <p:spPr>
          <a:xfrm>
            <a:off x="2130184" y="4072711"/>
            <a:ext cx="8062622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Usual purposes: f</a:t>
            </a:r>
            <a:r>
              <a:rPr lang="en-HK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 planning, flight documentation, self-briefing, etc.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81038038-BB44-7339-2A5B-1A1F6892D996}"/>
              </a:ext>
            </a:extLst>
          </p:cNvPr>
          <p:cNvSpPr txBox="1">
            <a:spLocks/>
          </p:cNvSpPr>
          <p:nvPr/>
        </p:nvSpPr>
        <p:spPr>
          <a:xfrm>
            <a:off x="949124" y="5260658"/>
            <a:ext cx="10695008" cy="944842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Available information: various weather reports &amp; forecasts, significant weather warnings, etc. 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Lato" panose="020F050202020403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83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8"/>
          <a:stretch/>
        </p:blipFill>
        <p:spPr>
          <a:xfrm>
            <a:off x="-2355" y="0"/>
            <a:ext cx="1215907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75" y="16733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-25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611452" y="1223988"/>
            <a:ext cx="316751" cy="316751"/>
            <a:chOff x="2609260" y="2989019"/>
            <a:chExt cx="475253" cy="475253"/>
          </a:xfrm>
        </p:grpSpPr>
        <p:sp>
          <p:nvSpPr>
            <p:cNvPr id="21" name="Oval 20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5" name="Title 4">
            <a:extLst>
              <a:ext uri="{FF2B5EF4-FFF2-40B4-BE49-F238E27FC236}">
                <a16:creationId xmlns:a16="http://schemas.microsoft.com/office/drawing/2014/main" id="{C234D820-7B72-166F-3121-01818B92E8E1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 of improvement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A6F986A-E1DD-1379-68B4-FF229471DC4F}"/>
              </a:ext>
            </a:extLst>
          </p:cNvPr>
          <p:cNvSpPr txBox="1">
            <a:spLocks/>
          </p:cNvSpPr>
          <p:nvPr/>
        </p:nvSpPr>
        <p:spPr>
          <a:xfrm>
            <a:off x="605019" y="487468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WHAT CAN AMIDS COMPASS IMPROVE?</a:t>
            </a:r>
          </a:p>
        </p:txBody>
      </p:sp>
      <p:sp>
        <p:nvSpPr>
          <p:cNvPr id="47" name="Title 13"/>
          <p:cNvSpPr txBox="1">
            <a:spLocks/>
          </p:cNvSpPr>
          <p:nvPr/>
        </p:nvSpPr>
        <p:spPr>
          <a:xfrm>
            <a:off x="1016912" y="1088412"/>
            <a:ext cx="6099682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altLang="zh-TW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Faster access to scattered pages</a:t>
            </a: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1029780" y="1560202"/>
            <a:ext cx="6099682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Memory dependency lowered through smart navigation assistant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01155" y="2334860"/>
            <a:ext cx="316751" cy="316751"/>
            <a:chOff x="2609260" y="2989019"/>
            <a:chExt cx="475253" cy="475253"/>
          </a:xfrm>
        </p:grpSpPr>
        <p:sp>
          <p:nvSpPr>
            <p:cNvPr id="64" name="Oval 63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Title 13"/>
          <p:cNvSpPr txBox="1">
            <a:spLocks/>
          </p:cNvSpPr>
          <p:nvPr/>
        </p:nvSpPr>
        <p:spPr>
          <a:xfrm>
            <a:off x="1016910" y="2162494"/>
            <a:ext cx="6089968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Smoother handling of dynamic web pages</a:t>
            </a:r>
          </a:p>
        </p:txBody>
      </p:sp>
      <p:sp>
        <p:nvSpPr>
          <p:cNvPr id="67" name="Content Placeholder 2"/>
          <p:cNvSpPr txBox="1">
            <a:spLocks/>
          </p:cNvSpPr>
          <p:nvPr/>
        </p:nvSpPr>
        <p:spPr>
          <a:xfrm>
            <a:off x="1012057" y="2610598"/>
            <a:ext cx="6083534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Open dynamic pages with wanted settings automatically applied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611452" y="3445733"/>
            <a:ext cx="316751" cy="316751"/>
            <a:chOff x="2609260" y="2989019"/>
            <a:chExt cx="475253" cy="475253"/>
          </a:xfrm>
        </p:grpSpPr>
        <p:sp>
          <p:nvSpPr>
            <p:cNvPr id="69" name="Oval 68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1" name="Title 13"/>
          <p:cNvSpPr txBox="1">
            <a:spLocks/>
          </p:cNvSpPr>
          <p:nvPr/>
        </p:nvSpPr>
        <p:spPr>
          <a:xfrm>
            <a:off x="1023344" y="3279845"/>
            <a:ext cx="6083534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Personalized categorization to fit all users</a:t>
            </a:r>
          </a:p>
        </p:txBody>
      </p:sp>
      <p:sp>
        <p:nvSpPr>
          <p:cNvPr id="72" name="Content Placeholder 2"/>
          <p:cNvSpPr txBox="1">
            <a:spLocks/>
          </p:cNvSpPr>
          <p:nvPr/>
        </p:nvSpPr>
        <p:spPr>
          <a:xfrm>
            <a:off x="1018491" y="3754133"/>
            <a:ext cx="6077100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Dynamically categorize pages according to user’s interaction with the app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601155" y="4568161"/>
            <a:ext cx="316751" cy="316751"/>
            <a:chOff x="2609260" y="2989019"/>
            <a:chExt cx="475253" cy="475253"/>
          </a:xfrm>
        </p:grpSpPr>
        <p:sp>
          <p:nvSpPr>
            <p:cNvPr id="74" name="Oval 73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Freeform 74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6" name="Title 13"/>
          <p:cNvSpPr txBox="1">
            <a:spLocks/>
          </p:cNvSpPr>
          <p:nvPr/>
        </p:nvSpPr>
        <p:spPr>
          <a:xfrm>
            <a:off x="1012057" y="4370957"/>
            <a:ext cx="6077100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Shifting to a reusable app architecture</a:t>
            </a:r>
          </a:p>
        </p:txBody>
      </p:sp>
      <p:sp>
        <p:nvSpPr>
          <p:cNvPr id="77" name="Content Placeholder 2"/>
          <p:cNvSpPr txBox="1">
            <a:spLocks/>
          </p:cNvSpPr>
          <p:nvPr/>
        </p:nvSpPr>
        <p:spPr>
          <a:xfrm>
            <a:off x="1018491" y="4872470"/>
            <a:ext cx="6077099" cy="338522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A React + Node.js app that is scalable &amp; easily renovated</a:t>
            </a: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333" y="3686279"/>
            <a:ext cx="4241800" cy="275994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25"/>
          <a:stretch/>
        </p:blipFill>
        <p:spPr>
          <a:xfrm>
            <a:off x="7211741" y="567395"/>
            <a:ext cx="4237392" cy="2764411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611452" y="5690589"/>
            <a:ext cx="316751" cy="316751"/>
            <a:chOff x="2609260" y="2989019"/>
            <a:chExt cx="475253" cy="475253"/>
          </a:xfrm>
        </p:grpSpPr>
        <p:sp>
          <p:nvSpPr>
            <p:cNvPr id="86" name="Oval 85"/>
            <p:cNvSpPr/>
            <p:nvPr/>
          </p:nvSpPr>
          <p:spPr>
            <a:xfrm>
              <a:off x="2609260" y="2989019"/>
              <a:ext cx="475253" cy="475253"/>
            </a:xfrm>
            <a:prstGeom prst="ellipse">
              <a:avLst/>
            </a:prstGeom>
            <a:solidFill>
              <a:srgbClr val="E73F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Freeform 86"/>
            <p:cNvSpPr>
              <a:spLocks/>
            </p:cNvSpPr>
            <p:nvPr/>
          </p:nvSpPr>
          <p:spPr bwMode="auto">
            <a:xfrm>
              <a:off x="2752015" y="3115971"/>
              <a:ext cx="189739" cy="196774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399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8" name="Title 13"/>
          <p:cNvSpPr txBox="1">
            <a:spLocks/>
          </p:cNvSpPr>
          <p:nvPr/>
        </p:nvSpPr>
        <p:spPr>
          <a:xfrm>
            <a:off x="1028658" y="5493385"/>
            <a:ext cx="6077098" cy="513955"/>
          </a:xfrm>
          <a:prstGeom prst="rect">
            <a:avLst/>
          </a:prstGeom>
        </p:spPr>
        <p:txBody>
          <a:bodyPr vert="horz" wrap="square" lIns="121888" tIns="60944" rIns="121888" bIns="60944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Information dissemination to user-based info</a:t>
            </a:r>
          </a:p>
        </p:txBody>
      </p:sp>
      <p:sp>
        <p:nvSpPr>
          <p:cNvPr id="89" name="Content Placeholder 2"/>
          <p:cNvSpPr txBox="1">
            <a:spLocks/>
          </p:cNvSpPr>
          <p:nvPr/>
        </p:nvSpPr>
        <p:spPr>
          <a:xfrm>
            <a:off x="1041144" y="5990807"/>
            <a:ext cx="6064231" cy="553966"/>
          </a:xfrm>
          <a:prstGeom prst="rect">
            <a:avLst/>
          </a:prstGeom>
        </p:spPr>
        <p:txBody>
          <a:bodyPr vert="horz" wrap="square" lIns="121888" tIns="60944" rIns="121888" bIns="6094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Providing all available information at once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providing information specific to users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F196CC-1EB1-98DB-A463-5033568E72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E6B83E-C89B-4342-8C0C-26B32E073ECB}"/>
              </a:ext>
            </a:extLst>
          </p:cNvPr>
          <p:cNvSpPr>
            <a:spLocks noGrp="1"/>
          </p:cNvSpPr>
          <p:nvPr/>
        </p:nvSpPr>
        <p:spPr>
          <a:xfrm>
            <a:off x="609599" y="1457325"/>
            <a:ext cx="898566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layer of application that lies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between operational users and approved AMIDS pages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to guide users like a compass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C3F54-2F21-4590-AB35-F55170F8664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123950" cy="38100"/>
          </a:xfrm>
          <a:prstGeom prst="rect">
            <a:avLst/>
          </a:prstGeom>
          <a:solidFill>
            <a:srgbClr val="EE3B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90DC82-38AC-4E4A-B9F7-70A8BD8BB3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B1B9E9-7C22-4522-9D0D-32CE646A80D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92263F-E364-472C-8F66-4F6831CC4DB3}"/>
              </a:ext>
            </a:extLst>
          </p:cNvPr>
          <p:cNvSpPr>
            <a:spLocks noGrp="1"/>
          </p:cNvSpPr>
          <p:nvPr/>
        </p:nvSpPr>
        <p:spPr>
          <a:xfrm>
            <a:off x="603661" y="5334000"/>
            <a:ext cx="1047750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1800" b="1">
                <a:solidFill>
                  <a:srgbClr val="073763"/>
                </a:solidFill>
                <a:latin typeface="Calibri"/>
                <a:ea typeface="Calibri"/>
                <a:cs typeface="Calibri"/>
              </a:defRPr>
            </a:pPr>
            <a:r>
              <a:rPr lang="en-US" sz="25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AMIDS Compass is a </a:t>
            </a:r>
            <a:r>
              <a:rPr lang="en-HK" sz="2500" dirty="0"/>
              <a:t>personalized assistant for efficiently navigating AMIDS</a:t>
            </a:r>
            <a:endParaRPr sz="2500" b="1" dirty="0">
              <a:solidFill>
                <a:srgbClr val="0737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A0B77-A102-82F3-68AB-5B9F7D3702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C1C449A-4F1E-C848-2BB8-9E7B303D6349}"/>
              </a:ext>
            </a:extLst>
          </p:cNvPr>
          <p:cNvSpPr txBox="1">
            <a:spLocks/>
          </p:cNvSpPr>
          <p:nvPr/>
        </p:nvSpPr>
        <p:spPr>
          <a:xfrm>
            <a:off x="605019" y="463699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1" name="Title 4">
            <a:extLst>
              <a:ext uri="{FF2B5EF4-FFF2-40B4-BE49-F238E27FC236}">
                <a16:creationId xmlns:a16="http://schemas.microsoft.com/office/drawing/2014/main" id="{E2E2B8BC-7C99-DCCD-1AD3-C125E988A384}"/>
              </a:ext>
            </a:extLst>
          </p:cNvPr>
          <p:cNvSpPr txBox="1">
            <a:spLocks/>
          </p:cNvSpPr>
          <p:nvPr/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What is AMIDS Compass?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BD658F1-B74A-1508-6A23-A9C622FEEA47}"/>
              </a:ext>
            </a:extLst>
          </p:cNvPr>
          <p:cNvSpPr>
            <a:spLocks noGrp="1"/>
          </p:cNvSpPr>
          <p:nvPr/>
        </p:nvSpPr>
        <p:spPr>
          <a:xfrm>
            <a:off x="603661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B20DA4B-FB02-DD76-1933-CBD1792EC4C7}"/>
              </a:ext>
            </a:extLst>
          </p:cNvPr>
          <p:cNvSpPr>
            <a:spLocks noGrp="1"/>
          </p:cNvSpPr>
          <p:nvPr/>
        </p:nvSpPr>
        <p:spPr>
          <a:xfrm>
            <a:off x="756061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94D7B01-4446-ECFB-AD14-04F489F0A90E}"/>
              </a:ext>
            </a:extLst>
          </p:cNvPr>
          <p:cNvSpPr>
            <a:spLocks noGrp="1"/>
          </p:cNvSpPr>
          <p:nvPr/>
        </p:nvSpPr>
        <p:spPr>
          <a:xfrm>
            <a:off x="1098961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User intent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A36B9F0-7ED9-7CC1-BDB7-11403CE523F9}"/>
              </a:ext>
            </a:extLst>
          </p:cNvPr>
          <p:cNvSpPr>
            <a:spLocks noGrp="1"/>
          </p:cNvSpPr>
          <p:nvPr/>
        </p:nvSpPr>
        <p:spPr>
          <a:xfrm>
            <a:off x="832261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 short query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, profile settings, or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button press.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5386323-EFFF-9D80-89D1-9E16B5B28EC8}"/>
              </a:ext>
            </a:extLst>
          </p:cNvPr>
          <p:cNvSpPr>
            <a:spLocks noGrp="1"/>
          </p:cNvSpPr>
          <p:nvPr/>
        </p:nvSpPr>
        <p:spPr>
          <a:xfrm>
            <a:off x="3123024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4C32EC7A-B586-202C-E257-D8F8128C13A5}"/>
              </a:ext>
            </a:extLst>
          </p:cNvPr>
          <p:cNvSpPr>
            <a:spLocks noGrp="1"/>
          </p:cNvSpPr>
          <p:nvPr/>
        </p:nvSpPr>
        <p:spPr>
          <a:xfrm>
            <a:off x="3265899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56A4DE-47A2-68A7-149B-5D753C168FCA}"/>
              </a:ext>
            </a:extLst>
          </p:cNvPr>
          <p:cNvSpPr>
            <a:spLocks noGrp="1"/>
          </p:cNvSpPr>
          <p:nvPr/>
        </p:nvSpPr>
        <p:spPr>
          <a:xfrm>
            <a:off x="3418299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C9A6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C9A6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5B2693-B0D7-C8A4-FA28-AFA72AB84C62}"/>
              </a:ext>
            </a:extLst>
          </p:cNvPr>
          <p:cNvSpPr>
            <a:spLocks noGrp="1"/>
          </p:cNvSpPr>
          <p:nvPr/>
        </p:nvSpPr>
        <p:spPr>
          <a:xfrm>
            <a:off x="3716603" y="2774620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Page </a:t>
            </a: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3610DBB-F907-4A51-CE9F-0F01D89395D4}"/>
              </a:ext>
            </a:extLst>
          </p:cNvPr>
          <p:cNvSpPr>
            <a:spLocks noGrp="1"/>
          </p:cNvSpPr>
          <p:nvPr/>
        </p:nvSpPr>
        <p:spPr>
          <a:xfrm>
            <a:off x="3494499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Compass selects approved registry page IDs</a:t>
            </a:r>
            <a:r>
              <a:rPr lang="en-US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that best matches user’s needs</a:t>
            </a:r>
            <a:endParaRPr sz="1500" b="0" dirty="0">
              <a:solidFill>
                <a:srgbClr val="5E71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89A71B-07A1-E4E9-14A2-35956403A457}"/>
              </a:ext>
            </a:extLst>
          </p:cNvPr>
          <p:cNvSpPr>
            <a:spLocks noGrp="1"/>
          </p:cNvSpPr>
          <p:nvPr/>
        </p:nvSpPr>
        <p:spPr>
          <a:xfrm>
            <a:off x="5785261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ABDE6270-AB2D-E8DC-11DF-3EADDA4F6FF4}"/>
              </a:ext>
            </a:extLst>
          </p:cNvPr>
          <p:cNvSpPr>
            <a:spLocks noGrp="1"/>
          </p:cNvSpPr>
          <p:nvPr/>
        </p:nvSpPr>
        <p:spPr>
          <a:xfrm>
            <a:off x="5928136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DF7419-837B-B4C7-3975-372E2AB9044D}"/>
              </a:ext>
            </a:extLst>
          </p:cNvPr>
          <p:cNvSpPr>
            <a:spLocks noGrp="1"/>
          </p:cNvSpPr>
          <p:nvPr/>
        </p:nvSpPr>
        <p:spPr>
          <a:xfrm>
            <a:off x="6080536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4A62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BDC2D38-9623-44DE-26C3-F12A5E02918E}"/>
              </a:ext>
            </a:extLst>
          </p:cNvPr>
          <p:cNvSpPr>
            <a:spLocks noGrp="1"/>
          </p:cNvSpPr>
          <p:nvPr/>
        </p:nvSpPr>
        <p:spPr>
          <a:xfrm>
            <a:off x="6423436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resolution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CB604C-C06E-41C3-11A6-CD56DEAAAA28}"/>
              </a:ext>
            </a:extLst>
          </p:cNvPr>
          <p:cNvSpPr>
            <a:spLocks noGrp="1"/>
          </p:cNvSpPr>
          <p:nvPr/>
        </p:nvSpPr>
        <p:spPr>
          <a:xfrm>
            <a:off x="6156736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Runway,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airport, airline, route,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or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time </a:t>
            </a:r>
            <a:r>
              <a:rPr lang="en-HK"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is</a:t>
            </a: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 filled safely.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A912BF-A55E-89DD-0436-70EA7C12372F}"/>
              </a:ext>
            </a:extLst>
          </p:cNvPr>
          <p:cNvSpPr>
            <a:spLocks noGrp="1"/>
          </p:cNvSpPr>
          <p:nvPr/>
        </p:nvSpPr>
        <p:spPr>
          <a:xfrm>
            <a:off x="8447499" y="3488748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EAAE748-44D0-8197-31F0-48D183E103CC}"/>
              </a:ext>
            </a:extLst>
          </p:cNvPr>
          <p:cNvSpPr>
            <a:spLocks noGrp="1"/>
          </p:cNvSpPr>
          <p:nvPr/>
        </p:nvSpPr>
        <p:spPr>
          <a:xfrm>
            <a:off x="8590374" y="2631498"/>
            <a:ext cx="24907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D89733B-1973-8968-CE41-37AE86011E0F}"/>
              </a:ext>
            </a:extLst>
          </p:cNvPr>
          <p:cNvSpPr>
            <a:spLocks noGrp="1"/>
          </p:cNvSpPr>
          <p:nvPr/>
        </p:nvSpPr>
        <p:spPr>
          <a:xfrm>
            <a:off x="8742774" y="2783898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EE3B2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E3B2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65D2050-6312-005F-E85A-6A63D8323BDA}"/>
              </a:ext>
            </a:extLst>
          </p:cNvPr>
          <p:cNvSpPr>
            <a:spLocks noGrp="1"/>
          </p:cNvSpPr>
          <p:nvPr/>
        </p:nvSpPr>
        <p:spPr>
          <a:xfrm>
            <a:off x="9085674" y="2802948"/>
            <a:ext cx="18430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Opened workspace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4262F8-07E8-F643-B807-017BA41C78C6}"/>
              </a:ext>
            </a:extLst>
          </p:cNvPr>
          <p:cNvSpPr>
            <a:spLocks noGrp="1"/>
          </p:cNvSpPr>
          <p:nvPr/>
        </p:nvSpPr>
        <p:spPr>
          <a:xfrm>
            <a:off x="8818974" y="3469698"/>
            <a:ext cx="2033588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One page, a grouped page set, or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6672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CC1395-AA92-4798-848B-295A5726C912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7F1079-7739-4DBA-BB2B-89737AD7A4F8}"/>
              </a:ext>
            </a:extLst>
          </p:cNvPr>
          <p:cNvSpPr>
            <a:spLocks noGrp="1"/>
          </p:cNvSpPr>
          <p:nvPr/>
        </p:nvSpPr>
        <p:spPr>
          <a:xfrm>
            <a:off x="300662" y="1253095"/>
            <a:ext cx="1699588" cy="41077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94A9C-1836-43C7-A15C-295093B7E56D}"/>
              </a:ext>
            </a:extLst>
          </p:cNvPr>
          <p:cNvSpPr>
            <a:spLocks noGrp="1"/>
          </p:cNvSpPr>
          <p:nvPr/>
        </p:nvSpPr>
        <p:spPr>
          <a:xfrm>
            <a:off x="610937" y="1332292"/>
            <a:ext cx="1909763" cy="323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Sign up / Sign in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FE9BF-A972-4E6B-A6CB-E976420D3456}"/>
              </a:ext>
            </a:extLst>
          </p:cNvPr>
          <p:cNvSpPr>
            <a:spLocks noGrp="1"/>
          </p:cNvSpPr>
          <p:nvPr/>
        </p:nvSpPr>
        <p:spPr>
          <a:xfrm>
            <a:off x="2002439" y="1274294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1D7BE-CC5E-F3D9-7321-9443F1FA0135}"/>
              </a:ext>
            </a:extLst>
          </p:cNvPr>
          <p:cNvSpPr txBox="1"/>
          <p:nvPr/>
        </p:nvSpPr>
        <p:spPr>
          <a:xfrm>
            <a:off x="309898" y="1292002"/>
            <a:ext cx="282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B0CAC14-6EAE-074A-6476-C95BDA832378}"/>
              </a:ext>
            </a:extLst>
          </p:cNvPr>
          <p:cNvSpPr>
            <a:spLocks noGrp="1"/>
          </p:cNvSpPr>
          <p:nvPr/>
        </p:nvSpPr>
        <p:spPr>
          <a:xfrm>
            <a:off x="2443358" y="1251829"/>
            <a:ext cx="1735146" cy="401029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7EC7C4-8869-7D52-0208-374193B8224F}"/>
              </a:ext>
            </a:extLst>
          </p:cNvPr>
          <p:cNvSpPr>
            <a:spLocks noGrp="1"/>
          </p:cNvSpPr>
          <p:nvPr/>
        </p:nvSpPr>
        <p:spPr>
          <a:xfrm>
            <a:off x="2831572" y="1308655"/>
            <a:ext cx="1322130" cy="323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Select your role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F830E2-0982-B81E-0D49-B6E0A2F8C0B6}"/>
              </a:ext>
            </a:extLst>
          </p:cNvPr>
          <p:cNvSpPr txBox="1"/>
          <p:nvPr/>
        </p:nvSpPr>
        <p:spPr>
          <a:xfrm>
            <a:off x="2513427" y="1266024"/>
            <a:ext cx="23237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985E95-B272-B904-6370-B49653F091FC}"/>
              </a:ext>
            </a:extLst>
          </p:cNvPr>
          <p:cNvSpPr>
            <a:spLocks noGrp="1"/>
          </p:cNvSpPr>
          <p:nvPr/>
        </p:nvSpPr>
        <p:spPr>
          <a:xfrm>
            <a:off x="4171951" y="1265339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E7463A0-DA13-623C-7EDC-C45BC939C32F}"/>
              </a:ext>
            </a:extLst>
          </p:cNvPr>
          <p:cNvSpPr>
            <a:spLocks noGrp="1"/>
          </p:cNvSpPr>
          <p:nvPr/>
        </p:nvSpPr>
        <p:spPr>
          <a:xfrm>
            <a:off x="4636063" y="1269485"/>
            <a:ext cx="968592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58993E-5D03-6457-0D2A-29D834C1D4A3}"/>
              </a:ext>
            </a:extLst>
          </p:cNvPr>
          <p:cNvSpPr>
            <a:spLocks noGrp="1"/>
          </p:cNvSpPr>
          <p:nvPr/>
        </p:nvSpPr>
        <p:spPr>
          <a:xfrm>
            <a:off x="4611261" y="1337540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9618AF1-EA59-D077-4B88-382F2CD35FBD}"/>
              </a:ext>
            </a:extLst>
          </p:cNvPr>
          <p:cNvSpPr>
            <a:spLocks noGrp="1"/>
          </p:cNvSpPr>
          <p:nvPr/>
        </p:nvSpPr>
        <p:spPr>
          <a:xfrm>
            <a:off x="5091791" y="1328400"/>
            <a:ext cx="380756" cy="267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Ask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C1F099-0322-C3CC-35FC-DB2CF81942BF}"/>
              </a:ext>
            </a:extLst>
          </p:cNvPr>
          <p:cNvSpPr>
            <a:spLocks noGrp="1"/>
          </p:cNvSpPr>
          <p:nvPr/>
        </p:nvSpPr>
        <p:spPr>
          <a:xfrm>
            <a:off x="5606590" y="1271053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3BE7F3A-D586-0EA8-99BB-1E792772D959}"/>
              </a:ext>
            </a:extLst>
          </p:cNvPr>
          <p:cNvSpPr>
            <a:spLocks noGrp="1"/>
          </p:cNvSpPr>
          <p:nvPr/>
        </p:nvSpPr>
        <p:spPr>
          <a:xfrm>
            <a:off x="6070702" y="1275199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7F8885-B7B2-06D8-5602-E4D0F0D91026}"/>
              </a:ext>
            </a:extLst>
          </p:cNvPr>
          <p:cNvSpPr>
            <a:spLocks noGrp="1"/>
          </p:cNvSpPr>
          <p:nvPr/>
        </p:nvSpPr>
        <p:spPr>
          <a:xfrm>
            <a:off x="6045900" y="1343254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4</a:t>
            </a:r>
            <a:endParaRPr sz="1500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B86AF5-B753-1684-B923-F305AF4C0BC7}"/>
              </a:ext>
            </a:extLst>
          </p:cNvPr>
          <p:cNvSpPr>
            <a:spLocks noGrp="1"/>
          </p:cNvSpPr>
          <p:nvPr/>
        </p:nvSpPr>
        <p:spPr>
          <a:xfrm>
            <a:off x="6526430" y="1337540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Match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E69A1EE-B700-A3E7-8C85-B89C81D5E920}"/>
              </a:ext>
            </a:extLst>
          </p:cNvPr>
          <p:cNvSpPr>
            <a:spLocks noGrp="1"/>
          </p:cNvSpPr>
          <p:nvPr/>
        </p:nvSpPr>
        <p:spPr>
          <a:xfrm>
            <a:off x="7292248" y="1292002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F3D3907-68B8-9D7A-5C53-B34E1BE92C17}"/>
              </a:ext>
            </a:extLst>
          </p:cNvPr>
          <p:cNvSpPr>
            <a:spLocks noGrp="1"/>
          </p:cNvSpPr>
          <p:nvPr/>
        </p:nvSpPr>
        <p:spPr>
          <a:xfrm>
            <a:off x="7776078" y="1274253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2A0D349-A218-F607-04BA-7380C93B100E}"/>
              </a:ext>
            </a:extLst>
          </p:cNvPr>
          <p:cNvSpPr>
            <a:spLocks noGrp="1"/>
          </p:cNvSpPr>
          <p:nvPr/>
        </p:nvSpPr>
        <p:spPr>
          <a:xfrm>
            <a:off x="7751276" y="1342308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5</a:t>
            </a:r>
            <a:endParaRPr sz="1500" b="1" dirty="0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81505F6-597B-DC3C-0FFF-65F99F59F6AE}"/>
              </a:ext>
            </a:extLst>
          </p:cNvPr>
          <p:cNvSpPr>
            <a:spLocks noGrp="1"/>
          </p:cNvSpPr>
          <p:nvPr/>
        </p:nvSpPr>
        <p:spPr>
          <a:xfrm>
            <a:off x="8231806" y="1336594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Resolve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400E581-F46A-68B7-63AA-4B423F4351B4}"/>
              </a:ext>
            </a:extLst>
          </p:cNvPr>
          <p:cNvSpPr>
            <a:spLocks noGrp="1"/>
          </p:cNvSpPr>
          <p:nvPr/>
        </p:nvSpPr>
        <p:spPr>
          <a:xfrm>
            <a:off x="8982050" y="1289924"/>
            <a:ext cx="43814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86"/>
          </a:bodyPr>
          <a:lstStyle/>
          <a:p>
            <a:pPr algn="ctr">
              <a:defRPr sz="210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2100" b="1" dirty="0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7636E11-7456-B2FA-FA47-25B15E208220}"/>
              </a:ext>
            </a:extLst>
          </p:cNvPr>
          <p:cNvSpPr>
            <a:spLocks noGrp="1"/>
          </p:cNvSpPr>
          <p:nvPr/>
        </p:nvSpPr>
        <p:spPr>
          <a:xfrm>
            <a:off x="9465880" y="1272175"/>
            <a:ext cx="1206398" cy="392788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8463990-4271-4889-92AB-5F107E837B82}"/>
              </a:ext>
            </a:extLst>
          </p:cNvPr>
          <p:cNvSpPr>
            <a:spLocks noGrp="1"/>
          </p:cNvSpPr>
          <p:nvPr/>
        </p:nvSpPr>
        <p:spPr>
          <a:xfrm>
            <a:off x="9441078" y="1340230"/>
            <a:ext cx="435331" cy="284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A62A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</a:t>
            </a:r>
            <a:endParaRPr sz="15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1CC51EC-E93F-04E0-6F90-CA16962CA323}"/>
              </a:ext>
            </a:extLst>
          </p:cNvPr>
          <p:cNvSpPr>
            <a:spLocks noGrp="1"/>
          </p:cNvSpPr>
          <p:nvPr/>
        </p:nvSpPr>
        <p:spPr>
          <a:xfrm>
            <a:off x="9921608" y="1334516"/>
            <a:ext cx="750670" cy="2636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15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Open</a:t>
            </a:r>
            <a:endParaRPr sz="15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09FDA9C-B081-0F1B-C994-5A9DEE2D18B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Video Demo</a:t>
            </a:r>
            <a:endParaRPr sz="27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Placeholder 81">
            <a:extLst>
              <a:ext uri="{FF2B5EF4-FFF2-40B4-BE49-F238E27FC236}">
                <a16:creationId xmlns:a16="http://schemas.microsoft.com/office/drawing/2014/main" id="{ED6D3FA0-5195-147A-CC22-8D50F1BDC5D1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EXAMPLE APP USAGE FLOW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673628-9E59-BB11-A96E-B6DE016CA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0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FE852C-4E61-480E-A969-59A02F9EE6B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Local-first </a:t>
            </a: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orchestration</a:t>
            </a: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: The Architecture</a:t>
            </a:r>
            <a:endParaRPr sz="2700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85F4B-BBF0-47D8-9BA7-F7122E340B74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React handles the user experience; local services validate, resolve, rank, record, and scrape.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42FF6D-3B46-40A6-95E3-E1CEA13F10C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643C68-01D6-4447-8B34-E0896DD50D94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React UI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F7FD0E-1FD1-4FF9-9B75-8480BC0F0681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Ask, pin, review,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open page 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2B6D8-47F7-4E6C-A208-5C7645865889}"/>
              </a:ext>
            </a:extLst>
          </p:cNvPr>
          <p:cNvSpPr>
            <a:spLocks noGrp="1"/>
          </p:cNvSpPr>
          <p:nvPr/>
        </p:nvSpPr>
        <p:spPr>
          <a:xfrm>
            <a:off x="255270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AAC397-E260-4993-AD76-13E7F0346EA3}"/>
              </a:ext>
            </a:extLst>
          </p:cNvPr>
          <p:cNvSpPr>
            <a:spLocks noGrp="1"/>
          </p:cNvSpPr>
          <p:nvPr/>
        </p:nvSpPr>
        <p:spPr>
          <a:xfrm>
            <a:off x="293370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DE026-4D22-4713-A5EA-1C92B8200C65}"/>
              </a:ext>
            </a:extLst>
          </p:cNvPr>
          <p:cNvSpPr>
            <a:spLocks noGrp="1"/>
          </p:cNvSpPr>
          <p:nvPr/>
        </p:nvSpPr>
        <p:spPr>
          <a:xfrm>
            <a:off x="310515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Node gateway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4A05E8-8E87-413B-9D4A-44E470317A83}"/>
              </a:ext>
            </a:extLst>
          </p:cNvPr>
          <p:cNvSpPr>
            <a:spLocks noGrp="1"/>
          </p:cNvSpPr>
          <p:nvPr/>
        </p:nvSpPr>
        <p:spPr>
          <a:xfrm>
            <a:off x="3051266" y="2933700"/>
            <a:ext cx="1543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 dirty="0">
                <a:latin typeface="Calibri"/>
                <a:ea typeface="Calibri"/>
                <a:cs typeface="Calibri"/>
              </a:rPr>
              <a:t>Auth, validation,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US" sz="1200" dirty="0">
                <a:latin typeface="Calibri"/>
                <a:ea typeface="Calibri"/>
                <a:cs typeface="Calibri"/>
              </a:rPr>
              <a:t>page opening</a:t>
            </a:r>
            <a:r>
              <a:rPr sz="1200" dirty="0">
                <a:latin typeface="Calibri"/>
                <a:ea typeface="Calibri"/>
                <a:cs typeface="Calibri"/>
              </a:rPr>
              <a:t> 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1F5A2-13D4-472B-A048-7A2E9592412A}"/>
              </a:ext>
            </a:extLst>
          </p:cNvPr>
          <p:cNvSpPr>
            <a:spLocks noGrp="1"/>
          </p:cNvSpPr>
          <p:nvPr/>
        </p:nvSpPr>
        <p:spPr>
          <a:xfrm>
            <a:off x="481965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84052A-441F-495F-B0F5-81DDEA19EDC0}"/>
              </a:ext>
            </a:extLst>
          </p:cNvPr>
          <p:cNvSpPr>
            <a:spLocks noGrp="1"/>
          </p:cNvSpPr>
          <p:nvPr/>
        </p:nvSpPr>
        <p:spPr>
          <a:xfrm>
            <a:off x="52006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54793-D9A8-45EC-B150-CDA743B401D7}"/>
              </a:ext>
            </a:extLst>
          </p:cNvPr>
          <p:cNvSpPr>
            <a:spLocks noGrp="1"/>
          </p:cNvSpPr>
          <p:nvPr/>
        </p:nvSpPr>
        <p:spPr>
          <a:xfrm>
            <a:off x="53721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Ranker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4B6BD2-1320-41C8-BA85-5ECE3622DF0F}"/>
              </a:ext>
            </a:extLst>
          </p:cNvPr>
          <p:cNvSpPr>
            <a:spLocks noGrp="1"/>
          </p:cNvSpPr>
          <p:nvPr/>
        </p:nvSpPr>
        <p:spPr>
          <a:xfrm>
            <a:off x="53721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Lexical + semantic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page matching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293FC8-D3F7-4FC3-9A1B-2B1A7ECB1FDF}"/>
              </a:ext>
            </a:extLst>
          </p:cNvPr>
          <p:cNvSpPr>
            <a:spLocks noGrp="1"/>
          </p:cNvSpPr>
          <p:nvPr/>
        </p:nvSpPr>
        <p:spPr>
          <a:xfrm>
            <a:off x="708660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A84C5E-CA3D-4A52-BD12-826A503A708B}"/>
              </a:ext>
            </a:extLst>
          </p:cNvPr>
          <p:cNvSpPr>
            <a:spLocks noGrp="1"/>
          </p:cNvSpPr>
          <p:nvPr/>
        </p:nvSpPr>
        <p:spPr>
          <a:xfrm>
            <a:off x="746760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ED14CC-E5F2-4310-B9D5-6A48ED2057D2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Resolver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119490-83F2-4ACA-B9A2-49FEDE5BF8A4}"/>
              </a:ext>
            </a:extLst>
          </p:cNvPr>
          <p:cNvSpPr>
            <a:spLocks noGrp="1"/>
          </p:cNvSpPr>
          <p:nvPr/>
        </p:nvSpPr>
        <p:spPr>
          <a:xfrm>
            <a:off x="763905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Static paths +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dynamic templates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72490D-118A-442A-B17E-B319E3E0AD80}"/>
              </a:ext>
            </a:extLst>
          </p:cNvPr>
          <p:cNvSpPr>
            <a:spLocks noGrp="1"/>
          </p:cNvSpPr>
          <p:nvPr/>
        </p:nvSpPr>
        <p:spPr>
          <a:xfrm>
            <a:off x="9353550" y="2819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404B8A-9430-427B-8668-BEDEBD263A95}"/>
              </a:ext>
            </a:extLst>
          </p:cNvPr>
          <p:cNvSpPr>
            <a:spLocks noGrp="1"/>
          </p:cNvSpPr>
          <p:nvPr/>
        </p:nvSpPr>
        <p:spPr>
          <a:xfrm>
            <a:off x="9734550" y="2266950"/>
            <a:ext cx="17716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8D32A8-8DD1-4BCB-8306-4B9A3AA48C77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AMIDS pages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B82A64-3E66-48CE-9D86-B75E437B71DA}"/>
              </a:ext>
            </a:extLst>
          </p:cNvPr>
          <p:cNvSpPr>
            <a:spLocks noGrp="1"/>
          </p:cNvSpPr>
          <p:nvPr/>
        </p:nvSpPr>
        <p:spPr>
          <a:xfrm>
            <a:off x="9906000" y="2933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Embedded or</a:t>
            </a:r>
          </a:p>
          <a:p>
            <a:pPr algn="ctr">
              <a:defRPr sz="12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external opening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BA63BD-D925-43BD-9F16-7385CDC25DDD}"/>
              </a:ext>
            </a:extLst>
          </p:cNvPr>
          <p:cNvSpPr>
            <a:spLocks noGrp="1"/>
          </p:cNvSpPr>
          <p:nvPr/>
        </p:nvSpPr>
        <p:spPr>
          <a:xfrm>
            <a:off x="1333500" y="4533899"/>
            <a:ext cx="9525000" cy="138111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DA100-10FC-4BCA-AD05-2ED2E80D1313}"/>
              </a:ext>
            </a:extLst>
          </p:cNvPr>
          <p:cNvSpPr>
            <a:spLocks noGrp="1"/>
          </p:cNvSpPr>
          <p:nvPr/>
        </p:nvSpPr>
        <p:spPr>
          <a:xfrm>
            <a:off x="1333500" y="4533900"/>
            <a:ext cx="66675" cy="1381116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16424A-C93C-44C1-BCD2-FEC1FE955A87}"/>
              </a:ext>
            </a:extLst>
          </p:cNvPr>
          <p:cNvSpPr>
            <a:spLocks noGrp="1"/>
          </p:cNvSpPr>
          <p:nvPr/>
        </p:nvSpPr>
        <p:spPr>
          <a:xfrm>
            <a:off x="1562100" y="4743450"/>
            <a:ext cx="906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Supporting services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2D8BD6-2B03-4616-AD0C-A0612324D20C}"/>
              </a:ext>
            </a:extLst>
          </p:cNvPr>
          <p:cNvSpPr>
            <a:spLocks noGrp="1"/>
          </p:cNvSpPr>
          <p:nvPr/>
        </p:nvSpPr>
        <p:spPr>
          <a:xfrm>
            <a:off x="1562100" y="5124450"/>
            <a:ext cx="906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PostgreSQL stores profiles and evidenc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e, t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he scraper worker adds live data sources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and the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dirty="0" err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Ollama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local API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remains optional for generation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experimentation</a:t>
            </a:r>
            <a:r>
              <a:rPr lang="en-US"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and potential fallback.</a:t>
            </a:r>
            <a:endParaRPr sz="135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Placeholder 81">
            <a:extLst>
              <a:ext uri="{FF2B5EF4-FFF2-40B4-BE49-F238E27FC236}">
                <a16:creationId xmlns:a16="http://schemas.microsoft.com/office/drawing/2014/main" id="{A147FCD8-2D7E-16D1-A37C-F53F1E95B6E9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ARCHITECTURE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831A85-67A6-BF11-F88B-6693C80E31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91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9D50420-2C13-454E-81DD-D6CF396A6A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278C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278C4"/>
                </a:solidFill>
                <a:latin typeface="Calibri"/>
                <a:ea typeface="Calibri"/>
                <a:cs typeface="Calibri"/>
              </a:rPr>
              <a:t>BASIC FUNCTIONALITY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74CA89-B869-451F-91E7-CE5E38848A8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666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the app does for the user</a:t>
            </a:r>
            <a:endParaRPr sz="2925" b="1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86779-BF28-4DE5-ACF0-5B3F525FF93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638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500" b="0" dirty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The app gives alternatives for people who do not want to rely only on chat.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2750" y="419100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3DD22E-FEC7-4F6E-ABBE-E31F17B1112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594BB-B1E6-4705-8BF8-0271C4A859B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DEBC95-16CA-451E-8A72-446255577640}"/>
              </a:ext>
            </a:extLst>
          </p:cNvPr>
          <p:cNvSpPr>
            <a:spLocks noGrp="1"/>
          </p:cNvSpPr>
          <p:nvPr/>
        </p:nvSpPr>
        <p:spPr>
          <a:xfrm>
            <a:off x="5810250" y="1695450"/>
            <a:ext cx="5334000" cy="405765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ABE937-6DF8-4A4A-8B74-4C1ABAB1391B}"/>
              </a:ext>
            </a:extLst>
          </p:cNvPr>
          <p:cNvSpPr>
            <a:spLocks noGrp="1"/>
          </p:cNvSpPr>
          <p:nvPr/>
        </p:nvSpPr>
        <p:spPr>
          <a:xfrm>
            <a:off x="5981700" y="1866900"/>
            <a:ext cx="4991100" cy="419100"/>
          </a:xfrm>
          <a:prstGeom prst="roundRect">
            <a:avLst>
              <a:gd name="adj" fmla="val 27273"/>
            </a:avLst>
          </a:prstGeom>
          <a:solidFill>
            <a:srgbClr val="F5F9FD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FF0A89-F328-42E8-98E4-1BA643A9AEAB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114300" cy="114300"/>
          </a:xfrm>
          <a:prstGeom prst="ellipse">
            <a:avLst/>
          </a:prstGeom>
          <a:solidFill>
            <a:srgbClr val="EE3B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08FE35-6076-4122-B2D9-8698A028064F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114300" cy="114300"/>
          </a:xfrm>
          <a:prstGeom prst="ellipse">
            <a:avLst/>
          </a:prstGeom>
          <a:solidFill>
            <a:srgbClr val="F4A6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94A166-7FB1-4C0A-8D5F-02295D81DD96}"/>
              </a:ext>
            </a:extLst>
          </p:cNvPr>
          <p:cNvSpPr>
            <a:spLocks noGrp="1"/>
          </p:cNvSpPr>
          <p:nvPr/>
        </p:nvSpPr>
        <p:spPr>
          <a:xfrm>
            <a:off x="6515100" y="2000250"/>
            <a:ext cx="114300" cy="114300"/>
          </a:xfrm>
          <a:prstGeom prst="ellipse">
            <a:avLst/>
          </a:prstGeom>
          <a:solidFill>
            <a:srgbClr val="1C9A6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9E9B21-5E25-424B-8F7F-51E410E00A9F}"/>
              </a:ext>
            </a:extLst>
          </p:cNvPr>
          <p:cNvSpPr>
            <a:spLocks noGrp="1"/>
          </p:cNvSpPr>
          <p:nvPr/>
        </p:nvSpPr>
        <p:spPr>
          <a:xfrm>
            <a:off x="6800850" y="1962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A96AB5-9EF7-4F38-9C94-05F47288C975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1809750" cy="2914650"/>
          </a:xfrm>
          <a:prstGeom prst="roundRect">
            <a:avLst>
              <a:gd name="adj" fmla="val 6316"/>
            </a:avLst>
          </a:prstGeom>
          <a:solidFill>
            <a:srgbClr val="073763"/>
          </a:solidFill>
          <a:ln w="9525">
            <a:solidFill>
              <a:srgbClr val="0737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D5114B-EEE5-4AB5-8187-F8A608CC84C8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profile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657ED8-98AC-493A-B202-80FA2441D92E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1278C4"/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DC5F50-4934-4DAB-816F-A659791B181D}"/>
              </a:ext>
            </a:extLst>
          </p:cNvPr>
          <p:cNvSpPr>
            <a:spLocks noGrp="1"/>
          </p:cNvSpPr>
          <p:nvPr/>
        </p:nvSpPr>
        <p:spPr>
          <a:xfrm>
            <a:off x="6400800" y="32385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Pinned pages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E49818-8FAB-45B4-B76D-993DB0528775}"/>
              </a:ext>
            </a:extLst>
          </p:cNvPr>
          <p:cNvSpPr>
            <a:spLocks noGrp="1"/>
          </p:cNvSpPr>
          <p:nvPr/>
        </p:nvSpPr>
        <p:spPr>
          <a:xfrm>
            <a:off x="6305550" y="36766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D7AC3-5405-4A33-AC21-42A0F72654EC}"/>
              </a:ext>
            </a:extLst>
          </p:cNvPr>
          <p:cNvSpPr>
            <a:spLocks noGrp="1"/>
          </p:cNvSpPr>
          <p:nvPr/>
        </p:nvSpPr>
        <p:spPr>
          <a:xfrm>
            <a:off x="6400800" y="37528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Frequently visited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EA23F6-9976-4060-BDDE-1646C1B62B84}"/>
              </a:ext>
            </a:extLst>
          </p:cNvPr>
          <p:cNvSpPr>
            <a:spLocks noGrp="1"/>
          </p:cNvSpPr>
          <p:nvPr/>
        </p:nvSpPr>
        <p:spPr>
          <a:xfrm>
            <a:off x="6305550" y="419100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77A65-8515-4859-9E56-8593C822AB63}"/>
              </a:ext>
            </a:extLst>
          </p:cNvPr>
          <p:cNvSpPr>
            <a:spLocks noGrp="1"/>
          </p:cNvSpPr>
          <p:nvPr/>
        </p:nvSpPr>
        <p:spPr>
          <a:xfrm>
            <a:off x="6400800" y="42672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76E46C-D3FF-4332-ADDC-65650E7B26A5}"/>
              </a:ext>
            </a:extLst>
          </p:cNvPr>
          <p:cNvSpPr>
            <a:spLocks noGrp="1"/>
          </p:cNvSpPr>
          <p:nvPr/>
        </p:nvSpPr>
        <p:spPr>
          <a:xfrm>
            <a:off x="6305550" y="47053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196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37D965-172F-4126-BBD0-3AF1C21706E9}"/>
              </a:ext>
            </a:extLst>
          </p:cNvPr>
          <p:cNvSpPr>
            <a:spLocks noGrp="1"/>
          </p:cNvSpPr>
          <p:nvPr/>
        </p:nvSpPr>
        <p:spPr>
          <a:xfrm>
            <a:off x="6400800" y="47815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Similar users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6D4E17-1745-4097-91DC-4C5EA0C18500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609850" cy="1066800"/>
          </a:xfrm>
          <a:prstGeom prst="roundRect">
            <a:avLst>
              <a:gd name="adj" fmla="val 10714"/>
            </a:avLst>
          </a:prstGeom>
          <a:solidFill>
            <a:srgbClr val="EAF5FF"/>
          </a:solidFill>
          <a:ln w="9525">
            <a:solidFill>
              <a:srgbClr val="B6D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78052-F70A-43C0-A212-D6A07B154549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Ask for information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85E89C8-D222-46E3-BE5C-CA0A3D38324E}"/>
              </a:ext>
            </a:extLst>
          </p:cNvPr>
          <p:cNvSpPr>
            <a:spLocks noGrp="1"/>
          </p:cNvSpPr>
          <p:nvPr/>
        </p:nvSpPr>
        <p:spPr>
          <a:xfrm>
            <a:off x="8477250" y="3086100"/>
            <a:ext cx="1333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62E6C-AC94-4E05-A600-73DE1AD5235A}"/>
              </a:ext>
            </a:extLst>
          </p:cNvPr>
          <p:cNvSpPr>
            <a:spLocks noGrp="1"/>
          </p:cNvSpPr>
          <p:nvPr/>
        </p:nvSpPr>
        <p:spPr>
          <a:xfrm>
            <a:off x="8610600" y="31718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prognostic chart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2709ABE-CAB2-4C8E-B3A2-FCA7F9AFA3BA}"/>
              </a:ext>
            </a:extLst>
          </p:cNvPr>
          <p:cNvSpPr>
            <a:spLocks noGrp="1"/>
          </p:cNvSpPr>
          <p:nvPr/>
        </p:nvSpPr>
        <p:spPr>
          <a:xfrm>
            <a:off x="9886950" y="3086100"/>
            <a:ext cx="704850" cy="342900"/>
          </a:xfrm>
          <a:prstGeom prst="roundRect">
            <a:avLst>
              <a:gd name="adj" fmla="val 22222"/>
            </a:avLst>
          </a:prstGeom>
          <a:solidFill>
            <a:srgbClr val="1278C4"/>
          </a:solidFill>
          <a:ln w="9525">
            <a:solidFill>
              <a:srgbClr val="127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20A57-4BB7-4C15-BBC3-EF8D5D2D3498}"/>
              </a:ext>
            </a:extLst>
          </p:cNvPr>
          <p:cNvSpPr>
            <a:spLocks noGrp="1"/>
          </p:cNvSpPr>
          <p:nvPr/>
        </p:nvSpPr>
        <p:spPr>
          <a:xfrm>
            <a:off x="10020300" y="3162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5CD7B20-5100-4C78-8476-E5D2821CC00B}"/>
              </a:ext>
            </a:extLst>
          </p:cNvPr>
          <p:cNvSpPr>
            <a:spLocks noGrp="1"/>
          </p:cNvSpPr>
          <p:nvPr/>
        </p:nvSpPr>
        <p:spPr>
          <a:xfrm>
            <a:off x="8210550" y="38481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CCCFE7-75F3-4738-A971-97FFA2EAE4FC}"/>
              </a:ext>
            </a:extLst>
          </p:cNvPr>
          <p:cNvSpPr>
            <a:spLocks noGrp="1"/>
          </p:cNvSpPr>
          <p:nvPr/>
        </p:nvSpPr>
        <p:spPr>
          <a:xfrm>
            <a:off x="8210550" y="3848100"/>
            <a:ext cx="47625" cy="704850"/>
          </a:xfrm>
          <a:prstGeom prst="rect">
            <a:avLst/>
          </a:prstGeom>
          <a:solidFill>
            <a:srgbClr val="1C9A6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86E492-67A6-4A68-AD8F-E613D0C79E2B}"/>
              </a:ext>
            </a:extLst>
          </p:cNvPr>
          <p:cNvSpPr>
            <a:spLocks noGrp="1"/>
          </p:cNvSpPr>
          <p:nvPr/>
        </p:nvSpPr>
        <p:spPr>
          <a:xfrm>
            <a:off x="8420100" y="4019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Prognostic SIGWX Charts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D27D1B-1317-4B76-804B-2D5BE3A32FC3}"/>
              </a:ext>
            </a:extLst>
          </p:cNvPr>
          <p:cNvSpPr>
            <a:spLocks noGrp="1"/>
          </p:cNvSpPr>
          <p:nvPr/>
        </p:nvSpPr>
        <p:spPr>
          <a:xfrm>
            <a:off x="8420100" y="4267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Selected page with dynamic code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946DB0-AC84-44C8-B9A6-31D1B76AF04F}"/>
              </a:ext>
            </a:extLst>
          </p:cNvPr>
          <p:cNvSpPr>
            <a:spLocks noGrp="1"/>
          </p:cNvSpPr>
          <p:nvPr/>
        </p:nvSpPr>
        <p:spPr>
          <a:xfrm>
            <a:off x="8210550" y="46863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2A7DBB-2CC5-4832-B673-308C055ADAB2}"/>
              </a:ext>
            </a:extLst>
          </p:cNvPr>
          <p:cNvSpPr>
            <a:spLocks noGrp="1"/>
          </p:cNvSpPr>
          <p:nvPr/>
        </p:nvSpPr>
        <p:spPr>
          <a:xfrm>
            <a:off x="8210550" y="4686300"/>
            <a:ext cx="47625" cy="704850"/>
          </a:xfrm>
          <a:prstGeom prst="rect">
            <a:avLst/>
          </a:prstGeom>
          <a:solidFill>
            <a:srgbClr val="1278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AFCA6B-E43F-4AEE-ABCA-ED8BBA638AED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Forecast Wind/Temp Chart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A64618-E29D-457C-8271-065EA58EE514}"/>
              </a:ext>
            </a:extLst>
          </p:cNvPr>
          <p:cNvSpPr>
            <a:spLocks noGrp="1"/>
          </p:cNvSpPr>
          <p:nvPr/>
        </p:nvSpPr>
        <p:spPr>
          <a:xfrm>
            <a:off x="8420100" y="51054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Alternative suggestion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BAF5814-B7FD-47B8-8F9A-716664A3F62D}"/>
              </a:ext>
            </a:extLst>
          </p:cNvPr>
          <p:cNvSpPr>
            <a:spLocks noGrp="1"/>
          </p:cNvSpPr>
          <p:nvPr/>
        </p:nvSpPr>
        <p:spPr>
          <a:xfrm>
            <a:off x="8210550" y="5524500"/>
            <a:ext cx="26098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006F2F-3333-4539-82AC-21858E246722}"/>
              </a:ext>
            </a:extLst>
          </p:cNvPr>
          <p:cNvSpPr>
            <a:spLocks noGrp="1"/>
          </p:cNvSpPr>
          <p:nvPr/>
        </p:nvSpPr>
        <p:spPr>
          <a:xfrm>
            <a:off x="8210550" y="5524500"/>
            <a:ext cx="47625" cy="704850"/>
          </a:xfrm>
          <a:prstGeom prst="rect">
            <a:avLst/>
          </a:prstGeom>
          <a:solidFill>
            <a:srgbClr val="1278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F636FF-E8A4-445B-B5AA-6F86C9C506F1}"/>
              </a:ext>
            </a:extLst>
          </p:cNvPr>
          <p:cNvSpPr>
            <a:spLocks noGrp="1"/>
          </p:cNvSpPr>
          <p:nvPr/>
        </p:nvSpPr>
        <p:spPr>
          <a:xfrm>
            <a:off x="8420100" y="56959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Satellite TC Track Overlay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0C6146-2F74-4519-A935-F7578853A588}"/>
              </a:ext>
            </a:extLst>
          </p:cNvPr>
          <p:cNvSpPr>
            <a:spLocks noGrp="1"/>
          </p:cNvSpPr>
          <p:nvPr/>
        </p:nvSpPr>
        <p:spPr>
          <a:xfrm>
            <a:off x="8420100" y="59436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E718A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E718A"/>
                </a:solidFill>
                <a:latin typeface="Calibri"/>
                <a:ea typeface="Calibri"/>
                <a:cs typeface="Calibri"/>
              </a:rPr>
              <a:t>Alternative suggestion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A141DE-0FAA-4B20-A6A7-3C725EA0E72C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4333875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69"/>
          </a:bodyPr>
          <a:lstStyle/>
          <a:p>
            <a:pPr marL="10" algn="l">
              <a:spcAft>
                <a:spcPts val="9"/>
              </a:spcAft>
              <a:defRPr sz="1800" b="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HK" dirty="0"/>
              <a:t>It understands what kind of aviation weather information the user is asking </a:t>
            </a:r>
            <a:r>
              <a:rPr lang="en-HK" dirty="0" err="1"/>
              <a:t>for.It</a:t>
            </a:r>
            <a:r>
              <a:rPr lang="en-HK" dirty="0"/>
              <a:t> matches that request to approved AMIDS </a:t>
            </a:r>
            <a:r>
              <a:rPr lang="en-HK" dirty="0" err="1"/>
              <a:t>pages.It</a:t>
            </a:r>
            <a:r>
              <a:rPr lang="en-HK" dirty="0"/>
              <a:t> opens the correct page, or multiple related pages, in a controlled </a:t>
            </a:r>
            <a:r>
              <a:rPr lang="en-HK" dirty="0" err="1"/>
              <a:t>workspace.It</a:t>
            </a:r>
            <a:r>
              <a:rPr lang="en-HK" dirty="0"/>
              <a:t> learns from user habits, pinned pages, repeated choices, and profile settings to make future navigation faster.</a:t>
            </a:r>
            <a:endParaRPr lang="en-HK" sz="1800" b="0" dirty="0">
              <a:solidFill>
                <a:srgbClr val="10203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869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FD5B0-E2C5-AEE5-0EC7-1A7951D8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3282B6-2CC4-3E11-4E50-FF48ECE921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5129-73D1-7972-6670-404C4615BDDC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A878A-989A-320D-291A-7769F6392709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Controlled Page Foundation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F18C0-EA82-A063-D16C-23C8510D10E5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route registry and dynamic resolver keep page opening approved, parameterized, and auditable.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D36DA-F50C-21BB-F9B6-5EDC9D6CD908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2BCA8-B141-B000-701E-28BA25349F0D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06BA29-D5A3-B8BA-5422-27E91DDB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3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94A8-3B55-64C2-D982-6EA0C8E8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CC8BF2D-0DF8-D023-0CFC-518E314F7D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3480B-B950-1C04-5331-2A0D0792148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rPr lang="en-US" sz="3000" b="1" dirty="0">
                <a:solidFill>
                  <a:srgbClr val="111827"/>
                </a:solidFill>
              </a:rPr>
              <a:t>The Route</a:t>
            </a:r>
            <a:r>
              <a:rPr sz="3000" b="1" dirty="0">
                <a:solidFill>
                  <a:srgbClr val="111827"/>
                </a:solidFill>
              </a:rPr>
              <a:t> </a:t>
            </a:r>
            <a:r>
              <a:rPr lang="en-US" sz="3000" b="1" dirty="0">
                <a:solidFill>
                  <a:srgbClr val="111827"/>
                </a:solidFill>
              </a:rPr>
              <a:t>R</a:t>
            </a:r>
            <a:r>
              <a:rPr sz="3000" b="1" dirty="0">
                <a:solidFill>
                  <a:srgbClr val="111827"/>
                </a:solidFill>
              </a:rPr>
              <a:t>egistry </a:t>
            </a:r>
            <a:r>
              <a:rPr lang="en-US" sz="3000" b="1" dirty="0">
                <a:solidFill>
                  <a:srgbClr val="111827"/>
                </a:solidFill>
              </a:rPr>
              <a:t>became</a:t>
            </a:r>
            <a:r>
              <a:rPr sz="3000" b="1" dirty="0">
                <a:solidFill>
                  <a:srgbClr val="111827"/>
                </a:solidFill>
              </a:rPr>
              <a:t> the control point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3C39B2C-0B54-8612-853C-7CAB4BC2445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4810125" cy="4210050"/>
          </a:xfrm>
          <a:prstGeom prst="roundRect">
            <a:avLst>
              <a:gd name="adj" fmla="val 5455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D5DA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20FC37-CB1A-047D-83D4-43CB9F1ADAC2}"/>
              </a:ext>
            </a:extLst>
          </p:cNvPr>
          <p:cNvSpPr>
            <a:spLocks noGrp="1"/>
          </p:cNvSpPr>
          <p:nvPr/>
        </p:nvSpPr>
        <p:spPr>
          <a:xfrm>
            <a:off x="1181100" y="2038350"/>
            <a:ext cx="3600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 dirty="0">
                <a:solidFill>
                  <a:srgbClr val="111827"/>
                </a:solidFill>
              </a:rPr>
              <a:t>Required page structure</a:t>
            </a:r>
            <a:r>
              <a:rPr lang="en-US" sz="1650" b="1" dirty="0">
                <a:solidFill>
                  <a:srgbClr val="111827"/>
                </a:solidFill>
              </a:rPr>
              <a:t> example:</a:t>
            </a:r>
            <a:endParaRPr sz="1650" b="1" dirty="0">
              <a:solidFill>
                <a:srgbClr val="11182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0D764F-7EA3-F16D-A3D6-43FB96254115}"/>
              </a:ext>
            </a:extLst>
          </p:cNvPr>
          <p:cNvSpPr>
            <a:spLocks noGrp="1"/>
          </p:cNvSpPr>
          <p:nvPr/>
        </p:nvSpPr>
        <p:spPr>
          <a:xfrm>
            <a:off x="1181100" y="2514600"/>
            <a:ext cx="4048125" cy="3248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{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id</a:t>
            </a:r>
            <a:r>
              <a:rPr lang="en-US" sz="1200" dirty="0">
                <a:solidFill>
                  <a:srgbClr val="111827"/>
                </a:solidFill>
              </a:rPr>
              <a:t>": "destination-weather-report-forecast",   </a:t>
            </a:r>
            <a:br>
              <a:rPr lang="en-US" sz="1200" dirty="0">
                <a:solidFill>
                  <a:srgbClr val="111827"/>
                </a:solidFill>
              </a:rPr>
            </a:b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title</a:t>
            </a:r>
            <a:r>
              <a:rPr lang="en-US" sz="1200" dirty="0">
                <a:solidFill>
                  <a:srgbClr val="111827"/>
                </a:solidFill>
              </a:rPr>
              <a:t>": "Destination Weather Report &amp; Forecast",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path</a:t>
            </a:r>
            <a:r>
              <a:rPr lang="en-US" sz="1200" dirty="0">
                <a:solidFill>
                  <a:srgbClr val="111827"/>
                </a:solidFill>
              </a:rPr>
              <a:t>": "https://aviation.weather.gov.hk/</a:t>
            </a:r>
            <a:r>
              <a:rPr lang="en-US" sz="1200" dirty="0" err="1">
                <a:solidFill>
                  <a:srgbClr val="111827"/>
                </a:solidFill>
              </a:rPr>
              <a:t>cgi</a:t>
            </a:r>
            <a:r>
              <a:rPr lang="en-US" sz="1200" dirty="0">
                <a:solidFill>
                  <a:srgbClr val="111827"/>
                </a:solidFill>
              </a:rPr>
              <a:t>-bin/</a:t>
            </a:r>
            <a:r>
              <a:rPr lang="en-US" sz="1200" dirty="0" err="1">
                <a:solidFill>
                  <a:srgbClr val="111827"/>
                </a:solidFill>
              </a:rPr>
              <a:t>metcond</a:t>
            </a:r>
            <a:r>
              <a:rPr lang="en-US" sz="1200" dirty="0">
                <a:solidFill>
                  <a:srgbClr val="111827"/>
                </a:solidFill>
              </a:rPr>
              <a:t>/...”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description</a:t>
            </a:r>
            <a:r>
              <a:rPr lang="en-US" sz="1200" dirty="0">
                <a:solidFill>
                  <a:srgbClr val="111827"/>
                </a:solidFill>
              </a:rPr>
              <a:t>": "Weather reports and forecasts for destination aerodromes",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"</a:t>
            </a:r>
            <a:r>
              <a:rPr lang="en-US" sz="1200" b="1" dirty="0">
                <a:solidFill>
                  <a:srgbClr val="111827"/>
                </a:solidFill>
              </a:rPr>
              <a:t>keywords</a:t>
            </a:r>
            <a:r>
              <a:rPr lang="en-US" sz="1200" dirty="0">
                <a:solidFill>
                  <a:srgbClr val="111827"/>
                </a:solidFill>
              </a:rPr>
              <a:t>": [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topic:destination</a:t>
            </a:r>
            <a:r>
              <a:rPr lang="en-US" sz="1200" dirty="0">
                <a:solidFill>
                  <a:srgbClr val="111827"/>
                </a:solidFill>
              </a:rPr>
              <a:t> weather",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 …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purpose:bulletin-feed</a:t>
            </a:r>
            <a:r>
              <a:rPr lang="en-US" sz="1200" dirty="0">
                <a:solidFill>
                  <a:srgbClr val="111827"/>
                </a:solidFill>
              </a:rPr>
              <a:t>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</a:t>
            </a:r>
            <a:r>
              <a:rPr lang="en-US" sz="1200" dirty="0" err="1">
                <a:solidFill>
                  <a:srgbClr val="111827"/>
                </a:solidFill>
              </a:rPr>
              <a:t>route:destination</a:t>
            </a:r>
            <a:r>
              <a:rPr lang="en-US" sz="1200" dirty="0">
                <a:solidFill>
                  <a:srgbClr val="111827"/>
                </a:solidFill>
              </a:rPr>
              <a:t> weather report forecast", 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"destination </a:t>
            </a:r>
            <a:r>
              <a:rPr lang="en-US" sz="1200" dirty="0" err="1">
                <a:solidFill>
                  <a:srgbClr val="111827"/>
                </a:solidFill>
              </a:rPr>
              <a:t>metar</a:t>
            </a:r>
            <a:r>
              <a:rPr lang="en-US" sz="1200" dirty="0">
                <a:solidFill>
                  <a:srgbClr val="111827"/>
                </a:solidFill>
              </a:rPr>
              <a:t>", 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…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"destination </a:t>
            </a:r>
            <a:r>
              <a:rPr lang="en-US" sz="1200" dirty="0" err="1">
                <a:solidFill>
                  <a:srgbClr val="111827"/>
                </a:solidFill>
              </a:rPr>
              <a:t>speci</a:t>
            </a:r>
            <a:r>
              <a:rPr lang="en-US" sz="1200" dirty="0">
                <a:solidFill>
                  <a:srgbClr val="111827"/>
                </a:solidFill>
              </a:rPr>
              <a:t>",  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 "flight destination weather"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  ]  </a:t>
            </a:r>
          </a:p>
          <a:p>
            <a:pPr>
              <a:defRPr sz="1125" b="0">
                <a:solidFill>
                  <a:srgbClr val="111827"/>
                </a:solidFill>
              </a:defRPr>
            </a:pPr>
            <a:r>
              <a:rPr lang="en-US" sz="1200" dirty="0">
                <a:solidFill>
                  <a:srgbClr val="111827"/>
                </a:solidFill>
              </a:rPr>
              <a:t>},</a:t>
            </a:r>
            <a:endParaRPr sz="1200" b="0" dirty="0">
              <a:solidFill>
                <a:srgbClr val="11182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C9B9FB-476B-1574-7C90-50724F05F127}"/>
              </a:ext>
            </a:extLst>
          </p:cNvPr>
          <p:cNvSpPr>
            <a:spLocks noGrp="1"/>
          </p:cNvSpPr>
          <p:nvPr/>
        </p:nvSpPr>
        <p:spPr>
          <a:xfrm>
            <a:off x="5867400" y="1856831"/>
            <a:ext cx="514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Keyword convention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988CFD-2A6B-165E-7135-444481FEFBA6}"/>
              </a:ext>
            </a:extLst>
          </p:cNvPr>
          <p:cNvSpPr>
            <a:spLocks noGrp="1"/>
          </p:cNvSpPr>
          <p:nvPr/>
        </p:nvSpPr>
        <p:spPr>
          <a:xfrm>
            <a:off x="5943600" y="25045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DC5931-743A-BC08-A5A7-465A0D2F095E}"/>
              </a:ext>
            </a:extLst>
          </p:cNvPr>
          <p:cNvSpPr>
            <a:spLocks noGrp="1"/>
          </p:cNvSpPr>
          <p:nvPr/>
        </p:nvSpPr>
        <p:spPr>
          <a:xfrm>
            <a:off x="6172200" y="23902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topic: shared concepts for grouping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8E1956-4367-2DCB-401F-384ABCF647DA}"/>
              </a:ext>
            </a:extLst>
          </p:cNvPr>
          <p:cNvSpPr>
            <a:spLocks noGrp="1"/>
          </p:cNvSpPr>
          <p:nvPr/>
        </p:nvSpPr>
        <p:spPr>
          <a:xfrm>
            <a:off x="5943600" y="298078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26E795-06ED-FC54-3758-7BA626B9C860}"/>
              </a:ext>
            </a:extLst>
          </p:cNvPr>
          <p:cNvSpPr>
            <a:spLocks noGrp="1"/>
          </p:cNvSpPr>
          <p:nvPr/>
        </p:nvSpPr>
        <p:spPr>
          <a:xfrm>
            <a:off x="6172200" y="286648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purpose: how information is presented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200E92-CAD8-0B0C-0795-6E0A66AFA19F}"/>
              </a:ext>
            </a:extLst>
          </p:cNvPr>
          <p:cNvSpPr>
            <a:spLocks noGrp="1"/>
          </p:cNvSpPr>
          <p:nvPr/>
        </p:nvSpPr>
        <p:spPr>
          <a:xfrm>
            <a:off x="5943600" y="34570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37F90-AC22-4CEB-B47A-1188EFA1E313}"/>
              </a:ext>
            </a:extLst>
          </p:cNvPr>
          <p:cNvSpPr>
            <a:spLocks noGrp="1"/>
          </p:cNvSpPr>
          <p:nvPr/>
        </p:nvSpPr>
        <p:spPr>
          <a:xfrm>
            <a:off x="6172200" y="33427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route: page name and close aliases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6BF9432-7323-526E-C46D-5B424F9C91AB}"/>
              </a:ext>
            </a:extLst>
          </p:cNvPr>
          <p:cNvSpPr>
            <a:spLocks noGrp="1"/>
          </p:cNvSpPr>
          <p:nvPr/>
        </p:nvSpPr>
        <p:spPr>
          <a:xfrm>
            <a:off x="5943600" y="393328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21489D-DDB1-0CF5-7840-24D21FB3F150}"/>
              </a:ext>
            </a:extLst>
          </p:cNvPr>
          <p:cNvSpPr>
            <a:spLocks noGrp="1"/>
          </p:cNvSpPr>
          <p:nvPr/>
        </p:nvSpPr>
        <p:spPr>
          <a:xfrm>
            <a:off x="6172200" y="381898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plain keywords: operational phrases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47A1C2-C928-08FE-3114-A7D675FC971A}"/>
              </a:ext>
            </a:extLst>
          </p:cNvPr>
          <p:cNvSpPr>
            <a:spLocks noGrp="1"/>
          </p:cNvSpPr>
          <p:nvPr/>
        </p:nvSpPr>
        <p:spPr>
          <a:xfrm>
            <a:off x="5943600" y="4409531"/>
            <a:ext cx="76200" cy="76200"/>
          </a:xfrm>
          <a:prstGeom prst="ellipse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14A245-DBD1-3EBC-3265-8ED5AD2BF16C}"/>
              </a:ext>
            </a:extLst>
          </p:cNvPr>
          <p:cNvSpPr>
            <a:spLocks noGrp="1"/>
          </p:cNvSpPr>
          <p:nvPr/>
        </p:nvSpPr>
        <p:spPr>
          <a:xfrm>
            <a:off x="6172200" y="4295231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runtime keywords: terms scraped from live pages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33B293-B9CF-414D-785F-0C44CEBB5654}"/>
              </a:ext>
            </a:extLst>
          </p:cNvPr>
          <p:cNvSpPr>
            <a:spLocks noGrp="1"/>
          </p:cNvSpPr>
          <p:nvPr/>
        </p:nvSpPr>
        <p:spPr>
          <a:xfrm>
            <a:off x="5943600" y="5057231"/>
            <a:ext cx="590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This keeps AI behavior </a:t>
            </a:r>
            <a:r>
              <a:rPr lang="en-US"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controlled</a:t>
            </a: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: the model can suggest IDs, but the app opens only approved registry paths.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63B1C5-65EE-FFF2-F3F1-C109F6E9F3B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Every model or UI decision must resolve to approved page IDs and authoritative paths.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Internally, route = AMIDS page</a:t>
            </a:r>
            <a:endParaRPr sz="150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Text Placeholder 81">
            <a:extLst>
              <a:ext uri="{FF2B5EF4-FFF2-40B4-BE49-F238E27FC236}">
                <a16:creationId xmlns:a16="http://schemas.microsoft.com/office/drawing/2014/main" id="{8F1673CB-C6D5-06CC-5E63-5F9DA5AD4CEB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REGISTRY</a:t>
            </a:r>
          </a:p>
        </p:txBody>
      </p:sp>
    </p:spTree>
    <p:extLst>
      <p:ext uri="{BB962C8B-B14F-4D97-AF65-F5344CB8AC3E}">
        <p14:creationId xmlns:p14="http://schemas.microsoft.com/office/powerpoint/2010/main" val="353252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5BEC0A-6D6F-47CA-8D7C-CD7B6416030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URLs were separated from route selection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D78A7-C449-406A-9B66-1DE26CF101EF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route decides the page; the resolver decides the page state only when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dynamic keywords 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are present or safely inferred.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3672E0-97B3-4439-A94E-61ECC728CF02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0082DD-A368-4B26-9961-7736E9799B40}"/>
              </a:ext>
            </a:extLst>
          </p:cNvPr>
          <p:cNvSpPr>
            <a:spLocks noGrp="1"/>
          </p:cNvSpPr>
          <p:nvPr/>
        </p:nvSpPr>
        <p:spPr>
          <a:xfrm>
            <a:off x="914400" y="2219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34FE3-53E1-4DF8-827A-9C64A018A14D}"/>
              </a:ext>
            </a:extLst>
          </p:cNvPr>
          <p:cNvSpPr>
            <a:spLocks noGrp="1"/>
          </p:cNvSpPr>
          <p:nvPr/>
        </p:nvSpPr>
        <p:spPr>
          <a:xfrm>
            <a:off x="1466850" y="21336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Select approved 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F68A0-57A5-4EFC-AF6E-46DC4C8E5C03}"/>
              </a:ext>
            </a:extLst>
          </p:cNvPr>
          <p:cNvSpPr>
            <a:spLocks noGrp="1"/>
          </p:cNvSpPr>
          <p:nvPr/>
        </p:nvSpPr>
        <p:spPr>
          <a:xfrm>
            <a:off x="1466850" y="24955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</a:t>
            </a:r>
            <a:r>
              <a:rPr lang="en-US"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selected</a:t>
            </a:r>
            <a:r>
              <a:rPr sz="13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route ID comes from the registry, button, user memory, or model result.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EE546B-326B-4E13-8F45-5F65509C85E3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37EA7-B569-45BB-B642-58F9B92C6653}"/>
              </a:ext>
            </a:extLst>
          </p:cNvPr>
          <p:cNvSpPr>
            <a:spLocks noGrp="1"/>
          </p:cNvSpPr>
          <p:nvPr/>
        </p:nvSpPr>
        <p:spPr>
          <a:xfrm>
            <a:off x="914400" y="33242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288B05-D38F-4B54-A5B1-1FBFE522A940}"/>
              </a:ext>
            </a:extLst>
          </p:cNvPr>
          <p:cNvSpPr>
            <a:spLocks noGrp="1"/>
          </p:cNvSpPr>
          <p:nvPr/>
        </p:nvSpPr>
        <p:spPr>
          <a:xfrm>
            <a:off x="1466850" y="32385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Extract or infer parameters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EED27-1671-44F9-8C05-488B97BE0447}"/>
              </a:ext>
            </a:extLst>
          </p:cNvPr>
          <p:cNvSpPr>
            <a:spLocks noGrp="1"/>
          </p:cNvSpPr>
          <p:nvPr/>
        </p:nvSpPr>
        <p:spPr>
          <a:xfrm>
            <a:off x="1466850" y="36004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latin typeface="Calibri"/>
                <a:ea typeface="Calibri"/>
                <a:cs typeface="Calibri"/>
              </a:rPr>
              <a:t>Runway, area, airline, aerodrome, route code, chart type, and flight package fields are resolved.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3D203F-DBE9-414C-B529-3C69AEB5419D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112DE4-FFCE-4E57-BBC3-6AD6F626A690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07CCEF-E189-4B0F-98F8-5D446BEBF2AC}"/>
              </a:ext>
            </a:extLst>
          </p:cNvPr>
          <p:cNvSpPr>
            <a:spLocks noGrp="1"/>
          </p:cNvSpPr>
          <p:nvPr/>
        </p:nvSpPr>
        <p:spPr>
          <a:xfrm>
            <a:off x="1466850" y="4343400"/>
            <a:ext cx="421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Clarify only when needed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A8448-3EF4-4A74-80AC-CCD2EBE99954}"/>
              </a:ext>
            </a:extLst>
          </p:cNvPr>
          <p:cNvSpPr>
            <a:spLocks noGrp="1"/>
          </p:cNvSpPr>
          <p:nvPr/>
        </p:nvSpPr>
        <p:spPr>
          <a:xfrm>
            <a:off x="1466850" y="47053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latin typeface="Calibri"/>
                <a:ea typeface="Calibri"/>
                <a:cs typeface="Calibri"/>
              </a:rPr>
              <a:t>High-risk identity parameters ask the user; safe display settings use defaults or profile values.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7F5542-68CF-40A6-9869-E5029275476A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400050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D8481-1008-4032-890D-1790A424131A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66675" cy="3162300"/>
          </a:xfrm>
          <a:prstGeom prst="rect">
            <a:avLst/>
          </a:prstGeom>
          <a:solidFill>
            <a:srgbClr val="A664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B35873-409C-4524-9CA6-FCDBB235190A}"/>
              </a:ext>
            </a:extLst>
          </p:cNvPr>
          <p:cNvSpPr>
            <a:spLocks noGrp="1"/>
          </p:cNvSpPr>
          <p:nvPr/>
        </p:nvSpPr>
        <p:spPr>
          <a:xfrm>
            <a:off x="6896100" y="2286000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Examples now handled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14C688-A41D-4B64-BD22-AE8CDA40C4D1}"/>
              </a:ext>
            </a:extLst>
          </p:cNvPr>
          <p:cNvSpPr>
            <a:spLocks noGrp="1"/>
          </p:cNvSpPr>
          <p:nvPr/>
        </p:nvSpPr>
        <p:spPr>
          <a:xfrm>
            <a:off x="6896100" y="2667000"/>
            <a:ext cx="35433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Runway reports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Satellite areas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Radar animation/overlay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Landing minima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Flight packages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Forecast wind/temp charts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1A56CB-9A0F-3816-130A-01F97BEDBB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Placeholder 81">
            <a:extLst>
              <a:ext uri="{FF2B5EF4-FFF2-40B4-BE49-F238E27FC236}">
                <a16:creationId xmlns:a16="http://schemas.microsoft.com/office/drawing/2014/main" id="{33742664-3C82-737D-A760-EF62C9CE152F}"/>
              </a:ext>
            </a:extLst>
          </p:cNvPr>
          <p:cNvSpPr txBox="1">
            <a:spLocks/>
          </p:cNvSpPr>
          <p:nvPr/>
        </p:nvSpPr>
        <p:spPr>
          <a:xfrm>
            <a:off x="666750" y="351724"/>
            <a:ext cx="7394446" cy="24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DYNAMIC PAGES HANDLING</a:t>
            </a:r>
          </a:p>
        </p:txBody>
      </p:sp>
    </p:spTree>
    <p:extLst>
      <p:ext uri="{BB962C8B-B14F-4D97-AF65-F5344CB8AC3E}">
        <p14:creationId xmlns:p14="http://schemas.microsoft.com/office/powerpoint/2010/main" val="1438877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2C981-29D0-F6D0-A48F-F109CF8F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01522D-6ABC-6A6E-508F-E371E542B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0F0C0-C423-FBC2-7698-EF1DABD6193B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3CF6B-8D03-1AD6-DBD7-E98DF20C1722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Development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6C40F-AB8B-659B-4FCC-B003BF213096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rPr>
              <a:t>The core technology: </a:t>
            </a: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lexical ranking, semantic matching, arbitration, and the data pipeline around them.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50FBB-81A1-0C4D-55AB-7C1EBB96792B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4BB6B-E29A-1F9B-A0F5-2A0B77F39665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4A5748-A76A-8E4A-C054-3273EC6E2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6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4702DF-9996-4C36-9963-9EE6DA1507B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MODEL FOCUS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AC011A-0035-4683-BD19-C9441D68C50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Most effort went into the local navigation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6FEE3-2550-427C-BC94-B26834AC913A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project shifted from simply calling an LLM to 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making 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fast, controlled page decisions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locally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11AED4-E8B7-4664-9006-522BF65D2086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38373F-BE28-4E16-8695-BDBF191E914F}"/>
              </a:ext>
            </a:extLst>
          </p:cNvPr>
          <p:cNvSpPr>
            <a:spLocks noGrp="1"/>
          </p:cNvSpPr>
          <p:nvPr/>
        </p:nvSpPr>
        <p:spPr>
          <a:xfrm>
            <a:off x="1162050" y="20574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Early</a:t>
            </a:r>
            <a:r>
              <a:rPr lang="en-US"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b="1" dirty="0" err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Ollama</a:t>
            </a:r>
            <a:r>
              <a:rPr sz="13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LLM routing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288A01-2065-4835-B220-1606E850A841}"/>
              </a:ext>
            </a:extLst>
          </p:cNvPr>
          <p:cNvSpPr>
            <a:spLocks noGrp="1"/>
          </p:cNvSpPr>
          <p:nvPr/>
        </p:nvSpPr>
        <p:spPr>
          <a:xfrm>
            <a:off x="4095750" y="20097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Good semantic flexibility, but slow and inconsistent on local hardware.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B4654F-16A1-4F1C-81C7-8EC2150B5A10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64239-D7F2-4A9F-9680-81086AA842A2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Deterministic shortcuts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397484-4B4F-42E0-995B-AB8D4D208946}"/>
              </a:ext>
            </a:extLst>
          </p:cNvPr>
          <p:cNvSpPr>
            <a:spLocks noGrp="1"/>
          </p:cNvSpPr>
          <p:nvPr/>
        </p:nvSpPr>
        <p:spPr>
          <a:xfrm>
            <a:off x="4095750" y="26955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Fast, but risked hard-coding too much of the intended AI behavior.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61FD9D-EBCC-4DD4-BD37-B432CF64CDFF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60C35-F032-4306-B671-DB7CF3F23203}"/>
              </a:ext>
            </a:extLst>
          </p:cNvPr>
          <p:cNvSpPr>
            <a:spLocks noGrp="1"/>
          </p:cNvSpPr>
          <p:nvPr/>
        </p:nvSpPr>
        <p:spPr>
          <a:xfrm>
            <a:off x="1162050" y="3429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PyTorch lexical ranker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D2E97B-3607-4A8F-B64A-BB24C7465615}"/>
              </a:ext>
            </a:extLst>
          </p:cNvPr>
          <p:cNvSpPr>
            <a:spLocks noGrp="1"/>
          </p:cNvSpPr>
          <p:nvPr/>
        </p:nvSpPr>
        <p:spPr>
          <a:xfrm>
            <a:off x="4095750" y="33813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Instant local inference, but sensitive to training data quality and wording coverage.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363DDBA-0248-46C8-B42F-2C2115D34DBD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00E66-0808-4267-8FB0-67F05444F0A8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encoder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C0B539-19B4-4133-9444-239AA4F90F4D}"/>
              </a:ext>
            </a:extLst>
          </p:cNvPr>
          <p:cNvSpPr>
            <a:spLocks noGrp="1"/>
          </p:cNvSpPr>
          <p:nvPr/>
        </p:nvSpPr>
        <p:spPr>
          <a:xfrm>
            <a:off x="4095750" y="40671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Better zero/few-training baseline for meaning, but needs careful scope and arbitration logic.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933C58-591B-4D5D-96F9-15F29723E94D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0B315D"/>
          </a:solidFill>
          <a:ln w="9525">
            <a:solidFill>
              <a:srgbClr val="0B31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0C7FCD-82A1-401E-871D-A80B4C6F2F42}"/>
              </a:ext>
            </a:extLst>
          </p:cNvPr>
          <p:cNvSpPr>
            <a:spLocks noGrp="1"/>
          </p:cNvSpPr>
          <p:nvPr/>
        </p:nvSpPr>
        <p:spPr>
          <a:xfrm>
            <a:off x="1162050" y="48006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E991AA-A5CE-4F96-B175-924FC3DD2848}"/>
              </a:ext>
            </a:extLst>
          </p:cNvPr>
          <p:cNvSpPr>
            <a:spLocks noGrp="1"/>
          </p:cNvSpPr>
          <p:nvPr/>
        </p:nvSpPr>
        <p:spPr>
          <a:xfrm>
            <a:off x="4095750" y="47529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semantic + lexical evidence as inputs to a controlled decision layer.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86895D-8941-9EAA-D871-023B79839B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7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0" y="443285"/>
            <a:ext cx="8200000" cy="59714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36EAC8-F1CD-3D15-1E23-13ECFB507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85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333" y="467095"/>
            <a:ext cx="8133333" cy="59238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39FF81-6E45-CB22-2CE9-981D08EEE4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34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0" y="443285"/>
            <a:ext cx="8200000" cy="59714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8C93F3-15B4-919F-5018-8891BDFF6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475D8F-8CA8-4DAD-8666-A8AD526DBA1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LEXICAL RANKER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0DBF43-A044-435D-A0A6-A1FCAAD66A9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first custom model learned query-page matching locally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878CF-A841-46D2-994C-39D7ABE27C76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It was designed to be fast, trainable, auditable, and independent from cloud services.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49EF96-0490-464D-9722-519EB9C6F047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CDA6C-EED1-4D39-8D62-7FE398D960D2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66675" cy="18097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62693-AA28-4339-A11E-63178DAA36C7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Input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C5D2CA-169B-4BD3-8891-543BBD342F2E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Queries and pages are normalized into word unigrams, bigrams, and 3-/4-character features, then BLAKE2-hashed into fixed vectors.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474358-1FEB-476C-A9CE-2A71B5FBD15D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83E9D8-508C-4DE9-B931-726F36A810B4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66675" cy="18097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100170-969B-4B8D-A25E-D5EFD6BC7E05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Model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EEBE0-A425-45A3-9AA4-B6E831EFC975}"/>
              </a:ext>
            </a:extLst>
          </p:cNvPr>
          <p:cNvSpPr>
            <a:spLocks noGrp="1"/>
          </p:cNvSpPr>
          <p:nvPr/>
        </p:nvSpPr>
        <p:spPr>
          <a:xfrm>
            <a:off x="46291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Separate query and page projections compare [query, page, absolute difference, feature product], then score relevance.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7C0353-644B-47AE-B0C3-0895419E8917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3381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9F16FC-34D3-4EC1-BB29-1FC311256144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66675" cy="18097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2069E4-3584-4A84-AFBB-EAE02D2ACCCD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2924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Scope head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A417B5-1224-4C2D-9C07-C4ABADA93442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29241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query-only branch predicts single versus multiple-page intent, later separated from role context to reduce leakage.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91B1E-AE6C-400D-A34C-32C201F244E8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Important learning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B735B-BB47-43AA-9011-E69E4645EB94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666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model became very fast, but overfitting showed that dataset diversity and held-out realism matter more than simply increasing epoch count.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D3EFCC-DF4A-79BE-7D43-EDD19C16FD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3E29B7-5603-486A-AA37-1B44A146F00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SEMANTIC ENCODER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C076A-D156-4013-BFAE-F4F7B769A49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matching became the practical low-training baseline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BDC7A-3447-469E-A3EF-82F409DFD5B7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prepared local MiniLM sentence encoder compares user wording with page metadata and keywords.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B0E69A-F878-4DC8-A64D-C9AB7FAC3095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D875E8-CCB7-48EA-85EC-54723E7FBFC0}"/>
              </a:ext>
            </a:extLst>
          </p:cNvPr>
          <p:cNvSpPr>
            <a:spLocks noGrp="1"/>
          </p:cNvSpPr>
          <p:nvPr/>
        </p:nvSpPr>
        <p:spPr>
          <a:xfrm>
            <a:off x="914400" y="21050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C27A9-317A-41D0-B879-7020630E954E}"/>
              </a:ext>
            </a:extLst>
          </p:cNvPr>
          <p:cNvSpPr>
            <a:spLocks noGrp="1"/>
          </p:cNvSpPr>
          <p:nvPr/>
        </p:nvSpPr>
        <p:spPr>
          <a:xfrm>
            <a:off x="1466850" y="20193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Encode the query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03BA0-B676-4165-8211-978B942F7451}"/>
              </a:ext>
            </a:extLst>
          </p:cNvPr>
          <p:cNvSpPr>
            <a:spLocks noGrp="1"/>
          </p:cNvSpPr>
          <p:nvPr/>
        </p:nvSpPr>
        <p:spPr>
          <a:xfrm>
            <a:off x="1466850" y="238125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Preprocessing expands common aviation shorthand and typo-prone terms before embedding.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2FB4E2-8456-45B8-84AF-AE96D9369E23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89350-3455-4C37-8DDF-2637D9DE1FC0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7D986-0027-4972-8F71-F4AEC7552054}"/>
              </a:ext>
            </a:extLst>
          </p:cNvPr>
          <p:cNvSpPr>
            <a:spLocks noGrp="1"/>
          </p:cNvSpPr>
          <p:nvPr/>
        </p:nvSpPr>
        <p:spPr>
          <a:xfrm>
            <a:off x="1466850" y="310515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Encode page metadata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70BF9-CEB3-435D-9378-83B48EB47857}"/>
              </a:ext>
            </a:extLst>
          </p:cNvPr>
          <p:cNvSpPr>
            <a:spLocks noGrp="1"/>
          </p:cNvSpPr>
          <p:nvPr/>
        </p:nvSpPr>
        <p:spPr>
          <a:xfrm>
            <a:off x="1466850" y="34671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Titles, descriptions, keyword groups, and dynamic supported terms become comparable page text.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A5AD9F-5749-4950-A8B1-19380796B704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06289-0771-4ADD-AB89-5DAE0620DEB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223BE-CE1B-4EC7-B4D1-38F7BAC1A746}"/>
              </a:ext>
            </a:extLst>
          </p:cNvPr>
          <p:cNvSpPr>
            <a:spLocks noGrp="1"/>
          </p:cNvSpPr>
          <p:nvPr/>
        </p:nvSpPr>
        <p:spPr>
          <a:xfrm>
            <a:off x="1466850" y="41910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Compare cosine similarities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A47262-62DC-4E76-BB41-34F8D0AAD5CB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Top score, margin, cluster shape, and explicit scope cues guide single vs multiple suggestions.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237C9E-7B15-4D47-9CF8-68F17CC5BEC6}"/>
              </a:ext>
            </a:extLst>
          </p:cNvPr>
          <p:cNvSpPr>
            <a:spLocks noGrp="1"/>
          </p:cNvSpPr>
          <p:nvPr/>
        </p:nvSpPr>
        <p:spPr>
          <a:xfrm>
            <a:off x="7000875" y="2438400"/>
            <a:ext cx="3900488" cy="23431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77308F-9E9C-4D9D-9D3A-78768A962F23}"/>
              </a:ext>
            </a:extLst>
          </p:cNvPr>
          <p:cNvSpPr>
            <a:spLocks noGrp="1"/>
          </p:cNvSpPr>
          <p:nvPr/>
        </p:nvSpPr>
        <p:spPr>
          <a:xfrm>
            <a:off x="7000875" y="2438400"/>
            <a:ext cx="71851" cy="23431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C35EAD-5F4C-4FA2-82D8-7891FFABB5A8}"/>
              </a:ext>
            </a:extLst>
          </p:cNvPr>
          <p:cNvSpPr>
            <a:spLocks noGrp="1"/>
          </p:cNvSpPr>
          <p:nvPr/>
        </p:nvSpPr>
        <p:spPr>
          <a:xfrm>
            <a:off x="7229474" y="2647949"/>
            <a:ext cx="3407795" cy="3699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Why this mattered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77DD8-CA06-4795-B7A6-95DF16B43708}"/>
              </a:ext>
            </a:extLst>
          </p:cNvPr>
          <p:cNvSpPr>
            <a:spLocks noGrp="1"/>
          </p:cNvSpPr>
          <p:nvPr/>
        </p:nvSpPr>
        <p:spPr>
          <a:xfrm>
            <a:off x="7229474" y="3028949"/>
            <a:ext cx="3407795" cy="13565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6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It gave a functioning route decider without waiting for enough expert training data to make the lexical model fully robust.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0E54BB-CF52-7BE8-0AAD-6450FF2398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3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54D6AD-5416-486F-9DED-0D5AC78A82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52BF7-7D7A-4A5D-AC20-5940DFE46E0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F4C81"/>
                </a:solidFill>
              </a:defRPr>
            </a:pPr>
            <a:r>
              <a:rPr sz="975" b="1">
                <a:solidFill>
                  <a:srgbClr val="0F4C81"/>
                </a:solidFill>
              </a:rPr>
              <a:t>DYNAMIC PAGES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A9377-87EA-43A3-83C5-F2DB1F6E0E2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Dynamic URLs are resolved without expanding the registry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8935F-A6EF-4561-A03D-65E58B14DA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One page can represent many valid parameter states.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24483-FB7D-473D-BBFA-D5091047B49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A630E-6C76-4F62-A631-D5CA3D6BB463}"/>
              </a:ext>
            </a:extLst>
          </p:cNvPr>
          <p:cNvSpPr>
            <a:spLocks noGrp="1"/>
          </p:cNvSpPr>
          <p:nvPr/>
        </p:nvSpPr>
        <p:spPr>
          <a:xfrm>
            <a:off x="781050" y="64960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B5563"/>
                </a:solidFill>
              </a:defRPr>
            </a:pPr>
            <a:r>
              <a:rPr lang="en-HK" sz="825" dirty="0">
                <a:solidFill>
                  <a:srgbClr val="4B5563"/>
                </a:solidFill>
              </a:rPr>
              <a:t>AMIDS Compass technical report</a:t>
            </a:r>
            <a:endParaRPr sz="825" dirty="0">
              <a:solidFill>
                <a:srgbClr val="4B556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B71E6-AF44-4A40-9985-CFB10A86F86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>
                <a:solidFill>
                  <a:srgbClr val="4B5563"/>
                </a:solidFill>
              </a:defRPr>
            </a:pPr>
            <a:r>
              <a:rPr sz="825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D7F662-3877-4432-8922-E1D6A60C82DE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33400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1FC28-CE41-4CE2-99A9-96669BB39B23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334000" cy="55245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7CAD4-989F-42A4-BCCA-CAF370C036CB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A875B-7DDC-4C33-837F-D6B768EB291B}"/>
              </a:ext>
            </a:extLst>
          </p:cNvPr>
          <p:cNvSpPr>
            <a:spLocks noGrp="1"/>
          </p:cNvSpPr>
          <p:nvPr/>
        </p:nvSpPr>
        <p:spPr>
          <a:xfrm>
            <a:off x="2952750" y="1943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4D4BE-FE09-451F-9F93-EBA0A2904FF4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5334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330D73-9575-4F5B-9B7C-946F9285B0A7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Flight packages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4299A4-B1F8-4C97-AFB1-C2FA6DBAB0F8}"/>
              </a:ext>
            </a:extLst>
          </p:cNvPr>
          <p:cNvSpPr>
            <a:spLocks noGrp="1"/>
          </p:cNvSpPr>
          <p:nvPr/>
        </p:nvSpPr>
        <p:spPr>
          <a:xfrm>
            <a:off x="2952750" y="2428875"/>
            <a:ext cx="2857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Flight number, destination, or route code.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4A9108-9E04-4744-A50C-8E55125B9F6E}"/>
              </a:ext>
            </a:extLst>
          </p:cNvPr>
          <p:cNvSpPr>
            <a:spLocks noGrp="1"/>
          </p:cNvSpPr>
          <p:nvPr/>
        </p:nvSpPr>
        <p:spPr>
          <a:xfrm>
            <a:off x="819150" y="2962275"/>
            <a:ext cx="5334000" cy="600075"/>
          </a:xfrm>
          <a:prstGeom prst="rect">
            <a:avLst/>
          </a:prstGeom>
          <a:solidFill>
            <a:srgbClr val="F3F6F9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3F702-BC92-4CB3-A9BE-0097CEB99A20}"/>
              </a:ext>
            </a:extLst>
          </p:cNvPr>
          <p:cNvSpPr>
            <a:spLocks noGrp="1"/>
          </p:cNvSpPr>
          <p:nvPr/>
        </p:nvSpPr>
        <p:spPr>
          <a:xfrm>
            <a:off x="1066800" y="3114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Radar pages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4A63F-D145-4A5C-8D61-8337B76D81C9}"/>
              </a:ext>
            </a:extLst>
          </p:cNvPr>
          <p:cNvSpPr>
            <a:spLocks noGrp="1"/>
          </p:cNvSpPr>
          <p:nvPr/>
        </p:nvSpPr>
        <p:spPr>
          <a:xfrm>
            <a:off x="2952750" y="31146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Range, animation, and overlay.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537B57-9F9E-4ABF-AFC1-3CF49F67B59E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53340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2C8C56-2FCE-4D7E-955F-4A81F8DCE294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Satellite pages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EC8DD9-CF39-4F83-8F7D-F18E893E6186}"/>
              </a:ext>
            </a:extLst>
          </p:cNvPr>
          <p:cNvSpPr>
            <a:spLocks noGrp="1"/>
          </p:cNvSpPr>
          <p:nvPr/>
        </p:nvSpPr>
        <p:spPr>
          <a:xfrm>
            <a:off x="2952750" y="3705224"/>
            <a:ext cx="2857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Region, view type, and TC overlays.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409C1B-0058-43D8-837B-435D93A22BA0}"/>
              </a:ext>
            </a:extLst>
          </p:cNvPr>
          <p:cNvSpPr>
            <a:spLocks noGrp="1"/>
          </p:cNvSpPr>
          <p:nvPr/>
        </p:nvSpPr>
        <p:spPr>
          <a:xfrm>
            <a:off x="819150" y="4162425"/>
            <a:ext cx="5334000" cy="600075"/>
          </a:xfrm>
          <a:prstGeom prst="rect">
            <a:avLst/>
          </a:prstGeom>
          <a:solidFill>
            <a:srgbClr val="F3F6F9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E3998-CECD-493C-B2D2-949931830AE9}"/>
              </a:ext>
            </a:extLst>
          </p:cNvPr>
          <p:cNvSpPr>
            <a:spLocks noGrp="1"/>
          </p:cNvSpPr>
          <p:nvPr/>
        </p:nvSpPr>
        <p:spPr>
          <a:xfrm>
            <a:off x="1066800" y="43148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4C81"/>
                </a:solidFill>
              </a:defRPr>
            </a:pPr>
            <a:r>
              <a:rPr sz="1500" b="1">
                <a:solidFill>
                  <a:srgbClr val="0F4C81"/>
                </a:solidFill>
              </a:rPr>
              <a:t>Reports &amp; charts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16361-E1BA-4FEB-A140-0A4A94B6370E}"/>
              </a:ext>
            </a:extLst>
          </p:cNvPr>
          <p:cNvSpPr>
            <a:spLocks noGrp="1"/>
          </p:cNvSpPr>
          <p:nvPr/>
        </p:nvSpPr>
        <p:spPr>
          <a:xfrm>
            <a:off x="2952750" y="42005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F2937"/>
                </a:solidFill>
              </a:defRPr>
            </a:pPr>
            <a:r>
              <a:rPr sz="1350" dirty="0">
                <a:solidFill>
                  <a:srgbClr val="1F2937"/>
                </a:solidFill>
              </a:rPr>
              <a:t>OPMET, minima, SIGWX, wind/temp, volcanic ash.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FB5CA4-90F1-4491-8FF7-6531D3677A6D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2F7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170B82-B547-4CC9-9DA2-2EE339675139}"/>
              </a:ext>
            </a:extLst>
          </p:cNvPr>
          <p:cNvSpPr>
            <a:spLocks noGrp="1"/>
          </p:cNvSpPr>
          <p:nvPr/>
        </p:nvSpPr>
        <p:spPr>
          <a:xfrm>
            <a:off x="6953250" y="20383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rPr sz="1800" b="1">
                <a:solidFill>
                  <a:srgbClr val="0F4C81"/>
                </a:solidFill>
              </a:rPr>
              <a:t>Resolution rules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AC4F14-8E66-4607-A1EA-577C08BBC609}"/>
              </a:ext>
            </a:extLst>
          </p:cNvPr>
          <p:cNvSpPr>
            <a:spLocks noGrp="1"/>
          </p:cNvSpPr>
          <p:nvPr/>
        </p:nvSpPr>
        <p:spPr>
          <a:xfrm>
            <a:off x="6953250" y="2495550"/>
            <a:ext cx="36004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0787E9-8ADA-4A94-9C6C-B50089673302}"/>
              </a:ext>
            </a:extLst>
          </p:cNvPr>
          <p:cNvSpPr>
            <a:spLocks noGrp="1"/>
          </p:cNvSpPr>
          <p:nvPr/>
        </p:nvSpPr>
        <p:spPr>
          <a:xfrm>
            <a:off x="7048500" y="27336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D679C-64AD-4B07-9462-8622B4BFA868}"/>
              </a:ext>
            </a:extLst>
          </p:cNvPr>
          <p:cNvSpPr>
            <a:spLocks noGrp="1"/>
          </p:cNvSpPr>
          <p:nvPr/>
        </p:nvSpPr>
        <p:spPr>
          <a:xfrm>
            <a:off x="7277100" y="2543175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Use static path unless dynamic intent is detected.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DF5F82-C902-4C2C-B4B3-CCCF57201312}"/>
              </a:ext>
            </a:extLst>
          </p:cNvPr>
          <p:cNvSpPr>
            <a:spLocks noGrp="1"/>
          </p:cNvSpPr>
          <p:nvPr/>
        </p:nvSpPr>
        <p:spPr>
          <a:xfrm>
            <a:off x="7048500" y="31908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F9DF5C-C98B-42CE-A754-607767213181}"/>
              </a:ext>
            </a:extLst>
          </p:cNvPr>
          <p:cNvSpPr>
            <a:spLocks noGrp="1"/>
          </p:cNvSpPr>
          <p:nvPr/>
        </p:nvSpPr>
        <p:spPr>
          <a:xfrm>
            <a:off x="7252607" y="300990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Ask only for crucial identity parameters.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510E9C-D40C-4C9B-AE75-7EC1E0852CD8}"/>
              </a:ext>
            </a:extLst>
          </p:cNvPr>
          <p:cNvSpPr>
            <a:spLocks noGrp="1"/>
          </p:cNvSpPr>
          <p:nvPr/>
        </p:nvSpPr>
        <p:spPr>
          <a:xfrm>
            <a:off x="7048500" y="36480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B5B1A-CA57-4E3A-803E-D249EFCCE52B}"/>
              </a:ext>
            </a:extLst>
          </p:cNvPr>
          <p:cNvSpPr>
            <a:spLocks noGrp="1"/>
          </p:cNvSpPr>
          <p:nvPr/>
        </p:nvSpPr>
        <p:spPr>
          <a:xfrm>
            <a:off x="7210425" y="357759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Default low-risk display settings.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0C4CC56-2998-4952-B008-680F20D169FC}"/>
              </a:ext>
            </a:extLst>
          </p:cNvPr>
          <p:cNvSpPr>
            <a:spLocks noGrp="1"/>
          </p:cNvSpPr>
          <p:nvPr/>
        </p:nvSpPr>
        <p:spPr>
          <a:xfrm>
            <a:off x="7048500" y="4105275"/>
            <a:ext cx="66675" cy="66675"/>
          </a:xfrm>
          <a:prstGeom prst="ellipse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FFA384-9DAA-477D-9DA2-503CA0CD13F7}"/>
              </a:ext>
            </a:extLst>
          </p:cNvPr>
          <p:cNvSpPr>
            <a:spLocks noGrp="1"/>
          </p:cNvSpPr>
          <p:nvPr/>
        </p:nvSpPr>
        <p:spPr>
          <a:xfrm>
            <a:off x="7210425" y="39814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F2937"/>
                </a:solidFill>
              </a:defRPr>
            </a:pPr>
            <a:r>
              <a:rPr sz="1425" dirty="0">
                <a:solidFill>
                  <a:srgbClr val="1F2937"/>
                </a:solidFill>
              </a:rPr>
              <a:t>Group related dynamic page families.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8A96FD-47D2-4CF1-9663-8B22738D164A}"/>
              </a:ext>
            </a:extLst>
          </p:cNvPr>
          <p:cNvSpPr>
            <a:spLocks noGrp="1"/>
          </p:cNvSpPr>
          <p:nvPr/>
        </p:nvSpPr>
        <p:spPr>
          <a:xfrm>
            <a:off x="6838950" y="5191125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Result: flexible links without an unmanageable registry.</a:t>
            </a:r>
          </a:p>
        </p:txBody>
      </p:sp>
    </p:spTree>
    <p:extLst>
      <p:ext uri="{BB962C8B-B14F-4D97-AF65-F5344CB8AC3E}">
        <p14:creationId xmlns:p14="http://schemas.microsoft.com/office/powerpoint/2010/main" val="814063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C7DF0D-D17C-4739-8ADB-399762463FC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ARBITRATION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E7AA73-5C31-40DF-8013-3E97DF9DA8B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decision layer became as important as the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CF12F-BB79-4AB8-BFF6-55ACC301F129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Raw lexical scores and semantic similarities are not directly comparable, so the app now separates evidence from confidence-to-act.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3DB39-2FFD-40F8-8220-8F40B6D5A9E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D8E4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0CE8A-D1FC-4C16-9100-230D763D9922}"/>
              </a:ext>
            </a:extLst>
          </p:cNvPr>
          <p:cNvSpPr>
            <a:spLocks noGrp="1"/>
          </p:cNvSpPr>
          <p:nvPr/>
        </p:nvSpPr>
        <p:spPr>
          <a:xfrm>
            <a:off x="742950" y="6419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 technical report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65BF7-F20C-4098-81D2-3CCF88490E7A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A3BC37-F034-4CBF-B4C1-BB9D33D1C479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DBAD41-FE01-4F4C-B41F-8B1C81FD9DD5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66675" cy="167640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4B76FB-C3CA-4E82-930E-772BE9E82884}"/>
              </a:ext>
            </a:extLst>
          </p:cNvPr>
          <p:cNvSpPr>
            <a:spLocks noGrp="1"/>
          </p:cNvSpPr>
          <p:nvPr/>
        </p:nvSpPr>
        <p:spPr>
          <a:xfrm>
            <a:off x="1104900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Lexical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CE331F-3353-4AAB-96DB-17751A60E199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Strong when trained wording matches page metadata; risky when it becomes overconfident on narrow patterns.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58B7A8-FC08-4A57-9471-BE9F2026A439}"/>
              </a:ext>
            </a:extLst>
          </p:cNvPr>
          <p:cNvSpPr>
            <a:spLocks noGrp="1"/>
          </p:cNvSpPr>
          <p:nvPr/>
        </p:nvSpPr>
        <p:spPr>
          <a:xfrm>
            <a:off x="4524375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C440-8F7A-43DA-AEF2-81100F587488}"/>
              </a:ext>
            </a:extLst>
          </p:cNvPr>
          <p:cNvSpPr>
            <a:spLocks noGrp="1"/>
          </p:cNvSpPr>
          <p:nvPr/>
        </p:nvSpPr>
        <p:spPr>
          <a:xfrm>
            <a:off x="4524375" y="2019300"/>
            <a:ext cx="66675" cy="167640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C5D3E-7FC2-40FF-BD5F-5A0F2AE1B0C1}"/>
              </a:ext>
            </a:extLst>
          </p:cNvPr>
          <p:cNvSpPr>
            <a:spLocks noGrp="1"/>
          </p:cNvSpPr>
          <p:nvPr/>
        </p:nvSpPr>
        <p:spPr>
          <a:xfrm>
            <a:off x="4752975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Semantic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712BFB-AB64-4520-88C9-2227213342D6}"/>
              </a:ext>
            </a:extLst>
          </p:cNvPr>
          <p:cNvSpPr>
            <a:spLocks noGrp="1"/>
          </p:cNvSpPr>
          <p:nvPr/>
        </p:nvSpPr>
        <p:spPr>
          <a:xfrm>
            <a:off x="4752975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Useful for meaning and synonyms; weaker when many related pages cluster close together.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D4EB2D7-670D-43A2-914F-D3B558ABAE94}"/>
              </a:ext>
            </a:extLst>
          </p:cNvPr>
          <p:cNvSpPr>
            <a:spLocks noGrp="1"/>
          </p:cNvSpPr>
          <p:nvPr/>
        </p:nvSpPr>
        <p:spPr>
          <a:xfrm>
            <a:off x="8172450" y="2019300"/>
            <a:ext cx="3143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ED957-867C-42CF-AC4C-52E06A087453}"/>
              </a:ext>
            </a:extLst>
          </p:cNvPr>
          <p:cNvSpPr>
            <a:spLocks noGrp="1"/>
          </p:cNvSpPr>
          <p:nvPr/>
        </p:nvSpPr>
        <p:spPr>
          <a:xfrm>
            <a:off x="8172450" y="2019300"/>
            <a:ext cx="66675" cy="16764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A8A2E-88EC-4A06-B532-2E7A2C0A4EC2}"/>
              </a:ext>
            </a:extLst>
          </p:cNvPr>
          <p:cNvSpPr>
            <a:spLocks noGrp="1"/>
          </p:cNvSpPr>
          <p:nvPr/>
        </p:nvSpPr>
        <p:spPr>
          <a:xfrm>
            <a:off x="8401050" y="22288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Arbitrated 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9723DF-CD32-432A-8128-41D192C98668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2686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Open when evidence is clear; suggest/clarify when models disagree, scope is unclear, or dynamic info is missing.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F06F2-FEE9-4A19-A2C9-3ED2F1DF2282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lang="en-US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Final</a:t>
            </a:r>
            <a:r>
              <a:rPr sz="18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 design choice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85C54-4C67-4C61-9238-FF66B48DEF42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7048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model outputs as evidence sources. The final product decision can still be clarification, grouped suggestions, dynamic-param prompts, or personalized shortcut opening.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F48CA9-DF8F-4AFC-C17C-E91A06A73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78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D45C2-9852-45EF-9306-CDA53F37E55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TRAINING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49A8A-5044-49BA-9FD0-28CE23563D9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model pipeline became a product in its own right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EB5184-2F3C-4675-AAD9-4E311CDB1ABC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 large part of the work is generating, validating, reviewing, evaluating, and promoting data safely.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It is repeatable!</a:t>
            </a:r>
            <a:endParaRPr sz="1500" dirty="0">
              <a:solidFill>
                <a:srgbClr val="5264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3D13B-0DFE-431A-89B6-0D9392B35131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D8E4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1827A-67DD-4FF3-ADEC-D365C85195A8}"/>
              </a:ext>
            </a:extLst>
          </p:cNvPr>
          <p:cNvSpPr>
            <a:spLocks noGrp="1"/>
          </p:cNvSpPr>
          <p:nvPr/>
        </p:nvSpPr>
        <p:spPr>
          <a:xfrm>
            <a:off x="742950" y="6419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 technical report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D0396-6BFA-4AC7-BE6F-7B5A953F2A9C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177A6C-68F9-42DF-826F-8BE8721F2179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8E43C-D953-4942-A60A-E9268230A8CC}"/>
              </a:ext>
            </a:extLst>
          </p:cNvPr>
          <p:cNvSpPr>
            <a:spLocks noGrp="1"/>
          </p:cNvSpPr>
          <p:nvPr/>
        </p:nvSpPr>
        <p:spPr>
          <a:xfrm>
            <a:off x="895350" y="1990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3BA47-6D9F-461D-A0AB-F8ABCD6C7ECD}"/>
              </a:ext>
            </a:extLst>
          </p:cNvPr>
          <p:cNvSpPr>
            <a:spLocks noGrp="1"/>
          </p:cNvSpPr>
          <p:nvPr/>
        </p:nvSpPr>
        <p:spPr>
          <a:xfrm>
            <a:off x="1447800" y="19050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Registry export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3B8DD-F7CC-4CB8-8DD7-3E5DEFF008C6}"/>
              </a:ext>
            </a:extLst>
          </p:cNvPr>
          <p:cNvSpPr>
            <a:spLocks noGrp="1"/>
          </p:cNvSpPr>
          <p:nvPr/>
        </p:nvSpPr>
        <p:spPr>
          <a:xfrm>
            <a:off x="1447800" y="22669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Freeze approved page metadata.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3D786A-8289-4B8F-936B-ED106D05EB47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1CDF8-5B48-4661-9E7D-85BD30E6E4C3}"/>
              </a:ext>
            </a:extLst>
          </p:cNvPr>
          <p:cNvSpPr>
            <a:spLocks noGrp="1"/>
          </p:cNvSpPr>
          <p:nvPr/>
        </p:nvSpPr>
        <p:spPr>
          <a:xfrm>
            <a:off x="895350" y="30575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8336FF-7F75-480C-B9AA-4799F49F6797}"/>
              </a:ext>
            </a:extLst>
          </p:cNvPr>
          <p:cNvSpPr>
            <a:spLocks noGrp="1"/>
          </p:cNvSpPr>
          <p:nvPr/>
        </p:nvSpPr>
        <p:spPr>
          <a:xfrm>
            <a:off x="1447800" y="29718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Generated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8E6C4F-1AEE-4D5C-BECC-AB418AB84D92}"/>
              </a:ext>
            </a:extLst>
          </p:cNvPr>
          <p:cNvSpPr>
            <a:spLocks noGrp="1"/>
          </p:cNvSpPr>
          <p:nvPr/>
        </p:nvSpPr>
        <p:spPr>
          <a:xfrm>
            <a:off x="1447800" y="33337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Balanced template variants, typos, scopes.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AB0E0B-13AE-4089-9A79-678C86C2B9BC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FA637-E121-44B8-9E67-DB265A8A0FB1}"/>
              </a:ext>
            </a:extLst>
          </p:cNvPr>
          <p:cNvSpPr>
            <a:spLocks noGrp="1"/>
          </p:cNvSpPr>
          <p:nvPr/>
        </p:nvSpPr>
        <p:spPr>
          <a:xfrm>
            <a:off x="895350" y="4124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83C4E6-044E-4136-8EF5-78691C07066A}"/>
              </a:ext>
            </a:extLst>
          </p:cNvPr>
          <p:cNvSpPr>
            <a:spLocks noGrp="1"/>
          </p:cNvSpPr>
          <p:nvPr/>
        </p:nvSpPr>
        <p:spPr>
          <a:xfrm>
            <a:off x="1447800" y="40386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Synthetic expert seeds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C48238-496B-461E-869D-142026D2E9D6}"/>
              </a:ext>
            </a:extLst>
          </p:cNvPr>
          <p:cNvSpPr>
            <a:spLocks noGrp="1"/>
          </p:cNvSpPr>
          <p:nvPr/>
        </p:nvSpPr>
        <p:spPr>
          <a:xfrm>
            <a:off x="1447800" y="44005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LLM-written queries with fixed labels.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302D1A-3FF1-4FBA-9040-2D86FD9BE573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E21D9F-ECA7-4FD1-A666-D08AAED1D225}"/>
              </a:ext>
            </a:extLst>
          </p:cNvPr>
          <p:cNvSpPr>
            <a:spLocks noGrp="1"/>
          </p:cNvSpPr>
          <p:nvPr/>
        </p:nvSpPr>
        <p:spPr>
          <a:xfrm>
            <a:off x="6610350" y="19907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BFAF7-1B4C-45F2-AD91-4F0B470E8D63}"/>
              </a:ext>
            </a:extLst>
          </p:cNvPr>
          <p:cNvSpPr>
            <a:spLocks noGrp="1"/>
          </p:cNvSpPr>
          <p:nvPr/>
        </p:nvSpPr>
        <p:spPr>
          <a:xfrm>
            <a:off x="7162800" y="19050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Hard examples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C62DE-5C20-4FED-B9EB-B153B0C43E44}"/>
              </a:ext>
            </a:extLst>
          </p:cNvPr>
          <p:cNvSpPr>
            <a:spLocks noGrp="1"/>
          </p:cNvSpPr>
          <p:nvPr/>
        </p:nvSpPr>
        <p:spPr>
          <a:xfrm>
            <a:off x="7162800" y="22669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Failure cases routed to review.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0A8379-1706-430C-BEE9-1C022A15972C}"/>
              </a:ext>
            </a:extLst>
          </p:cNvPr>
          <p:cNvSpPr>
            <a:spLocks noGrp="1"/>
          </p:cNvSpPr>
          <p:nvPr/>
        </p:nvSpPr>
        <p:spPr>
          <a:xfrm>
            <a:off x="6610350" y="29908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B2D019-E1CE-46E4-AB7A-2572322FDD9B}"/>
              </a:ext>
            </a:extLst>
          </p:cNvPr>
          <p:cNvSpPr>
            <a:spLocks noGrp="1"/>
          </p:cNvSpPr>
          <p:nvPr/>
        </p:nvSpPr>
        <p:spPr>
          <a:xfrm>
            <a:off x="6610350" y="30575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362CB7-0D6A-46EB-BF1C-8B830DB8BEFF}"/>
              </a:ext>
            </a:extLst>
          </p:cNvPr>
          <p:cNvSpPr>
            <a:spLocks noGrp="1"/>
          </p:cNvSpPr>
          <p:nvPr/>
        </p:nvSpPr>
        <p:spPr>
          <a:xfrm>
            <a:off x="7162800" y="29718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Held-out tests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B78860-96B3-4F72-B63B-71238EF0966C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Frozen evaluation data, not training data.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97269E-DF17-4754-8DDE-404A6DC6F2D1}"/>
              </a:ext>
            </a:extLst>
          </p:cNvPr>
          <p:cNvSpPr>
            <a:spLocks noGrp="1"/>
          </p:cNvSpPr>
          <p:nvPr/>
        </p:nvSpPr>
        <p:spPr>
          <a:xfrm>
            <a:off x="6610350" y="4057650"/>
            <a:ext cx="400050" cy="400050"/>
          </a:xfrm>
          <a:prstGeom prst="ellipse">
            <a:avLst/>
          </a:prstGeom>
          <a:solidFill>
            <a:srgbClr val="0B31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D03CC4-9621-4687-B203-A419556495FF}"/>
              </a:ext>
            </a:extLst>
          </p:cNvPr>
          <p:cNvSpPr>
            <a:spLocks noGrp="1"/>
          </p:cNvSpPr>
          <p:nvPr/>
        </p:nvSpPr>
        <p:spPr>
          <a:xfrm>
            <a:off x="6610350" y="41243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7A50B4-9722-409E-AC1F-BC546BA26D41}"/>
              </a:ext>
            </a:extLst>
          </p:cNvPr>
          <p:cNvSpPr>
            <a:spLocks noGrp="1"/>
          </p:cNvSpPr>
          <p:nvPr/>
        </p:nvSpPr>
        <p:spPr>
          <a:xfrm>
            <a:off x="7162800" y="4038600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Promotion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F6274-1399-4CBF-82AC-9913BA3A076A}"/>
              </a:ext>
            </a:extLst>
          </p:cNvPr>
          <p:cNvSpPr>
            <a:spLocks noGrp="1"/>
          </p:cNvSpPr>
          <p:nvPr/>
        </p:nvSpPr>
        <p:spPr>
          <a:xfrm>
            <a:off x="7162800" y="4400550"/>
            <a:ext cx="3924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Compare, approve, roll back.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2E8240-07FF-4956-8983-111FB3938DE9}"/>
              </a:ext>
            </a:extLst>
          </p:cNvPr>
          <p:cNvSpPr>
            <a:spLocks noGrp="1"/>
          </p:cNvSpPr>
          <p:nvPr/>
        </p:nvSpPr>
        <p:spPr>
          <a:xfrm>
            <a:off x="1428750" y="5410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Key lesson: more examples only help when they add genuinely different wording and trustworthy labels.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908327-66E4-FD0A-DAA2-1ABB21AFF1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45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E1F3-980C-7A8E-FF36-5516E9D7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43CD3-BC33-9DF5-962C-41C44AE124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8FBF1-0A2E-C084-4DCC-D6A08FA81C39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19DF4-C6FB-69C4-2D46-67459715DAC8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Personalization &amp; Runtime Context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HK"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18A4B-89E8-391E-5EB3-49339EE909B6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How the app adapts through profiles, route memory, similar-user signals and scraped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C885C7-0E94-90F9-3F78-CCF95AC82EE2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18C67-E519-5573-F2B5-73F6B79657CA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D12677-C545-173E-1390-DDB7A026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81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56A0DF-BBD7-452F-A4FC-66202CFC707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PERSONALIZATION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6202A-DEA6-4A7B-914F-A73135674C5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Personalization is bounded, not blind model retraining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4F6D7-BAFA-4870-9312-6E362791789D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app improves individual workflow speed without pretending the global model has become more certain.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43D868-CA13-4685-A130-BEAB8AEF5EFC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BE8A9-48F8-4157-9509-524C9B5003D9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66675" cy="20383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886C1-7443-498E-BFC5-B35D204E8BD1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Profile-to-param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46197B-DDF6-44E3-9B58-68D68345607F}"/>
              </a:ext>
            </a:extLst>
          </p:cNvPr>
          <p:cNvSpPr>
            <a:spLocks noGrp="1"/>
          </p:cNvSpPr>
          <p:nvPr/>
        </p:nvSpPr>
        <p:spPr>
          <a:xfrm>
            <a:off x="106680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Explicit query values outrank recent/session values, which outrank profile values, safe defaults, and clarification.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65805D-8089-4C44-A661-5AC38B2AB34A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5A67FD-3903-4DDF-8247-C52CCDC9F11B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66675" cy="20383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41285E-E257-42A4-AB8C-B9EF53CEEBD6}"/>
              </a:ext>
            </a:extLst>
          </p:cNvPr>
          <p:cNvSpPr>
            <a:spLocks noGrp="1"/>
          </p:cNvSpPr>
          <p:nvPr/>
        </p:nvSpPr>
        <p:spPr>
          <a:xfrm>
            <a:off x="470535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 route memory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8AE6FB-0D79-4CDC-9B9D-E01FE4A8F49E}"/>
              </a:ext>
            </a:extLst>
          </p:cNvPr>
          <p:cNvSpPr>
            <a:spLocks noGrp="1"/>
          </p:cNvSpPr>
          <p:nvPr/>
        </p:nvSpPr>
        <p:spPr>
          <a:xfrm>
            <a:off x="470535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If a user repeatedly chooses the same page for similar wording, the app can bypass clarification for that user.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D8BFEB-6FDD-4966-BB4D-21B97ED56184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3238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9C5A0-44F4-41A9-B353-960FA6EF2C38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66675" cy="2038350"/>
          </a:xfrm>
          <a:prstGeom prst="rect">
            <a:avLst/>
          </a:prstGeom>
          <a:solidFill>
            <a:srgbClr val="A664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9D5B9F-C56A-48D0-BE68-E050911E0D8A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Similar-user signal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DFB5A-E7DE-4150-B797-8092AFB97E02}"/>
              </a:ext>
            </a:extLst>
          </p:cNvPr>
          <p:cNvSpPr>
            <a:spLocks noGrp="1"/>
          </p:cNvSpPr>
          <p:nvPr/>
        </p:nvSpPr>
        <p:spPr>
          <a:xfrm>
            <a:off x="8343900" y="2667000"/>
            <a:ext cx="27813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Backend route events can surface pages used by users with overlapping behavior, while remaining explainable to admins.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26641B-6C27-4E54-A91A-E4C30D0E22F2}"/>
              </a:ext>
            </a:extLst>
          </p:cNvPr>
          <p:cNvSpPr>
            <a:spLocks noGrp="1"/>
          </p:cNvSpPr>
          <p:nvPr/>
        </p:nvSpPr>
        <p:spPr>
          <a:xfrm>
            <a:off x="1428750" y="4895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Safety boundary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A798B-18D1-4435-B47D-FB70997F7167}"/>
              </a:ext>
            </a:extLst>
          </p:cNvPr>
          <p:cNvSpPr>
            <a:spLocks noGrp="1"/>
          </p:cNvSpPr>
          <p:nvPr/>
        </p:nvSpPr>
        <p:spPr>
          <a:xfrm>
            <a:off x="3638550" y="4838700"/>
            <a:ext cx="714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Personalization creates shortcuts and suggestions; it does not silently rewrite approved URLs or inflate model confidence globally.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746CDE-6125-161F-7D52-F08BD00769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80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61F0BC-7F08-4705-81A6-BA47EE95F4C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SCRAPING AND RUNTIME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67BF5-F4A1-4708-A313-9CCA4EFC1B5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The scraper turns changing page content into usable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2081E-AD88-46E9-AEA9-07BA3CB8C5F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This matters most for dynamic information that cannot be fully represented by a static registry.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6DDDFA-8084-4381-BC05-DC1C8BB5182A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FE6E6E-BA9B-494A-B679-B29A660FBAA1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66675" cy="200025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404A4-9BFE-4295-9AA9-03525532A4AC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Flight package lookup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FEF1A2-9582-4D43-93D4-24DD47B18A6D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Scraped flight options allow users to type a flight number and let the app fill matching IATA and departure time.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4CFEEC-E539-430B-849C-1A73D4862ABB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C86A90-D68A-4A26-A617-98444353778C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66675" cy="200025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D8CF2-CFBB-4D7B-962E-9DE67624653F}"/>
              </a:ext>
            </a:extLst>
          </p:cNvPr>
          <p:cNvSpPr>
            <a:spLocks noGrp="1"/>
          </p:cNvSpPr>
          <p:nvPr/>
        </p:nvSpPr>
        <p:spPr>
          <a:xfrm>
            <a:off x="4752975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Certificate-protected pages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2915FD-CA3C-475C-9BF0-2801BCB3A309}"/>
              </a:ext>
            </a:extLst>
          </p:cNvPr>
          <p:cNvSpPr>
            <a:spLocks noGrp="1"/>
          </p:cNvSpPr>
          <p:nvPr/>
        </p:nvSpPr>
        <p:spPr>
          <a:xfrm>
            <a:off x="4752975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The workable path was Playwright-bundled Chromium with manual login and CDP attach to reuse the authenticated browser session.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756EA5-80BB-448E-B83E-0E359CB0EA56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D73206-575D-4A4F-A84F-F382C299EF2E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66675" cy="2000250"/>
          </a:xfrm>
          <a:prstGeom prst="rect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D1542-CB67-4C46-97C5-9C728280DFEF}"/>
              </a:ext>
            </a:extLst>
          </p:cNvPr>
          <p:cNvSpPr>
            <a:spLocks noGrp="1"/>
          </p:cNvSpPr>
          <p:nvPr/>
        </p:nvSpPr>
        <p:spPr>
          <a:xfrm>
            <a:off x="8401050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Runtime keywords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19B5FE-1E72-44A9-A1AA-CCB565E213AE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Scraped terms such as tropical cyclone names can temporarily improve page matching and grouping.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7B9C9D-6EE9-4AE7-88FF-62342B1F2B50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942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This expands Compass from static navigation into context-aware navigation, while keeping the scraper output separate from the approved route registry.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D15D85-0AB5-D458-DF77-62E0ECC160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5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62C8E-B4B9-4DD9-BCAA-893BA20B7ED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6DA7E2-2D92-41DA-9FAF-4D5D9B34F3C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Admins see the </a:t>
            </a:r>
            <a:r>
              <a:rPr lang="en-US"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decision processes</a:t>
            </a:r>
            <a:r>
              <a:rPr sz="2700" b="1" dirty="0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; normal users do not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8A7B1B-9B2C-481B-93DA-9EDD02C442B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perational simplicity 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for users, detailed diagnostics for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 developer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/admi</a:t>
            </a:r>
            <a:r>
              <a:rPr lang="en-US"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ns</a:t>
            </a:r>
            <a:r>
              <a:rPr sz="1500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B6F3F8-FE13-4998-A16C-030CCBF3B230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711A2B-238D-4BCC-9276-D6CB8066DF21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66675" cy="2857500"/>
          </a:xfrm>
          <a:prstGeom prst="rect">
            <a:avLst/>
          </a:prstGeom>
          <a:solidFill>
            <a:srgbClr val="0F5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D4B91-397D-422D-BDDA-C55FE7A6AC6F}"/>
              </a:ext>
            </a:extLst>
          </p:cNvPr>
          <p:cNvSpPr>
            <a:spLocks noGrp="1"/>
          </p:cNvSpPr>
          <p:nvPr/>
        </p:nvSpPr>
        <p:spPr>
          <a:xfrm>
            <a:off x="1466850" y="224790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Normal user 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A1119-6375-44AB-89A7-B3121A3641C2}"/>
              </a:ext>
            </a:extLst>
          </p:cNvPr>
          <p:cNvSpPr>
            <a:spLocks noGrp="1"/>
          </p:cNvSpPr>
          <p:nvPr/>
        </p:nvSpPr>
        <p:spPr>
          <a:xfrm>
            <a:off x="1466850" y="2628900"/>
            <a:ext cx="3638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Ask questions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Open suggested pages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Use pinned/grouped controls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Fill dynamic details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No scores or diagnostics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5E89AC-01B6-4CF6-B3B2-CE47B7F03852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40957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E7F194-F0C2-40A3-B260-BE2FE1A00BE6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66675" cy="28575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0B843-1F1A-4A58-9C5D-52E447D232BD}"/>
              </a:ext>
            </a:extLst>
          </p:cNvPr>
          <p:cNvSpPr>
            <a:spLocks noGrp="1"/>
          </p:cNvSpPr>
          <p:nvPr/>
        </p:nvSpPr>
        <p:spPr>
          <a:xfrm>
            <a:off x="7086600" y="224790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Admin/developer 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BED54-C93C-4E5C-B8AA-69D28CFABA4C}"/>
              </a:ext>
            </a:extLst>
          </p:cNvPr>
          <p:cNvSpPr>
            <a:spLocks noGrp="1"/>
          </p:cNvSpPr>
          <p:nvPr/>
        </p:nvSpPr>
        <p:spPr>
          <a:xfrm>
            <a:off x="7086600" y="2628900"/>
            <a:ext cx="3638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Review interaction evidence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Inspect lexical/semantic ranking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Search and approve corrections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Check scraper status</a:t>
            </a:r>
          </a:p>
          <a:p>
            <a:pPr>
              <a:defRPr sz="1350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Tune thresholds and datasets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AEEF6-EBF8-4EDD-835B-1E3E90FE3396}"/>
              </a:ext>
            </a:extLst>
          </p:cNvPr>
          <p:cNvSpPr>
            <a:spLocks noGrp="1"/>
          </p:cNvSpPr>
          <p:nvPr/>
        </p:nvSpPr>
        <p:spPr>
          <a:xfrm>
            <a:off x="1524000" y="5410200"/>
            <a:ext cx="914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The improvement loop is visible to the people tuning the system, but hidden from people who only need the right page quickly.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16396E-8AD5-29B8-1AF6-3C5DEBCED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74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1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471DF-92C5-E6C6-660C-E7B89C19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0CC978-D401-6F4D-41DB-970866EDB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791FC-EF4A-AE7F-A544-06175333B0BA}"/>
              </a:ext>
            </a:extLst>
          </p:cNvPr>
          <p:cNvSpPr>
            <a:spLocks noGrp="1"/>
          </p:cNvSpPr>
          <p:nvPr/>
        </p:nvSpPr>
        <p:spPr>
          <a:xfrm>
            <a:off x="800100" y="10287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FE3F4"/>
                </a:solidFill>
                <a:latin typeface="Calibri"/>
                <a:ea typeface="Calibri"/>
                <a:cs typeface="Calibri"/>
              </a:defRPr>
            </a:pPr>
            <a:r>
              <a:rPr lang="en-HK" sz="1500" b="1" dirty="0">
                <a:solidFill>
                  <a:srgbClr val="CFE3F4"/>
                </a:solidFill>
                <a:latin typeface="Calibri"/>
                <a:ea typeface="Calibri"/>
                <a:cs typeface="Calibri"/>
              </a:rPr>
              <a:t>Section 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1F813-24B9-409E-F7F4-E4DFFBCB858F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HK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Reflection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en-HK"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32C51-EFF9-FA9D-1BDB-A2932F59D31E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lang="en-HK" sz="1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Problems this project resolves, what the future is, and what the work demonstrates.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4A154-46F7-DC9D-AB9C-50F4455D4BEF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000500" cy="38100"/>
          </a:xfrm>
          <a:prstGeom prst="rect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8382F7-4026-A111-BBBF-AADED874C885}"/>
              </a:ext>
            </a:extLst>
          </p:cNvPr>
          <p:cNvSpPr>
            <a:spLocks noGrp="1"/>
          </p:cNvSpPr>
          <p:nvPr/>
        </p:nvSpPr>
        <p:spPr>
          <a:xfrm>
            <a:off x="819150" y="588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D38CA3-B8D0-BD8A-24C3-9AEBD9D8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72550" y="781050"/>
            <a:ext cx="16954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63A44C-A18B-45AF-8AB1-077760F2F37E}"/>
              </a:ext>
            </a:extLst>
          </p:cNvPr>
          <p:cNvSpPr>
            <a:spLocks noGrp="1"/>
          </p:cNvSpPr>
          <p:nvPr/>
        </p:nvSpPr>
        <p:spPr>
          <a:xfrm>
            <a:off x="742950" y="5905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this project resolved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46E9CD-1786-4B27-83ED-65711FFB2341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E8A18-80C0-4CD9-918A-B99C3C66B0F3}"/>
              </a:ext>
            </a:extLst>
          </p:cNvPr>
          <p:cNvSpPr>
            <a:spLocks noGrp="1"/>
          </p:cNvSpPr>
          <p:nvPr/>
        </p:nvSpPr>
        <p:spPr>
          <a:xfrm>
            <a:off x="1104900" y="131445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Approved-page navigation is now controlled by a registry.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3EAFB0-B890-45C0-8386-2D951176C79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2C5BC-FA25-4069-8B87-E5014E4ADFE5}"/>
              </a:ext>
            </a:extLst>
          </p:cNvPr>
          <p:cNvSpPr>
            <a:spLocks noGrp="1"/>
          </p:cNvSpPr>
          <p:nvPr/>
        </p:nvSpPr>
        <p:spPr>
          <a:xfrm>
            <a:off x="1104900" y="182880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Static, dynamic, and multi-page openings are working as one flow.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AD8966-3488-48C3-8152-4059DF81545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011A4-DF3C-4820-8B92-1410C34AD917}"/>
              </a:ext>
            </a:extLst>
          </p:cNvPr>
          <p:cNvSpPr>
            <a:spLocks noGrp="1"/>
          </p:cNvSpPr>
          <p:nvPr/>
        </p:nvSpPr>
        <p:spPr>
          <a:xfrm>
            <a:off x="1104900" y="234315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 local model pipeline and review loop now exist.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29AFB1-94A6-48C3-8D78-F785F99CA070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76200" cy="76200"/>
          </a:xfrm>
          <a:prstGeom prst="ellipse">
            <a:avLst/>
          </a:prstGeom>
          <a:solidFill>
            <a:srgbClr val="157A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98E804-F56C-448F-94E5-2D9CA95DD292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509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Personalization is bounded through profiles, events, pins, and memory.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A7413-BDFC-47FE-968D-9FBC2C51E76D}"/>
              </a:ext>
            </a:extLst>
          </p:cNvPr>
          <p:cNvSpPr>
            <a:spLocks noGrp="1"/>
          </p:cNvSpPr>
          <p:nvPr/>
        </p:nvSpPr>
        <p:spPr>
          <a:xfrm>
            <a:off x="6477000" y="5905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What remains open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252ED2-105A-4D5B-8509-607A433487A0}"/>
              </a:ext>
            </a:extLst>
          </p:cNvPr>
          <p:cNvSpPr>
            <a:spLocks noGrp="1"/>
          </p:cNvSpPr>
          <p:nvPr/>
        </p:nvSpPr>
        <p:spPr>
          <a:xfrm>
            <a:off x="6610350" y="142875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F306B-5DEE-4244-B23F-8F00F8B83A67}"/>
              </a:ext>
            </a:extLst>
          </p:cNvPr>
          <p:cNvSpPr>
            <a:spLocks noGrp="1"/>
          </p:cNvSpPr>
          <p:nvPr/>
        </p:nvSpPr>
        <p:spPr>
          <a:xfrm>
            <a:off x="6838950" y="13144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Model reliability still depends heavily on metadata and data quality.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D864BB-F5AD-45BF-8A94-04AC51AEC900}"/>
              </a:ext>
            </a:extLst>
          </p:cNvPr>
          <p:cNvSpPr>
            <a:spLocks noGrp="1"/>
          </p:cNvSpPr>
          <p:nvPr/>
        </p:nvSpPr>
        <p:spPr>
          <a:xfrm>
            <a:off x="6610350" y="194310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C8A090-115C-4E5B-80B8-885D77A3A8AF}"/>
              </a:ext>
            </a:extLst>
          </p:cNvPr>
          <p:cNvSpPr>
            <a:spLocks noGrp="1"/>
          </p:cNvSpPr>
          <p:nvPr/>
        </p:nvSpPr>
        <p:spPr>
          <a:xfrm>
            <a:off x="6838950" y="1828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Dynamic parameter understanding is partly deterministic for now.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035F13-56C4-43A4-8D65-0A24170B7349}"/>
              </a:ext>
            </a:extLst>
          </p:cNvPr>
          <p:cNvSpPr>
            <a:spLocks noGrp="1"/>
          </p:cNvSpPr>
          <p:nvPr/>
        </p:nvSpPr>
        <p:spPr>
          <a:xfrm>
            <a:off x="6610350" y="245745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FC1B91-88EB-44EE-ADAB-7103FCEFEFB5}"/>
              </a:ext>
            </a:extLst>
          </p:cNvPr>
          <p:cNvSpPr>
            <a:spLocks noGrp="1"/>
          </p:cNvSpPr>
          <p:nvPr/>
        </p:nvSpPr>
        <p:spPr>
          <a:xfrm>
            <a:off x="6838950" y="23431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Certificate-protected scraping needs production governance.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B9F2B4-2C10-411C-87A6-75158019C50F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76200" cy="76200"/>
          </a:xfrm>
          <a:prstGeom prst="ellipse">
            <a:avLst/>
          </a:prstGeom>
          <a:solidFill>
            <a:srgbClr val="E33B2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DFD642-504D-406D-BFA6-95EDB8C92E9C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Real expert review is still the main bottleneck for validation.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2E90A3C-C23E-4136-A7C2-DF0E5031392E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9906000" cy="1009650"/>
          </a:xfrm>
          <a:prstGeom prst="roundRect">
            <a:avLst>
              <a:gd name="adj" fmla="val 11321"/>
            </a:avLst>
          </a:prstGeom>
          <a:solidFill>
            <a:srgbClr val="EAF3FB"/>
          </a:solidFill>
          <a:ln w="9525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73DEFB-1E19-4CFD-9112-AC4D87A3D667}"/>
              </a:ext>
            </a:extLst>
          </p:cNvPr>
          <p:cNvSpPr>
            <a:spLocks noGrp="1"/>
          </p:cNvSpPr>
          <p:nvPr/>
        </p:nvSpPr>
        <p:spPr>
          <a:xfrm>
            <a:off x="1476375" y="4629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315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315D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73B128-C496-42A0-8348-C5FFBA590CA3}"/>
              </a:ext>
            </a:extLst>
          </p:cNvPr>
          <p:cNvSpPr>
            <a:spLocks noGrp="1"/>
          </p:cNvSpPr>
          <p:nvPr/>
        </p:nvSpPr>
        <p:spPr>
          <a:xfrm>
            <a:off x="3476625" y="4572000"/>
            <a:ext cx="7096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AMIDS Compass shows that operational navigation can become faster and more personal without giving up control, auditability, or local deployment.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D05AF0-50F2-A77D-5B06-B7144D20A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29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73B5B8-750B-4785-B2F8-485AA6BEF9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692;p38">
            <a:extLst>
              <a:ext uri="{FF2B5EF4-FFF2-40B4-BE49-F238E27FC236}">
                <a16:creationId xmlns:a16="http://schemas.microsoft.com/office/drawing/2014/main" id="{611B02C0-6CDC-36C0-7D04-13E13A6F346A}"/>
              </a:ext>
            </a:extLst>
          </p:cNvPr>
          <p:cNvSpPr txBox="1">
            <a:spLocks/>
          </p:cNvSpPr>
          <p:nvPr/>
        </p:nvSpPr>
        <p:spPr>
          <a:xfrm>
            <a:off x="719999" y="445025"/>
            <a:ext cx="5589361" cy="1526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altLang="zh-CN" kern="0" dirty="0">
                <a:latin typeface="+mn-lt"/>
                <a:cs typeface="Times New Roman" panose="02020603050405020304" pitchFamily="18" charset="0"/>
              </a:rPr>
              <a:t>Acknowledgement </a:t>
            </a: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br>
              <a:rPr lang="en-US" altLang="zh-CN" kern="0" dirty="0">
                <a:latin typeface="+mn-lt"/>
                <a:cs typeface="Times New Roman" panose="02020603050405020304" pitchFamily="18" charset="0"/>
              </a:rPr>
            </a:br>
            <a:endParaRPr lang="en-US" kern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DECA7-8401-4E29-9EEB-A7C5A8561E85}"/>
              </a:ext>
            </a:extLst>
          </p:cNvPr>
          <p:cNvSpPr/>
          <p:nvPr/>
        </p:nvSpPr>
        <p:spPr>
          <a:xfrm>
            <a:off x="3478301" y="2828835"/>
            <a:ext cx="59494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cs typeface="Times New Roman" panose="02020603050405020304" pitchFamily="18" charset="0"/>
              </a:rPr>
              <a:t>I would like to express my sincere gratitude to </a:t>
            </a:r>
            <a:r>
              <a:rPr lang="en-US" dirty="0">
                <a:cs typeface="Times New Roman" panose="02020603050405020304" pitchFamily="18" charset="0"/>
              </a:rPr>
              <a:t>the A1 Team for their continuous endeavor, guide and support throughout this project. It has been invaluable to me throughout this journey, thank you.</a:t>
            </a:r>
            <a:endParaRPr 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1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24400" y="781050"/>
            <a:ext cx="2743200" cy="2743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90F43E-52CB-413D-9AC2-82861133A951}"/>
              </a:ext>
            </a:extLst>
          </p:cNvPr>
          <p:cNvSpPr>
            <a:spLocks noGrp="1"/>
          </p:cNvSpPr>
          <p:nvPr/>
        </p:nvSpPr>
        <p:spPr>
          <a:xfrm>
            <a:off x="1809750" y="379095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1020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02033"/>
                </a:solidFill>
                <a:latin typeface="Calibri"/>
                <a:ea typeface="Calibri"/>
                <a:cs typeface="Calibri"/>
              </a:rPr>
              <a:t>Thank you for listening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EE5B0-AD5C-4C19-AE49-F3FF57435A64}"/>
              </a:ext>
            </a:extLst>
          </p:cNvPr>
          <p:cNvSpPr>
            <a:spLocks noGrp="1"/>
          </p:cNvSpPr>
          <p:nvPr/>
        </p:nvSpPr>
        <p:spPr>
          <a:xfrm>
            <a:off x="2762250" y="4705350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>
                <a:solidFill>
                  <a:srgbClr val="0F5A96"/>
                </a:solidFill>
                <a:latin typeface="Calibri"/>
                <a:ea typeface="Calibri"/>
                <a:cs typeface="Calibri"/>
              </a:defRPr>
            </a:pPr>
            <a:r>
              <a:rPr lang="en-US" sz="1950" dirty="0">
                <a:solidFill>
                  <a:srgbClr val="0F5A96"/>
                </a:solidFill>
                <a:latin typeface="Calibri"/>
                <a:ea typeface="Calibri"/>
                <a:cs typeface="Calibri"/>
              </a:rPr>
              <a:t>Ask me any questions!</a:t>
            </a:r>
            <a:endParaRPr sz="1950" dirty="0">
              <a:solidFill>
                <a:srgbClr val="0F5A9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FA2E-01F9-42B6-95F6-B05976AE6500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26475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rgbClr val="526475"/>
                </a:solidFill>
                <a:latin typeface="Calibri"/>
                <a:ea typeface="Calibri"/>
                <a:cs typeface="Calibri"/>
              </a:rPr>
              <a:t>AMIDS Compass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75082-C2BC-3EAC-76DD-8C99AEA1A25A}"/>
              </a:ext>
            </a:extLst>
          </p:cNvPr>
          <p:cNvSpPr>
            <a:spLocks noGrp="1"/>
          </p:cNvSpPr>
          <p:nvPr/>
        </p:nvSpPr>
        <p:spPr>
          <a:xfrm rot="5400000">
            <a:off x="6010275" y="-6010275"/>
            <a:ext cx="171450" cy="12192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77929-3BA2-9BDA-3AD4-6FC57A27224E}"/>
              </a:ext>
            </a:extLst>
          </p:cNvPr>
          <p:cNvSpPr>
            <a:spLocks noGrp="1"/>
          </p:cNvSpPr>
          <p:nvPr/>
        </p:nvSpPr>
        <p:spPr>
          <a:xfrm rot="5400000">
            <a:off x="6010275" y="676275"/>
            <a:ext cx="171450" cy="12192000"/>
          </a:xfrm>
          <a:prstGeom prst="rect">
            <a:avLst/>
          </a:prstGeom>
          <a:solidFill>
            <a:srgbClr val="0F4C81"/>
          </a:solidFill>
          <a:ln w="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61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4346</TotalTime>
  <Words>2252</Words>
  <Application>Microsoft Macintosh PowerPoint</Application>
  <DocSecurity>0</DocSecurity>
  <PresentationFormat>Widescreen</PresentationFormat>
  <Paragraphs>336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Bell MT</vt:lpstr>
      <vt:lpstr>Calibri</vt:lpstr>
      <vt:lpstr>Cambria</vt:lpstr>
      <vt:lpstr>Lato</vt:lpstr>
      <vt:lpstr>Times New Roman</vt:lpstr>
      <vt:lpstr>ChatGPT</vt:lpstr>
      <vt:lpstr>A1: Engaging AI in Aviation Meteorological Information Dissemination System  (AMIDS) for Enhanced User Experience </vt:lpstr>
      <vt:lpstr>Presentation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KANG Daehee</cp:lastModifiedBy>
  <cp:revision>29</cp:revision>
  <dcterms:created xsi:type="dcterms:W3CDTF">2026-07-17T02:57:10Z</dcterms:created>
  <dcterms:modified xsi:type="dcterms:W3CDTF">2026-07-20T06:57:17Z</dcterms:modified>
</cp:coreProperties>
</file>